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36931F0-9437-49F9-8934-275DD042666B}">
          <p14:sldIdLst>
            <p14:sldId id="256"/>
            <p14:sldId id="257"/>
            <p14:sldId id="258"/>
            <p14:sldId id="259"/>
            <p14:sldId id="260"/>
          </p14:sldIdLst>
        </p14:section>
        <p14:section name="The variables" id="{709D2D19-693B-4C19-827E-22DF9E6F882B}">
          <p14:sldIdLst>
            <p14:sldId id="261"/>
            <p14:sldId id="262"/>
            <p14:sldId id="263"/>
            <p14:sldId id="264"/>
            <p14:sldId id="265"/>
            <p14:sldId id="266"/>
            <p14:sldId id="267"/>
            <p14:sldId id="268"/>
          </p14:sldIdLst>
        </p14:section>
        <p14:section name="Assumptions and methods" id="{48321FC6-82DF-4A1C-AC4F-F6859465D4C9}">
          <p14:sldIdLst>
            <p14:sldId id="269"/>
            <p14:sldId id="270"/>
          </p14:sldIdLst>
        </p14:section>
        <p14:section name="Results: predictors" id="{D67BA4DF-0D16-4495-ABB2-DCAD6A72D6C9}">
          <p14:sldIdLst>
            <p14:sldId id="271"/>
            <p14:sldId id="272"/>
            <p14:sldId id="273"/>
            <p14:sldId id="274"/>
            <p14:sldId id="275"/>
            <p14:sldId id="276"/>
            <p14:sldId id="277"/>
            <p14:sldId id="278"/>
          </p14:sldIdLst>
        </p14:section>
        <p14:section name="The prediction model" id="{2E0ABF5B-73BC-4304-8775-C43ABC4465B4}">
          <p14:sldIdLst>
            <p14:sldId id="279"/>
            <p14:sldId id="280"/>
            <p14:sldId id="281"/>
            <p14:sldId id="282"/>
            <p14:sldId id="283"/>
            <p14:sldId id="284"/>
            <p14:sldId id="285"/>
          </p14:sldIdLst>
        </p14:section>
        <p14:section name="Conclusions" id="{38FFED17-EC99-4C98-93FA-B44657A7B93B}">
          <p14:sldIdLst>
            <p14:sldId id="286"/>
            <p14:sldId id="287"/>
          </p14:sldIdLst>
        </p14:section>
        <p14:section name="Appendix" id="{6CF267CB-0EB0-486A-B6DF-0954FA307BFB}">
          <p14:sldIdLst>
            <p14:sldId id="28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All patients</c:v>
                </c:pt>
              </c:strCache>
            </c:strRef>
          </c:tx>
          <c:spPr>
            <a:ln w="31750">
              <a:solidFill>
                <a:srgbClr val="2A78D6"/>
              </a:solidFill>
            </a:ln>
          </c:spPr>
          <c:marker>
            <c:symbol val="none"/>
          </c:marker>
          <c:xVal>
            <c:numRef>
              <c:f>Sheet1!$A$2:$A$224</c:f>
              <c:numCache>
                <c:formatCode>General</c:formatCode>
                <c:ptCount val="223"/>
                <c:pt idx="0">
                  <c:v>0.0</c:v>
                </c:pt>
                <c:pt idx="1">
                  <c:v>3.0</c:v>
                </c:pt>
                <c:pt idx="2">
                  <c:v>3.0</c:v>
                </c:pt>
                <c:pt idx="3">
                  <c:v>4.0</c:v>
                </c:pt>
                <c:pt idx="4">
                  <c:v>4.0</c:v>
                </c:pt>
                <c:pt idx="5">
                  <c:v>6.0</c:v>
                </c:pt>
                <c:pt idx="6">
                  <c:v>6.0</c:v>
                </c:pt>
                <c:pt idx="7">
                  <c:v>7.0</c:v>
                </c:pt>
                <c:pt idx="8">
                  <c:v>7.0</c:v>
                </c:pt>
                <c:pt idx="9">
                  <c:v>8.0</c:v>
                </c:pt>
                <c:pt idx="10">
                  <c:v>8.0</c:v>
                </c:pt>
                <c:pt idx="11">
                  <c:v>9.0</c:v>
                </c:pt>
                <c:pt idx="12">
                  <c:v>9.0</c:v>
                </c:pt>
                <c:pt idx="13">
                  <c:v>10.0</c:v>
                </c:pt>
                <c:pt idx="14">
                  <c:v>10.0</c:v>
                </c:pt>
                <c:pt idx="15">
                  <c:v>11.0</c:v>
                </c:pt>
                <c:pt idx="16">
                  <c:v>11.0</c:v>
                </c:pt>
                <c:pt idx="17">
                  <c:v>12.0</c:v>
                </c:pt>
                <c:pt idx="18">
                  <c:v>12.0</c:v>
                </c:pt>
                <c:pt idx="19">
                  <c:v>13.0</c:v>
                </c:pt>
                <c:pt idx="20">
                  <c:v>13.0</c:v>
                </c:pt>
                <c:pt idx="21">
                  <c:v>14.0</c:v>
                </c:pt>
                <c:pt idx="22">
                  <c:v>14.0</c:v>
                </c:pt>
                <c:pt idx="23">
                  <c:v>15.0</c:v>
                </c:pt>
                <c:pt idx="24">
                  <c:v>15.0</c:v>
                </c:pt>
                <c:pt idx="25">
                  <c:v>16.0</c:v>
                </c:pt>
                <c:pt idx="26">
                  <c:v>16.0</c:v>
                </c:pt>
                <c:pt idx="27">
                  <c:v>17.0</c:v>
                </c:pt>
                <c:pt idx="28">
                  <c:v>17.0</c:v>
                </c:pt>
                <c:pt idx="29">
                  <c:v>18.0</c:v>
                </c:pt>
                <c:pt idx="30">
                  <c:v>18.0</c:v>
                </c:pt>
                <c:pt idx="31">
                  <c:v>19.0</c:v>
                </c:pt>
                <c:pt idx="32">
                  <c:v>19.0</c:v>
                </c:pt>
                <c:pt idx="33">
                  <c:v>21.0</c:v>
                </c:pt>
                <c:pt idx="34">
                  <c:v>21.0</c:v>
                </c:pt>
                <c:pt idx="35">
                  <c:v>22.0</c:v>
                </c:pt>
                <c:pt idx="36">
                  <c:v>22.0</c:v>
                </c:pt>
                <c:pt idx="37">
                  <c:v>23.0</c:v>
                </c:pt>
                <c:pt idx="38">
                  <c:v>23.0</c:v>
                </c:pt>
                <c:pt idx="39">
                  <c:v>24.0</c:v>
                </c:pt>
                <c:pt idx="40">
                  <c:v>24.0</c:v>
                </c:pt>
                <c:pt idx="41">
                  <c:v>25.0</c:v>
                </c:pt>
                <c:pt idx="42">
                  <c:v>25.0</c:v>
                </c:pt>
                <c:pt idx="43">
                  <c:v>26.0</c:v>
                </c:pt>
                <c:pt idx="44">
                  <c:v>26.0</c:v>
                </c:pt>
                <c:pt idx="45">
                  <c:v>28.0</c:v>
                </c:pt>
                <c:pt idx="46">
                  <c:v>28.0</c:v>
                </c:pt>
                <c:pt idx="47">
                  <c:v>29.0</c:v>
                </c:pt>
                <c:pt idx="48">
                  <c:v>29.0</c:v>
                </c:pt>
                <c:pt idx="49">
                  <c:v>30.0</c:v>
                </c:pt>
                <c:pt idx="50">
                  <c:v>30.0</c:v>
                </c:pt>
                <c:pt idx="51">
                  <c:v>31.0</c:v>
                </c:pt>
                <c:pt idx="52">
                  <c:v>31.0</c:v>
                </c:pt>
                <c:pt idx="53">
                  <c:v>32.0</c:v>
                </c:pt>
                <c:pt idx="54">
                  <c:v>32.0</c:v>
                </c:pt>
                <c:pt idx="55">
                  <c:v>34.0</c:v>
                </c:pt>
                <c:pt idx="56">
                  <c:v>34.0</c:v>
                </c:pt>
                <c:pt idx="57">
                  <c:v>35.0</c:v>
                </c:pt>
                <c:pt idx="58">
                  <c:v>35.0</c:v>
                </c:pt>
                <c:pt idx="59">
                  <c:v>36.0</c:v>
                </c:pt>
                <c:pt idx="60">
                  <c:v>36.0</c:v>
                </c:pt>
                <c:pt idx="61">
                  <c:v>37.0</c:v>
                </c:pt>
                <c:pt idx="62">
                  <c:v>37.0</c:v>
                </c:pt>
                <c:pt idx="63">
                  <c:v>38.0</c:v>
                </c:pt>
                <c:pt idx="64">
                  <c:v>38.0</c:v>
                </c:pt>
                <c:pt idx="65">
                  <c:v>40.0</c:v>
                </c:pt>
                <c:pt idx="66">
                  <c:v>40.0</c:v>
                </c:pt>
                <c:pt idx="67">
                  <c:v>41.0</c:v>
                </c:pt>
                <c:pt idx="68">
                  <c:v>41.0</c:v>
                </c:pt>
                <c:pt idx="69">
                  <c:v>42.0</c:v>
                </c:pt>
                <c:pt idx="70">
                  <c:v>42.0</c:v>
                </c:pt>
                <c:pt idx="71">
                  <c:v>43.0</c:v>
                </c:pt>
                <c:pt idx="72">
                  <c:v>43.0</c:v>
                </c:pt>
                <c:pt idx="73">
                  <c:v>44.0</c:v>
                </c:pt>
                <c:pt idx="74">
                  <c:v>44.0</c:v>
                </c:pt>
                <c:pt idx="75">
                  <c:v>45.0</c:v>
                </c:pt>
                <c:pt idx="76">
                  <c:v>45.0</c:v>
                </c:pt>
                <c:pt idx="77">
                  <c:v>46.0</c:v>
                </c:pt>
                <c:pt idx="78">
                  <c:v>46.0</c:v>
                </c:pt>
                <c:pt idx="79">
                  <c:v>47.0</c:v>
                </c:pt>
                <c:pt idx="80">
                  <c:v>47.0</c:v>
                </c:pt>
                <c:pt idx="81">
                  <c:v>48.0</c:v>
                </c:pt>
                <c:pt idx="82">
                  <c:v>48.0</c:v>
                </c:pt>
                <c:pt idx="83">
                  <c:v>49.0</c:v>
                </c:pt>
                <c:pt idx="84">
                  <c:v>49.0</c:v>
                </c:pt>
                <c:pt idx="85">
                  <c:v>50.0</c:v>
                </c:pt>
                <c:pt idx="86">
                  <c:v>50.0</c:v>
                </c:pt>
                <c:pt idx="87">
                  <c:v>51.0</c:v>
                </c:pt>
                <c:pt idx="88">
                  <c:v>51.0</c:v>
                </c:pt>
                <c:pt idx="89">
                  <c:v>52.0</c:v>
                </c:pt>
                <c:pt idx="90">
                  <c:v>52.0</c:v>
                </c:pt>
                <c:pt idx="91">
                  <c:v>53.0</c:v>
                </c:pt>
                <c:pt idx="92">
                  <c:v>53.0</c:v>
                </c:pt>
                <c:pt idx="93">
                  <c:v>54.0</c:v>
                </c:pt>
                <c:pt idx="94">
                  <c:v>54.0</c:v>
                </c:pt>
                <c:pt idx="95">
                  <c:v>55.0</c:v>
                </c:pt>
                <c:pt idx="96">
                  <c:v>55.0</c:v>
                </c:pt>
                <c:pt idx="97">
                  <c:v>56.0</c:v>
                </c:pt>
                <c:pt idx="98">
                  <c:v>56.0</c:v>
                </c:pt>
                <c:pt idx="99">
                  <c:v>57.0</c:v>
                </c:pt>
                <c:pt idx="100">
                  <c:v>57.0</c:v>
                </c:pt>
                <c:pt idx="101">
                  <c:v>58.0</c:v>
                </c:pt>
                <c:pt idx="102">
                  <c:v>58.0</c:v>
                </c:pt>
                <c:pt idx="103">
                  <c:v>60.0</c:v>
                </c:pt>
                <c:pt idx="104">
                  <c:v>60.0</c:v>
                </c:pt>
                <c:pt idx="105">
                  <c:v>61.0</c:v>
                </c:pt>
                <c:pt idx="106">
                  <c:v>61.0</c:v>
                </c:pt>
                <c:pt idx="107">
                  <c:v>62.0</c:v>
                </c:pt>
                <c:pt idx="108">
                  <c:v>62.0</c:v>
                </c:pt>
                <c:pt idx="109">
                  <c:v>63.0</c:v>
                </c:pt>
                <c:pt idx="110">
                  <c:v>63.0</c:v>
                </c:pt>
                <c:pt idx="111">
                  <c:v>64.0</c:v>
                </c:pt>
                <c:pt idx="112">
                  <c:v>64.0</c:v>
                </c:pt>
                <c:pt idx="113">
                  <c:v>65.0</c:v>
                </c:pt>
                <c:pt idx="114">
                  <c:v>65.0</c:v>
                </c:pt>
                <c:pt idx="115">
                  <c:v>66.0</c:v>
                </c:pt>
                <c:pt idx="116">
                  <c:v>66.0</c:v>
                </c:pt>
                <c:pt idx="117">
                  <c:v>67.0</c:v>
                </c:pt>
                <c:pt idx="118">
                  <c:v>67.0</c:v>
                </c:pt>
                <c:pt idx="119">
                  <c:v>69.0</c:v>
                </c:pt>
                <c:pt idx="120">
                  <c:v>69.0</c:v>
                </c:pt>
                <c:pt idx="121">
                  <c:v>70.0</c:v>
                </c:pt>
                <c:pt idx="122">
                  <c:v>70.0</c:v>
                </c:pt>
                <c:pt idx="123">
                  <c:v>71.0</c:v>
                </c:pt>
                <c:pt idx="124">
                  <c:v>71.0</c:v>
                </c:pt>
                <c:pt idx="125">
                  <c:v>72.0</c:v>
                </c:pt>
                <c:pt idx="126">
                  <c:v>72.0</c:v>
                </c:pt>
                <c:pt idx="127">
                  <c:v>73.0</c:v>
                </c:pt>
                <c:pt idx="128">
                  <c:v>73.0</c:v>
                </c:pt>
                <c:pt idx="129">
                  <c:v>74.0</c:v>
                </c:pt>
                <c:pt idx="130">
                  <c:v>74.0</c:v>
                </c:pt>
                <c:pt idx="131">
                  <c:v>75.0</c:v>
                </c:pt>
                <c:pt idx="132">
                  <c:v>75.0</c:v>
                </c:pt>
                <c:pt idx="133">
                  <c:v>76.0</c:v>
                </c:pt>
                <c:pt idx="134">
                  <c:v>76.0</c:v>
                </c:pt>
                <c:pt idx="135">
                  <c:v>77.0</c:v>
                </c:pt>
                <c:pt idx="136">
                  <c:v>77.0</c:v>
                </c:pt>
                <c:pt idx="137">
                  <c:v>78.0</c:v>
                </c:pt>
                <c:pt idx="138">
                  <c:v>78.0</c:v>
                </c:pt>
                <c:pt idx="139">
                  <c:v>79.0</c:v>
                </c:pt>
                <c:pt idx="140">
                  <c:v>79.0</c:v>
                </c:pt>
                <c:pt idx="141">
                  <c:v>80.0</c:v>
                </c:pt>
                <c:pt idx="142">
                  <c:v>80.0</c:v>
                </c:pt>
                <c:pt idx="143">
                  <c:v>81.0</c:v>
                </c:pt>
                <c:pt idx="144">
                  <c:v>81.0</c:v>
                </c:pt>
                <c:pt idx="145">
                  <c:v>82.0</c:v>
                </c:pt>
                <c:pt idx="146">
                  <c:v>82.0</c:v>
                </c:pt>
                <c:pt idx="147">
                  <c:v>87.0</c:v>
                </c:pt>
                <c:pt idx="148">
                  <c:v>87.0</c:v>
                </c:pt>
                <c:pt idx="149">
                  <c:v>90.0</c:v>
                </c:pt>
                <c:pt idx="150">
                  <c:v>90.0</c:v>
                </c:pt>
                <c:pt idx="151">
                  <c:v>93.0</c:v>
                </c:pt>
                <c:pt idx="152">
                  <c:v>93.0</c:v>
                </c:pt>
                <c:pt idx="153">
                  <c:v>94.0</c:v>
                </c:pt>
                <c:pt idx="154">
                  <c:v>94.0</c:v>
                </c:pt>
                <c:pt idx="155">
                  <c:v>95.0</c:v>
                </c:pt>
                <c:pt idx="156">
                  <c:v>95.0</c:v>
                </c:pt>
                <c:pt idx="157">
                  <c:v>96.0</c:v>
                </c:pt>
                <c:pt idx="158">
                  <c:v>96.0</c:v>
                </c:pt>
                <c:pt idx="159">
                  <c:v>97.0</c:v>
                </c:pt>
                <c:pt idx="160">
                  <c:v>97.0</c:v>
                </c:pt>
                <c:pt idx="161">
                  <c:v>98.0</c:v>
                </c:pt>
                <c:pt idx="162">
                  <c:v>98.0</c:v>
                </c:pt>
                <c:pt idx="163">
                  <c:v>100.0</c:v>
                </c:pt>
                <c:pt idx="164">
                  <c:v>100.0</c:v>
                </c:pt>
                <c:pt idx="165">
                  <c:v>101.0</c:v>
                </c:pt>
                <c:pt idx="166">
                  <c:v>101.0</c:v>
                </c:pt>
                <c:pt idx="167">
                  <c:v>102.0</c:v>
                </c:pt>
                <c:pt idx="168">
                  <c:v>102.0</c:v>
                </c:pt>
                <c:pt idx="169">
                  <c:v>103.0</c:v>
                </c:pt>
                <c:pt idx="170">
                  <c:v>103.0</c:v>
                </c:pt>
                <c:pt idx="171">
                  <c:v>104.0</c:v>
                </c:pt>
                <c:pt idx="172">
                  <c:v>104.0</c:v>
                </c:pt>
                <c:pt idx="173">
                  <c:v>108.0</c:v>
                </c:pt>
                <c:pt idx="174">
                  <c:v>108.0</c:v>
                </c:pt>
                <c:pt idx="175">
                  <c:v>109.0</c:v>
                </c:pt>
                <c:pt idx="176">
                  <c:v>109.0</c:v>
                </c:pt>
                <c:pt idx="177">
                  <c:v>110.0</c:v>
                </c:pt>
                <c:pt idx="178">
                  <c:v>110.0</c:v>
                </c:pt>
                <c:pt idx="179">
                  <c:v>111.0</c:v>
                </c:pt>
                <c:pt idx="180">
                  <c:v>111.0</c:v>
                </c:pt>
                <c:pt idx="181">
                  <c:v>114.0</c:v>
                </c:pt>
                <c:pt idx="182">
                  <c:v>114.0</c:v>
                </c:pt>
                <c:pt idx="183">
                  <c:v>115.0</c:v>
                </c:pt>
                <c:pt idx="184">
                  <c:v>115.0</c:v>
                </c:pt>
                <c:pt idx="185">
                  <c:v>117.0</c:v>
                </c:pt>
                <c:pt idx="186">
                  <c:v>117.0</c:v>
                </c:pt>
                <c:pt idx="187">
                  <c:v>118.0</c:v>
                </c:pt>
                <c:pt idx="188">
                  <c:v>118.0</c:v>
                </c:pt>
                <c:pt idx="189">
                  <c:v>120.0</c:v>
                </c:pt>
                <c:pt idx="190">
                  <c:v>120.0</c:v>
                </c:pt>
                <c:pt idx="191">
                  <c:v>121.0</c:v>
                </c:pt>
                <c:pt idx="192">
                  <c:v>121.0</c:v>
                </c:pt>
                <c:pt idx="193">
                  <c:v>127.0</c:v>
                </c:pt>
                <c:pt idx="194">
                  <c:v>127.0</c:v>
                </c:pt>
                <c:pt idx="195">
                  <c:v>129.0</c:v>
                </c:pt>
                <c:pt idx="196">
                  <c:v>129.0</c:v>
                </c:pt>
                <c:pt idx="197">
                  <c:v>130.0</c:v>
                </c:pt>
                <c:pt idx="198">
                  <c:v>130.0</c:v>
                </c:pt>
                <c:pt idx="199">
                  <c:v>133.0</c:v>
                </c:pt>
                <c:pt idx="200">
                  <c:v>133.0</c:v>
                </c:pt>
                <c:pt idx="201">
                  <c:v>137.0</c:v>
                </c:pt>
                <c:pt idx="202">
                  <c:v>137.0</c:v>
                </c:pt>
                <c:pt idx="203">
                  <c:v>139.0</c:v>
                </c:pt>
                <c:pt idx="204">
                  <c:v>139.0</c:v>
                </c:pt>
                <c:pt idx="205">
                  <c:v>140.0</c:v>
                </c:pt>
                <c:pt idx="206">
                  <c:v>140.0</c:v>
                </c:pt>
                <c:pt idx="207">
                  <c:v>149.0</c:v>
                </c:pt>
                <c:pt idx="208">
                  <c:v>149.0</c:v>
                </c:pt>
                <c:pt idx="209">
                  <c:v>150.0</c:v>
                </c:pt>
                <c:pt idx="210">
                  <c:v>150.0</c:v>
                </c:pt>
                <c:pt idx="211">
                  <c:v>155.0</c:v>
                </c:pt>
                <c:pt idx="212">
                  <c:v>155.0</c:v>
                </c:pt>
                <c:pt idx="213">
                  <c:v>158.0</c:v>
                </c:pt>
                <c:pt idx="214">
                  <c:v>158.0</c:v>
                </c:pt>
                <c:pt idx="215">
                  <c:v>159.0</c:v>
                </c:pt>
                <c:pt idx="216">
                  <c:v>159.0</c:v>
                </c:pt>
                <c:pt idx="217">
                  <c:v>170.0</c:v>
                </c:pt>
                <c:pt idx="218">
                  <c:v>170.0</c:v>
                </c:pt>
                <c:pt idx="219">
                  <c:v>191.0</c:v>
                </c:pt>
                <c:pt idx="220">
                  <c:v>191.0</c:v>
                </c:pt>
                <c:pt idx="221">
                  <c:v>196.0</c:v>
                </c:pt>
                <c:pt idx="222">
                  <c:v>196.0</c:v>
                </c:pt>
              </c:numCache>
            </c:numRef>
          </c:xVal>
          <c:yVal>
            <c:numRef>
              <c:f>Sheet1!$B$2:$B$224</c:f>
              <c:numCache>
                <c:formatCode>General</c:formatCode>
                <c:ptCount val="223"/>
                <c:pt idx="0">
                  <c:v>1.0</c:v>
                </c:pt>
                <c:pt idx="1">
                  <c:v>1.0</c:v>
                </c:pt>
                <c:pt idx="2">
                  <c:v>0.9848484848484849</c:v>
                </c:pt>
                <c:pt idx="3">
                  <c:v>0.9848484848484849</c:v>
                </c:pt>
                <c:pt idx="4">
                  <c:v>0.9810606060606059</c:v>
                </c:pt>
                <c:pt idx="5">
                  <c:v>0.9810606060606059</c:v>
                </c:pt>
                <c:pt idx="6">
                  <c:v>0.9659090909090907</c:v>
                </c:pt>
                <c:pt idx="7">
                  <c:v>0.9659090909090907</c:v>
                </c:pt>
                <c:pt idx="8">
                  <c:v>0.9545454545454548</c:v>
                </c:pt>
                <c:pt idx="9">
                  <c:v>0.9545454545454548</c:v>
                </c:pt>
                <c:pt idx="10">
                  <c:v>0.9431818181818181</c:v>
                </c:pt>
                <c:pt idx="11">
                  <c:v>0.9431818181818181</c:v>
                </c:pt>
                <c:pt idx="12">
                  <c:v>0.9128787878787878</c:v>
                </c:pt>
                <c:pt idx="13">
                  <c:v>0.9128787878787878</c:v>
                </c:pt>
                <c:pt idx="14">
                  <c:v>0.9015151515151519</c:v>
                </c:pt>
                <c:pt idx="15">
                  <c:v>0.9015151515151519</c:v>
                </c:pt>
                <c:pt idx="16">
                  <c:v>0.8939393939393945</c:v>
                </c:pt>
                <c:pt idx="17">
                  <c:v>0.8939393939393945</c:v>
                </c:pt>
                <c:pt idx="18">
                  <c:v>0.8901515151515152</c:v>
                </c:pt>
                <c:pt idx="19">
                  <c:v>0.8901515151515152</c:v>
                </c:pt>
                <c:pt idx="20">
                  <c:v>0.8825757575757573</c:v>
                </c:pt>
                <c:pt idx="21">
                  <c:v>0.8825757575757573</c:v>
                </c:pt>
                <c:pt idx="22">
                  <c:v>0.8787878787878789</c:v>
                </c:pt>
                <c:pt idx="23">
                  <c:v>0.8787878787878789</c:v>
                </c:pt>
                <c:pt idx="24">
                  <c:v>0.8560606060606065</c:v>
                </c:pt>
                <c:pt idx="25">
                  <c:v>0.8560606060606065</c:v>
                </c:pt>
                <c:pt idx="26">
                  <c:v>0.8371212121212119</c:v>
                </c:pt>
                <c:pt idx="27">
                  <c:v>0.8371212121212119</c:v>
                </c:pt>
                <c:pt idx="28">
                  <c:v>0.8181818181818186</c:v>
                </c:pt>
                <c:pt idx="29">
                  <c:v>0.8181818181818186</c:v>
                </c:pt>
                <c:pt idx="30">
                  <c:v>0.7954545454545454</c:v>
                </c:pt>
                <c:pt idx="31">
                  <c:v>0.7954545454545454</c:v>
                </c:pt>
                <c:pt idx="32">
                  <c:v>0.7840909090909091</c:v>
                </c:pt>
                <c:pt idx="33">
                  <c:v>0.7840909090909091</c:v>
                </c:pt>
                <c:pt idx="34">
                  <c:v>0.7727272727272726</c:v>
                </c:pt>
                <c:pt idx="35">
                  <c:v>0.7727272727272726</c:v>
                </c:pt>
                <c:pt idx="36">
                  <c:v>0.7575757575757575</c:v>
                </c:pt>
                <c:pt idx="37">
                  <c:v>0.7575757575757575</c:v>
                </c:pt>
                <c:pt idx="38">
                  <c:v>0.7462121212121213</c:v>
                </c:pt>
                <c:pt idx="39">
                  <c:v>0.7462121212121213</c:v>
                </c:pt>
                <c:pt idx="40">
                  <c:v>0.7348484848484851</c:v>
                </c:pt>
                <c:pt idx="41">
                  <c:v>0.7348484848484851</c:v>
                </c:pt>
                <c:pt idx="42">
                  <c:v>0.7196969696969698</c:v>
                </c:pt>
                <c:pt idx="43">
                  <c:v>0.7196969696969698</c:v>
                </c:pt>
                <c:pt idx="44">
                  <c:v>0.7083333333333336</c:v>
                </c:pt>
                <c:pt idx="45">
                  <c:v>0.7083333333333336</c:v>
                </c:pt>
                <c:pt idx="46">
                  <c:v>0.6969696969696972</c:v>
                </c:pt>
                <c:pt idx="47">
                  <c:v>0.6969696969696972</c:v>
                </c:pt>
                <c:pt idx="48">
                  <c:v>0.681818181818182</c:v>
                </c:pt>
                <c:pt idx="49">
                  <c:v>0.681818181818182</c:v>
                </c:pt>
                <c:pt idx="50">
                  <c:v>0.6666666666666665</c:v>
                </c:pt>
                <c:pt idx="51">
                  <c:v>0.6666666666666665</c:v>
                </c:pt>
                <c:pt idx="52">
                  <c:v>0.6628787878787883</c:v>
                </c:pt>
                <c:pt idx="53">
                  <c:v>0.6628787878787883</c:v>
                </c:pt>
                <c:pt idx="54">
                  <c:v>0.6590909090909093</c:v>
                </c:pt>
                <c:pt idx="55">
                  <c:v>0.6590909090909093</c:v>
                </c:pt>
                <c:pt idx="56">
                  <c:v>0.6439393939393943</c:v>
                </c:pt>
                <c:pt idx="57">
                  <c:v>0.6439393939393943</c:v>
                </c:pt>
                <c:pt idx="58">
                  <c:v>0.6401515151515152</c:v>
                </c:pt>
                <c:pt idx="59">
                  <c:v>0.6401515151515152</c:v>
                </c:pt>
                <c:pt idx="60">
                  <c:v>0.6287878787878792</c:v>
                </c:pt>
                <c:pt idx="61">
                  <c:v>0.6287878787878792</c:v>
                </c:pt>
                <c:pt idx="62">
                  <c:v>0.6249999999999999</c:v>
                </c:pt>
                <c:pt idx="63">
                  <c:v>0.6249999999999999</c:v>
                </c:pt>
                <c:pt idx="64">
                  <c:v>0.6212121212121215</c:v>
                </c:pt>
                <c:pt idx="65">
                  <c:v>0.6212121212121215</c:v>
                </c:pt>
                <c:pt idx="66">
                  <c:v>0.6098484848484851</c:v>
                </c:pt>
                <c:pt idx="67">
                  <c:v>0.6098484848484851</c:v>
                </c:pt>
                <c:pt idx="68">
                  <c:v>0.6022727272727274</c:v>
                </c:pt>
                <c:pt idx="69">
                  <c:v>0.6022727272727274</c:v>
                </c:pt>
                <c:pt idx="70">
                  <c:v>0.590909090909091</c:v>
                </c:pt>
                <c:pt idx="71">
                  <c:v>0.590909090909091</c:v>
                </c:pt>
                <c:pt idx="72">
                  <c:v>0.5833333333333337</c:v>
                </c:pt>
                <c:pt idx="73">
                  <c:v>0.5833333333333337</c:v>
                </c:pt>
                <c:pt idx="74">
                  <c:v>0.571969696969697</c:v>
                </c:pt>
                <c:pt idx="75">
                  <c:v>0.571969696969697</c:v>
                </c:pt>
                <c:pt idx="76">
                  <c:v>0.5530303030303031</c:v>
                </c:pt>
                <c:pt idx="77">
                  <c:v>0.5530303030303031</c:v>
                </c:pt>
                <c:pt idx="78">
                  <c:v>0.5492424242424242</c:v>
                </c:pt>
                <c:pt idx="79">
                  <c:v>0.5492424242424242</c:v>
                </c:pt>
                <c:pt idx="80">
                  <c:v>0.5303030303030302</c:v>
                </c:pt>
                <c:pt idx="81">
                  <c:v>0.5303030303030302</c:v>
                </c:pt>
                <c:pt idx="82">
                  <c:v>0.522727272727273</c:v>
                </c:pt>
                <c:pt idx="83">
                  <c:v>0.522727272727273</c:v>
                </c:pt>
                <c:pt idx="84">
                  <c:v>0.5151515151515155</c:v>
                </c:pt>
                <c:pt idx="85">
                  <c:v>0.5151515151515155</c:v>
                </c:pt>
                <c:pt idx="86">
                  <c:v>0.49999999999999994</c:v>
                </c:pt>
                <c:pt idx="87">
                  <c:v>0.49999999999999994</c:v>
                </c:pt>
                <c:pt idx="88">
                  <c:v>0.48863636363636365</c:v>
                </c:pt>
                <c:pt idx="89">
                  <c:v>0.48863636363636365</c:v>
                </c:pt>
                <c:pt idx="90">
                  <c:v>0.47727272727272735</c:v>
                </c:pt>
                <c:pt idx="91">
                  <c:v>0.47727272727272735</c:v>
                </c:pt>
                <c:pt idx="92">
                  <c:v>0.4659090909090908</c:v>
                </c:pt>
                <c:pt idx="93">
                  <c:v>0.4659090909090908</c:v>
                </c:pt>
                <c:pt idx="94">
                  <c:v>0.45075757575757597</c:v>
                </c:pt>
                <c:pt idx="95">
                  <c:v>0.45075757575757597</c:v>
                </c:pt>
                <c:pt idx="96">
                  <c:v>0.4393939393939394</c:v>
                </c:pt>
                <c:pt idx="97">
                  <c:v>0.4393939393939394</c:v>
                </c:pt>
                <c:pt idx="98">
                  <c:v>0.42424242424242414</c:v>
                </c:pt>
                <c:pt idx="99">
                  <c:v>0.42424242424242414</c:v>
                </c:pt>
                <c:pt idx="100">
                  <c:v>0.4090909090909093</c:v>
                </c:pt>
                <c:pt idx="101">
                  <c:v>0.4090909090909093</c:v>
                </c:pt>
                <c:pt idx="102">
                  <c:v>0.4015151515151515</c:v>
                </c:pt>
                <c:pt idx="103">
                  <c:v>0.4015151515151515</c:v>
                </c:pt>
                <c:pt idx="104">
                  <c:v>0.39015151515151525</c:v>
                </c:pt>
                <c:pt idx="105">
                  <c:v>0.39015151515151525</c:v>
                </c:pt>
                <c:pt idx="106">
                  <c:v>0.378787878787879</c:v>
                </c:pt>
                <c:pt idx="107">
                  <c:v>0.378787878787879</c:v>
                </c:pt>
                <c:pt idx="108">
                  <c:v>0.375</c:v>
                </c:pt>
                <c:pt idx="109">
                  <c:v>0.375</c:v>
                </c:pt>
                <c:pt idx="110">
                  <c:v>0.3674242424242425</c:v>
                </c:pt>
                <c:pt idx="111">
                  <c:v>0.3674242424242425</c:v>
                </c:pt>
                <c:pt idx="112">
                  <c:v>0.3598484848484849</c:v>
                </c:pt>
                <c:pt idx="113">
                  <c:v>0.3598484848484849</c:v>
                </c:pt>
                <c:pt idx="114">
                  <c:v>0.3560606060606061</c:v>
                </c:pt>
                <c:pt idx="115">
                  <c:v>0.3560606060606061</c:v>
                </c:pt>
                <c:pt idx="116">
                  <c:v>0.34469696969696967</c:v>
                </c:pt>
                <c:pt idx="117">
                  <c:v>0.34469696969696967</c:v>
                </c:pt>
                <c:pt idx="118">
                  <c:v>0.33333333333333354</c:v>
                </c:pt>
                <c:pt idx="119">
                  <c:v>0.33333333333333354</c:v>
                </c:pt>
                <c:pt idx="120">
                  <c:v>0.3257575757575757</c:v>
                </c:pt>
                <c:pt idx="121">
                  <c:v>0.3257575757575757</c:v>
                </c:pt>
                <c:pt idx="122">
                  <c:v>0.306818181818182</c:v>
                </c:pt>
                <c:pt idx="123">
                  <c:v>0.306818181818182</c:v>
                </c:pt>
                <c:pt idx="124">
                  <c:v>0.2916666666666668</c:v>
                </c:pt>
                <c:pt idx="125">
                  <c:v>0.2916666666666668</c:v>
                </c:pt>
                <c:pt idx="126">
                  <c:v>0.2765151515151515</c:v>
                </c:pt>
                <c:pt idx="127">
                  <c:v>0.2765151515151515</c:v>
                </c:pt>
                <c:pt idx="128">
                  <c:v>0.2651515151515153</c:v>
                </c:pt>
                <c:pt idx="129">
                  <c:v>0.2651515151515153</c:v>
                </c:pt>
                <c:pt idx="130">
                  <c:v>0.26136363636363646</c:v>
                </c:pt>
                <c:pt idx="131">
                  <c:v>0.26136363636363646</c:v>
                </c:pt>
                <c:pt idx="132">
                  <c:v>0.2575757575757577</c:v>
                </c:pt>
                <c:pt idx="133">
                  <c:v>0.2575757575757577</c:v>
                </c:pt>
                <c:pt idx="134">
                  <c:v>0.24999999999999994</c:v>
                </c:pt>
                <c:pt idx="135">
                  <c:v>0.24999999999999994</c:v>
                </c:pt>
                <c:pt idx="136">
                  <c:v>0.24242424242424238</c:v>
                </c:pt>
                <c:pt idx="137">
                  <c:v>0.24242424242424238</c:v>
                </c:pt>
                <c:pt idx="138">
                  <c:v>0.23106060606060613</c:v>
                </c:pt>
                <c:pt idx="139">
                  <c:v>0.23106060606060613</c:v>
                </c:pt>
                <c:pt idx="140">
                  <c:v>0.2234848484848486</c:v>
                </c:pt>
                <c:pt idx="141">
                  <c:v>0.2234848484848486</c:v>
                </c:pt>
                <c:pt idx="142">
                  <c:v>0.21212121212121224</c:v>
                </c:pt>
                <c:pt idx="143">
                  <c:v>0.21212121212121224</c:v>
                </c:pt>
                <c:pt idx="144">
                  <c:v>0.2045454545454546</c:v>
                </c:pt>
                <c:pt idx="145">
                  <c:v>0.2045454545454546</c:v>
                </c:pt>
                <c:pt idx="146">
                  <c:v>0.19696969696969704</c:v>
                </c:pt>
                <c:pt idx="147">
                  <c:v>0.19696969696969704</c:v>
                </c:pt>
                <c:pt idx="148">
                  <c:v>0.1931818181818182</c:v>
                </c:pt>
                <c:pt idx="149">
                  <c:v>0.1931818181818182</c:v>
                </c:pt>
                <c:pt idx="150">
                  <c:v>0.18939393939393942</c:v>
                </c:pt>
                <c:pt idx="151">
                  <c:v>0.18939393939393942</c:v>
                </c:pt>
                <c:pt idx="152">
                  <c:v>0.18181818181818188</c:v>
                </c:pt>
                <c:pt idx="153">
                  <c:v>0.18181818181818188</c:v>
                </c:pt>
                <c:pt idx="154">
                  <c:v>0.17424242424242428</c:v>
                </c:pt>
                <c:pt idx="155">
                  <c:v>0.17424242424242428</c:v>
                </c:pt>
                <c:pt idx="156">
                  <c:v>0.15909090909090914</c:v>
                </c:pt>
                <c:pt idx="157">
                  <c:v>0.15909090909090914</c:v>
                </c:pt>
                <c:pt idx="158">
                  <c:v>0.15530303030303036</c:v>
                </c:pt>
                <c:pt idx="159">
                  <c:v>0.15530303030303036</c:v>
                </c:pt>
                <c:pt idx="160">
                  <c:v>0.15151515151515155</c:v>
                </c:pt>
                <c:pt idx="161">
                  <c:v>0.15151515151515155</c:v>
                </c:pt>
                <c:pt idx="162">
                  <c:v>0.14772727272727273</c:v>
                </c:pt>
                <c:pt idx="163">
                  <c:v>0.14772727272727273</c:v>
                </c:pt>
                <c:pt idx="164">
                  <c:v>0.14393939393939395</c:v>
                </c:pt>
                <c:pt idx="165">
                  <c:v>0.14393939393939395</c:v>
                </c:pt>
                <c:pt idx="166">
                  <c:v>0.14015151515151517</c:v>
                </c:pt>
                <c:pt idx="167">
                  <c:v>0.14015151515151517</c:v>
                </c:pt>
                <c:pt idx="168">
                  <c:v>0.13636363636363638</c:v>
                </c:pt>
                <c:pt idx="169">
                  <c:v>0.13636363636363638</c:v>
                </c:pt>
                <c:pt idx="170">
                  <c:v>0.12878787878787884</c:v>
                </c:pt>
                <c:pt idx="171">
                  <c:v>0.12878787878787884</c:v>
                </c:pt>
                <c:pt idx="172">
                  <c:v>0.12500000000000003</c:v>
                </c:pt>
                <c:pt idx="173">
                  <c:v>0.12500000000000003</c:v>
                </c:pt>
                <c:pt idx="174">
                  <c:v>0.12121212121212123</c:v>
                </c:pt>
                <c:pt idx="175">
                  <c:v>0.12121212121212123</c:v>
                </c:pt>
                <c:pt idx="176">
                  <c:v>0.11742424242424244</c:v>
                </c:pt>
                <c:pt idx="177">
                  <c:v>0.11742424242424244</c:v>
                </c:pt>
                <c:pt idx="178">
                  <c:v>0.11363636363636367</c:v>
                </c:pt>
                <c:pt idx="179">
                  <c:v>0.11363636363636367</c:v>
                </c:pt>
                <c:pt idx="180">
                  <c:v>0.10984848484848488</c:v>
                </c:pt>
                <c:pt idx="181">
                  <c:v>0.10984848484848488</c:v>
                </c:pt>
                <c:pt idx="182">
                  <c:v>0.10227272727272729</c:v>
                </c:pt>
                <c:pt idx="183">
                  <c:v>0.10227272727272729</c:v>
                </c:pt>
                <c:pt idx="184">
                  <c:v>0.09848484848484851</c:v>
                </c:pt>
                <c:pt idx="185">
                  <c:v>0.09848484848484851</c:v>
                </c:pt>
                <c:pt idx="186">
                  <c:v>0.0946969696969697</c:v>
                </c:pt>
                <c:pt idx="187">
                  <c:v>0.0946969696969697</c:v>
                </c:pt>
                <c:pt idx="188">
                  <c:v>0.09090909090909094</c:v>
                </c:pt>
                <c:pt idx="189">
                  <c:v>0.09090909090909094</c:v>
                </c:pt>
                <c:pt idx="190">
                  <c:v>0.08712121212121214</c:v>
                </c:pt>
                <c:pt idx="191">
                  <c:v>0.08712121212121214</c:v>
                </c:pt>
                <c:pt idx="192">
                  <c:v>0.07954545454545456</c:v>
                </c:pt>
                <c:pt idx="193">
                  <c:v>0.07954545454545456</c:v>
                </c:pt>
                <c:pt idx="194">
                  <c:v>0.07196969696969698</c:v>
                </c:pt>
                <c:pt idx="195">
                  <c:v>0.07196969696969698</c:v>
                </c:pt>
                <c:pt idx="196">
                  <c:v>0.06818181818181818</c:v>
                </c:pt>
                <c:pt idx="197">
                  <c:v>0.06818181818181818</c:v>
                </c:pt>
                <c:pt idx="198">
                  <c:v>0.0643939393939394</c:v>
                </c:pt>
                <c:pt idx="199">
                  <c:v>0.0643939393939394</c:v>
                </c:pt>
                <c:pt idx="200">
                  <c:v>0.060606060606060615</c:v>
                </c:pt>
                <c:pt idx="201">
                  <c:v>0.060606060606060615</c:v>
                </c:pt>
                <c:pt idx="202">
                  <c:v>0.05681818181818183</c:v>
                </c:pt>
                <c:pt idx="203">
                  <c:v>0.05681818181818183</c:v>
                </c:pt>
                <c:pt idx="204">
                  <c:v>0.049242424242424254</c:v>
                </c:pt>
                <c:pt idx="205">
                  <c:v>0.049242424242424254</c:v>
                </c:pt>
                <c:pt idx="206">
                  <c:v>0.04166666666666668</c:v>
                </c:pt>
                <c:pt idx="207">
                  <c:v>0.04166666666666668</c:v>
                </c:pt>
                <c:pt idx="208">
                  <c:v>0.037878787878787894</c:v>
                </c:pt>
                <c:pt idx="209">
                  <c:v>0.037878787878787894</c:v>
                </c:pt>
                <c:pt idx="210">
                  <c:v>0.0340909090909091</c:v>
                </c:pt>
                <c:pt idx="211">
                  <c:v>0.0340909090909091</c:v>
                </c:pt>
                <c:pt idx="212">
                  <c:v>0.030303030303030304</c:v>
                </c:pt>
                <c:pt idx="213">
                  <c:v>0.030303030303030304</c:v>
                </c:pt>
                <c:pt idx="214">
                  <c:v>0.026515151515151523</c:v>
                </c:pt>
                <c:pt idx="215">
                  <c:v>0.026515151515151523</c:v>
                </c:pt>
                <c:pt idx="216">
                  <c:v>0.022727272727272742</c:v>
                </c:pt>
                <c:pt idx="217">
                  <c:v>0.022727272727272742</c:v>
                </c:pt>
                <c:pt idx="218">
                  <c:v>0.018939393939393947</c:v>
                </c:pt>
                <c:pt idx="219">
                  <c:v>0.018939393939393947</c:v>
                </c:pt>
                <c:pt idx="220">
                  <c:v>0.015151515151515157</c:v>
                </c:pt>
                <c:pt idx="221">
                  <c:v>0.015151515151515157</c:v>
                </c:pt>
                <c:pt idx="222">
                  <c:v>0.01136363636363637</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plotVisOnly val="1"/>
    <c:dispBlanksAs val="gap"/>
    <c:showDLblsOverMax val="0"/>
  </c:chart>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PS 0–1 (median 56 wk)</c:v>
                </c:pt>
              </c:strCache>
            </c:strRef>
          </c:tx>
          <c:spPr>
            <a:ln w="31750">
              <a:solidFill>
                <a:srgbClr val="6DA7EC"/>
              </a:solidFill>
            </a:ln>
          </c:spPr>
          <c:marker>
            <c:symbol val="none"/>
          </c:marker>
          <c:xVal>
            <c:numRef>
              <c:f>Sheet1!$A$2:$A$202</c:f>
              <c:numCache>
                <c:formatCode>General</c:formatCode>
                <c:ptCount val="201"/>
                <c:pt idx="0">
                  <c:v>0.0</c:v>
                </c:pt>
                <c:pt idx="1">
                  <c:v>3.0</c:v>
                </c:pt>
                <c:pt idx="2">
                  <c:v>3.0</c:v>
                </c:pt>
                <c:pt idx="3">
                  <c:v>6.0</c:v>
                </c:pt>
                <c:pt idx="4">
                  <c:v>6.0</c:v>
                </c:pt>
                <c:pt idx="5">
                  <c:v>7.0</c:v>
                </c:pt>
                <c:pt idx="6">
                  <c:v>7.0</c:v>
                </c:pt>
                <c:pt idx="7">
                  <c:v>8.0</c:v>
                </c:pt>
                <c:pt idx="8">
                  <c:v>8.0</c:v>
                </c:pt>
                <c:pt idx="9">
                  <c:v>9.0</c:v>
                </c:pt>
                <c:pt idx="10">
                  <c:v>9.0</c:v>
                </c:pt>
                <c:pt idx="11">
                  <c:v>10.0</c:v>
                </c:pt>
                <c:pt idx="12">
                  <c:v>10.0</c:v>
                </c:pt>
                <c:pt idx="13">
                  <c:v>11.0</c:v>
                </c:pt>
                <c:pt idx="14">
                  <c:v>11.0</c:v>
                </c:pt>
                <c:pt idx="15">
                  <c:v>13.0</c:v>
                </c:pt>
                <c:pt idx="16">
                  <c:v>13.0</c:v>
                </c:pt>
                <c:pt idx="17">
                  <c:v>14.0</c:v>
                </c:pt>
                <c:pt idx="18">
                  <c:v>14.0</c:v>
                </c:pt>
                <c:pt idx="19">
                  <c:v>15.0</c:v>
                </c:pt>
                <c:pt idx="20">
                  <c:v>15.0</c:v>
                </c:pt>
                <c:pt idx="21">
                  <c:v>16.0</c:v>
                </c:pt>
                <c:pt idx="22">
                  <c:v>16.0</c:v>
                </c:pt>
                <c:pt idx="23">
                  <c:v>17.0</c:v>
                </c:pt>
                <c:pt idx="24">
                  <c:v>17.0</c:v>
                </c:pt>
                <c:pt idx="25">
                  <c:v>18.0</c:v>
                </c:pt>
                <c:pt idx="26">
                  <c:v>18.0</c:v>
                </c:pt>
                <c:pt idx="27">
                  <c:v>19.0</c:v>
                </c:pt>
                <c:pt idx="28">
                  <c:v>19.0</c:v>
                </c:pt>
                <c:pt idx="29">
                  <c:v>21.0</c:v>
                </c:pt>
                <c:pt idx="30">
                  <c:v>21.0</c:v>
                </c:pt>
                <c:pt idx="31">
                  <c:v>22.0</c:v>
                </c:pt>
                <c:pt idx="32">
                  <c:v>22.0</c:v>
                </c:pt>
                <c:pt idx="33">
                  <c:v>23.0</c:v>
                </c:pt>
                <c:pt idx="34">
                  <c:v>23.0</c:v>
                </c:pt>
                <c:pt idx="35">
                  <c:v>24.0</c:v>
                </c:pt>
                <c:pt idx="36">
                  <c:v>24.0</c:v>
                </c:pt>
                <c:pt idx="37">
                  <c:v>25.0</c:v>
                </c:pt>
                <c:pt idx="38">
                  <c:v>25.0</c:v>
                </c:pt>
                <c:pt idx="39">
                  <c:v>26.0</c:v>
                </c:pt>
                <c:pt idx="40">
                  <c:v>26.0</c:v>
                </c:pt>
                <c:pt idx="41">
                  <c:v>28.0</c:v>
                </c:pt>
                <c:pt idx="42">
                  <c:v>28.0</c:v>
                </c:pt>
                <c:pt idx="43">
                  <c:v>29.0</c:v>
                </c:pt>
                <c:pt idx="44">
                  <c:v>29.0</c:v>
                </c:pt>
                <c:pt idx="45">
                  <c:v>30.0</c:v>
                </c:pt>
                <c:pt idx="46">
                  <c:v>30.0</c:v>
                </c:pt>
                <c:pt idx="47">
                  <c:v>31.0</c:v>
                </c:pt>
                <c:pt idx="48">
                  <c:v>31.0</c:v>
                </c:pt>
                <c:pt idx="49">
                  <c:v>32.0</c:v>
                </c:pt>
                <c:pt idx="50">
                  <c:v>32.0</c:v>
                </c:pt>
                <c:pt idx="51">
                  <c:v>34.0</c:v>
                </c:pt>
                <c:pt idx="52">
                  <c:v>34.0</c:v>
                </c:pt>
                <c:pt idx="53">
                  <c:v>36.0</c:v>
                </c:pt>
                <c:pt idx="54">
                  <c:v>36.0</c:v>
                </c:pt>
                <c:pt idx="55">
                  <c:v>38.0</c:v>
                </c:pt>
                <c:pt idx="56">
                  <c:v>38.0</c:v>
                </c:pt>
                <c:pt idx="57">
                  <c:v>40.0</c:v>
                </c:pt>
                <c:pt idx="58">
                  <c:v>40.0</c:v>
                </c:pt>
                <c:pt idx="59">
                  <c:v>41.0</c:v>
                </c:pt>
                <c:pt idx="60">
                  <c:v>41.0</c:v>
                </c:pt>
                <c:pt idx="61">
                  <c:v>42.0</c:v>
                </c:pt>
                <c:pt idx="62">
                  <c:v>42.0</c:v>
                </c:pt>
                <c:pt idx="63">
                  <c:v>43.0</c:v>
                </c:pt>
                <c:pt idx="64">
                  <c:v>43.0</c:v>
                </c:pt>
                <c:pt idx="65">
                  <c:v>44.0</c:v>
                </c:pt>
                <c:pt idx="66">
                  <c:v>44.0</c:v>
                </c:pt>
                <c:pt idx="67">
                  <c:v>45.0</c:v>
                </c:pt>
                <c:pt idx="68">
                  <c:v>45.0</c:v>
                </c:pt>
                <c:pt idx="69">
                  <c:v>46.0</c:v>
                </c:pt>
                <c:pt idx="70">
                  <c:v>46.0</c:v>
                </c:pt>
                <c:pt idx="71">
                  <c:v>47.0</c:v>
                </c:pt>
                <c:pt idx="72">
                  <c:v>47.0</c:v>
                </c:pt>
                <c:pt idx="73">
                  <c:v>48.0</c:v>
                </c:pt>
                <c:pt idx="74">
                  <c:v>48.0</c:v>
                </c:pt>
                <c:pt idx="75">
                  <c:v>49.0</c:v>
                </c:pt>
                <c:pt idx="76">
                  <c:v>49.0</c:v>
                </c:pt>
                <c:pt idx="77">
                  <c:v>50.0</c:v>
                </c:pt>
                <c:pt idx="78">
                  <c:v>50.0</c:v>
                </c:pt>
                <c:pt idx="79">
                  <c:v>51.0</c:v>
                </c:pt>
                <c:pt idx="80">
                  <c:v>51.0</c:v>
                </c:pt>
                <c:pt idx="81">
                  <c:v>52.0</c:v>
                </c:pt>
                <c:pt idx="82">
                  <c:v>52.0</c:v>
                </c:pt>
                <c:pt idx="83">
                  <c:v>53.0</c:v>
                </c:pt>
                <c:pt idx="84">
                  <c:v>53.0</c:v>
                </c:pt>
                <c:pt idx="85">
                  <c:v>54.0</c:v>
                </c:pt>
                <c:pt idx="86">
                  <c:v>54.0</c:v>
                </c:pt>
                <c:pt idx="87">
                  <c:v>55.0</c:v>
                </c:pt>
                <c:pt idx="88">
                  <c:v>55.0</c:v>
                </c:pt>
                <c:pt idx="89">
                  <c:v>56.0</c:v>
                </c:pt>
                <c:pt idx="90">
                  <c:v>56.0</c:v>
                </c:pt>
                <c:pt idx="91">
                  <c:v>57.0</c:v>
                </c:pt>
                <c:pt idx="92">
                  <c:v>57.0</c:v>
                </c:pt>
                <c:pt idx="93">
                  <c:v>60.0</c:v>
                </c:pt>
                <c:pt idx="94">
                  <c:v>60.0</c:v>
                </c:pt>
                <c:pt idx="95">
                  <c:v>61.0</c:v>
                </c:pt>
                <c:pt idx="96">
                  <c:v>61.0</c:v>
                </c:pt>
                <c:pt idx="97">
                  <c:v>62.0</c:v>
                </c:pt>
                <c:pt idx="98">
                  <c:v>62.0</c:v>
                </c:pt>
                <c:pt idx="99">
                  <c:v>63.0</c:v>
                </c:pt>
                <c:pt idx="100">
                  <c:v>63.0</c:v>
                </c:pt>
                <c:pt idx="101">
                  <c:v>64.0</c:v>
                </c:pt>
                <c:pt idx="102">
                  <c:v>64.0</c:v>
                </c:pt>
                <c:pt idx="103">
                  <c:v>65.0</c:v>
                </c:pt>
                <c:pt idx="104">
                  <c:v>65.0</c:v>
                </c:pt>
                <c:pt idx="105">
                  <c:v>66.0</c:v>
                </c:pt>
                <c:pt idx="106">
                  <c:v>66.0</c:v>
                </c:pt>
                <c:pt idx="107">
                  <c:v>67.0</c:v>
                </c:pt>
                <c:pt idx="108">
                  <c:v>67.0</c:v>
                </c:pt>
                <c:pt idx="109">
                  <c:v>69.0</c:v>
                </c:pt>
                <c:pt idx="110">
                  <c:v>69.0</c:v>
                </c:pt>
                <c:pt idx="111">
                  <c:v>70.0</c:v>
                </c:pt>
                <c:pt idx="112">
                  <c:v>70.0</c:v>
                </c:pt>
                <c:pt idx="113">
                  <c:v>71.0</c:v>
                </c:pt>
                <c:pt idx="114">
                  <c:v>71.0</c:v>
                </c:pt>
                <c:pt idx="115">
                  <c:v>72.0</c:v>
                </c:pt>
                <c:pt idx="116">
                  <c:v>72.0</c:v>
                </c:pt>
                <c:pt idx="117">
                  <c:v>73.0</c:v>
                </c:pt>
                <c:pt idx="118">
                  <c:v>73.0</c:v>
                </c:pt>
                <c:pt idx="119">
                  <c:v>74.0</c:v>
                </c:pt>
                <c:pt idx="120">
                  <c:v>74.0</c:v>
                </c:pt>
                <c:pt idx="121">
                  <c:v>76.0</c:v>
                </c:pt>
                <c:pt idx="122">
                  <c:v>76.0</c:v>
                </c:pt>
                <c:pt idx="123">
                  <c:v>77.0</c:v>
                </c:pt>
                <c:pt idx="124">
                  <c:v>77.0</c:v>
                </c:pt>
                <c:pt idx="125">
                  <c:v>78.0</c:v>
                </c:pt>
                <c:pt idx="126">
                  <c:v>78.0</c:v>
                </c:pt>
                <c:pt idx="127">
                  <c:v>79.0</c:v>
                </c:pt>
                <c:pt idx="128">
                  <c:v>79.0</c:v>
                </c:pt>
                <c:pt idx="129">
                  <c:v>80.0</c:v>
                </c:pt>
                <c:pt idx="130">
                  <c:v>80.0</c:v>
                </c:pt>
                <c:pt idx="131">
                  <c:v>81.0</c:v>
                </c:pt>
                <c:pt idx="132">
                  <c:v>81.0</c:v>
                </c:pt>
                <c:pt idx="133">
                  <c:v>82.0</c:v>
                </c:pt>
                <c:pt idx="134">
                  <c:v>82.0</c:v>
                </c:pt>
                <c:pt idx="135">
                  <c:v>87.0</c:v>
                </c:pt>
                <c:pt idx="136">
                  <c:v>87.0</c:v>
                </c:pt>
                <c:pt idx="137">
                  <c:v>90.0</c:v>
                </c:pt>
                <c:pt idx="138">
                  <c:v>90.0</c:v>
                </c:pt>
                <c:pt idx="139">
                  <c:v>93.0</c:v>
                </c:pt>
                <c:pt idx="140">
                  <c:v>93.0</c:v>
                </c:pt>
                <c:pt idx="141">
                  <c:v>94.0</c:v>
                </c:pt>
                <c:pt idx="142">
                  <c:v>94.0</c:v>
                </c:pt>
                <c:pt idx="143">
                  <c:v>95.0</c:v>
                </c:pt>
                <c:pt idx="144">
                  <c:v>95.0</c:v>
                </c:pt>
                <c:pt idx="145">
                  <c:v>96.0</c:v>
                </c:pt>
                <c:pt idx="146">
                  <c:v>96.0</c:v>
                </c:pt>
                <c:pt idx="147">
                  <c:v>97.0</c:v>
                </c:pt>
                <c:pt idx="148">
                  <c:v>97.0</c:v>
                </c:pt>
                <c:pt idx="149">
                  <c:v>98.0</c:v>
                </c:pt>
                <c:pt idx="150">
                  <c:v>98.0</c:v>
                </c:pt>
                <c:pt idx="151">
                  <c:v>100.0</c:v>
                </c:pt>
                <c:pt idx="152">
                  <c:v>100.0</c:v>
                </c:pt>
                <c:pt idx="153">
                  <c:v>101.0</c:v>
                </c:pt>
                <c:pt idx="154">
                  <c:v>101.0</c:v>
                </c:pt>
                <c:pt idx="155">
                  <c:v>102.0</c:v>
                </c:pt>
                <c:pt idx="156">
                  <c:v>102.0</c:v>
                </c:pt>
                <c:pt idx="157">
                  <c:v>103.0</c:v>
                </c:pt>
                <c:pt idx="158">
                  <c:v>103.0</c:v>
                </c:pt>
                <c:pt idx="159">
                  <c:v>104.0</c:v>
                </c:pt>
                <c:pt idx="160">
                  <c:v>104.0</c:v>
                </c:pt>
                <c:pt idx="161">
                  <c:v>108.0</c:v>
                </c:pt>
                <c:pt idx="162">
                  <c:v>108.0</c:v>
                </c:pt>
                <c:pt idx="163">
                  <c:v>109.0</c:v>
                </c:pt>
                <c:pt idx="164">
                  <c:v>109.0</c:v>
                </c:pt>
                <c:pt idx="165">
                  <c:v>110.0</c:v>
                </c:pt>
                <c:pt idx="166">
                  <c:v>110.0</c:v>
                </c:pt>
                <c:pt idx="167">
                  <c:v>111.0</c:v>
                </c:pt>
                <c:pt idx="168">
                  <c:v>111.0</c:v>
                </c:pt>
                <c:pt idx="169">
                  <c:v>114.0</c:v>
                </c:pt>
                <c:pt idx="170">
                  <c:v>114.0</c:v>
                </c:pt>
                <c:pt idx="171">
                  <c:v>118.0</c:v>
                </c:pt>
                <c:pt idx="172">
                  <c:v>118.0</c:v>
                </c:pt>
                <c:pt idx="173">
                  <c:v>120.0</c:v>
                </c:pt>
                <c:pt idx="174">
                  <c:v>120.0</c:v>
                </c:pt>
                <c:pt idx="175">
                  <c:v>121.0</c:v>
                </c:pt>
                <c:pt idx="176">
                  <c:v>121.0</c:v>
                </c:pt>
                <c:pt idx="177">
                  <c:v>127.0</c:v>
                </c:pt>
                <c:pt idx="178">
                  <c:v>127.0</c:v>
                </c:pt>
                <c:pt idx="179">
                  <c:v>129.0</c:v>
                </c:pt>
                <c:pt idx="180">
                  <c:v>129.0</c:v>
                </c:pt>
                <c:pt idx="181">
                  <c:v>130.0</c:v>
                </c:pt>
                <c:pt idx="182">
                  <c:v>130.0</c:v>
                </c:pt>
                <c:pt idx="183">
                  <c:v>133.0</c:v>
                </c:pt>
                <c:pt idx="184">
                  <c:v>133.0</c:v>
                </c:pt>
                <c:pt idx="185">
                  <c:v>139.0</c:v>
                </c:pt>
                <c:pt idx="186">
                  <c:v>139.0</c:v>
                </c:pt>
                <c:pt idx="187">
                  <c:v>140.0</c:v>
                </c:pt>
                <c:pt idx="188">
                  <c:v>140.0</c:v>
                </c:pt>
                <c:pt idx="189">
                  <c:v>149.0</c:v>
                </c:pt>
                <c:pt idx="190">
                  <c:v>149.0</c:v>
                </c:pt>
                <c:pt idx="191">
                  <c:v>155.0</c:v>
                </c:pt>
                <c:pt idx="192">
                  <c:v>155.0</c:v>
                </c:pt>
                <c:pt idx="193">
                  <c:v>158.0</c:v>
                </c:pt>
                <c:pt idx="194">
                  <c:v>158.0</c:v>
                </c:pt>
                <c:pt idx="195">
                  <c:v>159.0</c:v>
                </c:pt>
                <c:pt idx="196">
                  <c:v>159.0</c:v>
                </c:pt>
                <c:pt idx="197">
                  <c:v>170.0</c:v>
                </c:pt>
                <c:pt idx="198">
                  <c:v>170.0</c:v>
                </c:pt>
                <c:pt idx="199">
                  <c:v>191.0</c:v>
                </c:pt>
                <c:pt idx="200">
                  <c:v>191.0</c:v>
                </c:pt>
              </c:numCache>
            </c:numRef>
          </c:xVal>
          <c:yVal>
            <c:numRef>
              <c:f>Sheet1!$B$2:$B$202</c:f>
              <c:numCache>
                <c:formatCode>General</c:formatCode>
                <c:ptCount val="201"/>
                <c:pt idx="0">
                  <c:v>1.0</c:v>
                </c:pt>
                <c:pt idx="1">
                  <c:v>1.0</c:v>
                </c:pt>
                <c:pt idx="2">
                  <c:v>0.98876404494382</c:v>
                </c:pt>
                <c:pt idx="3">
                  <c:v>0.98876404494382</c:v>
                </c:pt>
                <c:pt idx="4">
                  <c:v>0.9775280898876406</c:v>
                </c:pt>
                <c:pt idx="5">
                  <c:v>0.9775280898876406</c:v>
                </c:pt>
                <c:pt idx="6">
                  <c:v>0.971910112359551</c:v>
                </c:pt>
                <c:pt idx="7">
                  <c:v>0.971910112359551</c:v>
                </c:pt>
                <c:pt idx="8">
                  <c:v>0.9662921348314605</c:v>
                </c:pt>
                <c:pt idx="9">
                  <c:v>0.9662921348314605</c:v>
                </c:pt>
                <c:pt idx="10">
                  <c:v>0.9550561797752813</c:v>
                </c:pt>
                <c:pt idx="11">
                  <c:v>0.9550561797752813</c:v>
                </c:pt>
                <c:pt idx="12">
                  <c:v>0.9494382022471911</c:v>
                </c:pt>
                <c:pt idx="13">
                  <c:v>0.9494382022471911</c:v>
                </c:pt>
                <c:pt idx="14">
                  <c:v>0.9382022471910116</c:v>
                </c:pt>
                <c:pt idx="15">
                  <c:v>0.9382022471910116</c:v>
                </c:pt>
                <c:pt idx="16">
                  <c:v>0.9325842696629218</c:v>
                </c:pt>
                <c:pt idx="17">
                  <c:v>0.9325842696629218</c:v>
                </c:pt>
                <c:pt idx="18">
                  <c:v>0.9269662921348313</c:v>
                </c:pt>
                <c:pt idx="19">
                  <c:v>0.9269662921348313</c:v>
                </c:pt>
                <c:pt idx="20">
                  <c:v>0.8988764044943819</c:v>
                </c:pt>
                <c:pt idx="21">
                  <c:v>0.8988764044943819</c:v>
                </c:pt>
                <c:pt idx="22">
                  <c:v>0.8820224719101122</c:v>
                </c:pt>
                <c:pt idx="23">
                  <c:v>0.8820224719101122</c:v>
                </c:pt>
                <c:pt idx="24">
                  <c:v>0.8764044943820226</c:v>
                </c:pt>
                <c:pt idx="25">
                  <c:v>0.8764044943820226</c:v>
                </c:pt>
                <c:pt idx="26">
                  <c:v>0.8595505617977528</c:v>
                </c:pt>
                <c:pt idx="27">
                  <c:v>0.8595505617977528</c:v>
                </c:pt>
                <c:pt idx="28">
                  <c:v>0.8539325842696631</c:v>
                </c:pt>
                <c:pt idx="29">
                  <c:v>0.8539325842696631</c:v>
                </c:pt>
                <c:pt idx="30">
                  <c:v>0.8426966292134831</c:v>
                </c:pt>
                <c:pt idx="31">
                  <c:v>0.8426966292134831</c:v>
                </c:pt>
                <c:pt idx="32">
                  <c:v>0.8370786516853934</c:v>
                </c:pt>
                <c:pt idx="33">
                  <c:v>0.8370786516853934</c:v>
                </c:pt>
                <c:pt idx="34">
                  <c:v>0.8202247191011236</c:v>
                </c:pt>
                <c:pt idx="35">
                  <c:v>0.8202247191011236</c:v>
                </c:pt>
                <c:pt idx="36">
                  <c:v>0.8146067415730336</c:v>
                </c:pt>
                <c:pt idx="37">
                  <c:v>0.8146067415730336</c:v>
                </c:pt>
                <c:pt idx="38">
                  <c:v>0.7977528089887642</c:v>
                </c:pt>
                <c:pt idx="39">
                  <c:v>0.7977528089887642</c:v>
                </c:pt>
                <c:pt idx="40">
                  <c:v>0.7921348314606743</c:v>
                </c:pt>
                <c:pt idx="41">
                  <c:v>0.7921348314606743</c:v>
                </c:pt>
                <c:pt idx="42">
                  <c:v>0.7808988764044943</c:v>
                </c:pt>
                <c:pt idx="43">
                  <c:v>0.7808988764044943</c:v>
                </c:pt>
                <c:pt idx="44">
                  <c:v>0.7752808988764048</c:v>
                </c:pt>
                <c:pt idx="45">
                  <c:v>0.7752808988764048</c:v>
                </c:pt>
                <c:pt idx="46">
                  <c:v>0.7528089887640448</c:v>
                </c:pt>
                <c:pt idx="47">
                  <c:v>0.7528089887640448</c:v>
                </c:pt>
                <c:pt idx="48">
                  <c:v>0.7471910112359551</c:v>
                </c:pt>
                <c:pt idx="49">
                  <c:v>0.7471910112359551</c:v>
                </c:pt>
                <c:pt idx="50">
                  <c:v>0.7415730337078651</c:v>
                </c:pt>
                <c:pt idx="51">
                  <c:v>0.7415730337078651</c:v>
                </c:pt>
                <c:pt idx="52">
                  <c:v>0.7303370786516853</c:v>
                </c:pt>
                <c:pt idx="53">
                  <c:v>0.7303370786516853</c:v>
                </c:pt>
                <c:pt idx="54">
                  <c:v>0.7134831460674158</c:v>
                </c:pt>
                <c:pt idx="55">
                  <c:v>0.7134831460674158</c:v>
                </c:pt>
                <c:pt idx="56">
                  <c:v>0.7078651685393259</c:v>
                </c:pt>
                <c:pt idx="57">
                  <c:v>0.7078651685393259</c:v>
                </c:pt>
                <c:pt idx="58">
                  <c:v>0.691011235955056</c:v>
                </c:pt>
                <c:pt idx="59">
                  <c:v>0.691011235955056</c:v>
                </c:pt>
                <c:pt idx="60">
                  <c:v>0.6853932584269665</c:v>
                </c:pt>
                <c:pt idx="61">
                  <c:v>0.6853932584269665</c:v>
                </c:pt>
                <c:pt idx="62">
                  <c:v>0.6685393258426968</c:v>
                </c:pt>
                <c:pt idx="63">
                  <c:v>0.6685393258426968</c:v>
                </c:pt>
                <c:pt idx="64">
                  <c:v>0.662921348314607</c:v>
                </c:pt>
                <c:pt idx="65">
                  <c:v>0.662921348314607</c:v>
                </c:pt>
                <c:pt idx="66">
                  <c:v>0.6516853932584269</c:v>
                </c:pt>
                <c:pt idx="67">
                  <c:v>0.6516853932584269</c:v>
                </c:pt>
                <c:pt idx="68">
                  <c:v>0.6235955056179775</c:v>
                </c:pt>
                <c:pt idx="69">
                  <c:v>0.6235955056179775</c:v>
                </c:pt>
                <c:pt idx="70">
                  <c:v>0.6179775280898879</c:v>
                </c:pt>
                <c:pt idx="71">
                  <c:v>0.6179775280898879</c:v>
                </c:pt>
                <c:pt idx="72">
                  <c:v>0.6011235955056178</c:v>
                </c:pt>
                <c:pt idx="73">
                  <c:v>0.6011235955056178</c:v>
                </c:pt>
                <c:pt idx="74">
                  <c:v>0.595505617977528</c:v>
                </c:pt>
                <c:pt idx="75">
                  <c:v>0.595505617977528</c:v>
                </c:pt>
                <c:pt idx="76">
                  <c:v>0.5842696629213483</c:v>
                </c:pt>
                <c:pt idx="77">
                  <c:v>0.5842696629213483</c:v>
                </c:pt>
                <c:pt idx="78">
                  <c:v>0.5786516853932585</c:v>
                </c:pt>
                <c:pt idx="79">
                  <c:v>0.5786516853932585</c:v>
                </c:pt>
                <c:pt idx="80">
                  <c:v>0.561797752808989</c:v>
                </c:pt>
                <c:pt idx="81">
                  <c:v>0.561797752808989</c:v>
                </c:pt>
                <c:pt idx="82">
                  <c:v>0.5561797752808989</c:v>
                </c:pt>
                <c:pt idx="83">
                  <c:v>0.5561797752808989</c:v>
                </c:pt>
                <c:pt idx="84">
                  <c:v>0.5393258426966292</c:v>
                </c:pt>
                <c:pt idx="85">
                  <c:v>0.5393258426966292</c:v>
                </c:pt>
                <c:pt idx="86">
                  <c:v>0.5224719101123598</c:v>
                </c:pt>
                <c:pt idx="87">
                  <c:v>0.5224719101123598</c:v>
                </c:pt>
                <c:pt idx="88">
                  <c:v>0.5112359550561797</c:v>
                </c:pt>
                <c:pt idx="89">
                  <c:v>0.5112359550561797</c:v>
                </c:pt>
                <c:pt idx="90">
                  <c:v>0.49999999999999994</c:v>
                </c:pt>
                <c:pt idx="91">
                  <c:v>0.49999999999999994</c:v>
                </c:pt>
                <c:pt idx="92">
                  <c:v>0.4831460674157302</c:v>
                </c:pt>
                <c:pt idx="93">
                  <c:v>0.4831460674157302</c:v>
                </c:pt>
                <c:pt idx="94">
                  <c:v>0.4719101123595505</c:v>
                </c:pt>
                <c:pt idx="95">
                  <c:v>0.4719101123595505</c:v>
                </c:pt>
                <c:pt idx="96">
                  <c:v>0.4550561797752811</c:v>
                </c:pt>
                <c:pt idx="97">
                  <c:v>0.4550561797752811</c:v>
                </c:pt>
                <c:pt idx="98">
                  <c:v>0.4494382022471909</c:v>
                </c:pt>
                <c:pt idx="99">
                  <c:v>0.4494382022471909</c:v>
                </c:pt>
                <c:pt idx="100">
                  <c:v>0.43820224719101125</c:v>
                </c:pt>
                <c:pt idx="101">
                  <c:v>0.43820224719101125</c:v>
                </c:pt>
                <c:pt idx="102">
                  <c:v>0.4269662921348315</c:v>
                </c:pt>
                <c:pt idx="103">
                  <c:v>0.4269662921348315</c:v>
                </c:pt>
                <c:pt idx="104">
                  <c:v>0.4213483146067415</c:v>
                </c:pt>
                <c:pt idx="105">
                  <c:v>0.4213483146067415</c:v>
                </c:pt>
                <c:pt idx="106">
                  <c:v>0.41011235955056174</c:v>
                </c:pt>
                <c:pt idx="107">
                  <c:v>0.41011235955056174</c:v>
                </c:pt>
                <c:pt idx="108">
                  <c:v>0.3932584269662923</c:v>
                </c:pt>
                <c:pt idx="109">
                  <c:v>0.3932584269662923</c:v>
                </c:pt>
                <c:pt idx="110">
                  <c:v>0.3820224719101125</c:v>
                </c:pt>
                <c:pt idx="111">
                  <c:v>0.3820224719101125</c:v>
                </c:pt>
                <c:pt idx="112">
                  <c:v>0.3539325842696629</c:v>
                </c:pt>
                <c:pt idx="113">
                  <c:v>0.3539325842696629</c:v>
                </c:pt>
                <c:pt idx="114">
                  <c:v>0.3370786516853932</c:v>
                </c:pt>
                <c:pt idx="115">
                  <c:v>0.3370786516853932</c:v>
                </c:pt>
                <c:pt idx="116">
                  <c:v>0.32022471910112366</c:v>
                </c:pt>
                <c:pt idx="117">
                  <c:v>0.32022471910112366</c:v>
                </c:pt>
                <c:pt idx="118">
                  <c:v>0.3089887640449439</c:v>
                </c:pt>
                <c:pt idx="119">
                  <c:v>0.3089887640449439</c:v>
                </c:pt>
                <c:pt idx="120">
                  <c:v>0.303370786516854</c:v>
                </c:pt>
                <c:pt idx="121">
                  <c:v>0.303370786516854</c:v>
                </c:pt>
                <c:pt idx="122">
                  <c:v>0.29213483146067426</c:v>
                </c:pt>
                <c:pt idx="123">
                  <c:v>0.29213483146067426</c:v>
                </c:pt>
                <c:pt idx="124">
                  <c:v>0.2865168539325843</c:v>
                </c:pt>
                <c:pt idx="125">
                  <c:v>0.2865168539325843</c:v>
                </c:pt>
                <c:pt idx="126">
                  <c:v>0.2808988764044944</c:v>
                </c:pt>
                <c:pt idx="127">
                  <c:v>0.2808988764044944</c:v>
                </c:pt>
                <c:pt idx="128">
                  <c:v>0.2696629213483147</c:v>
                </c:pt>
                <c:pt idx="129">
                  <c:v>0.2696629213483147</c:v>
                </c:pt>
                <c:pt idx="130">
                  <c:v>0.25842696629213485</c:v>
                </c:pt>
                <c:pt idx="131">
                  <c:v>0.25842696629213485</c:v>
                </c:pt>
                <c:pt idx="132">
                  <c:v>0.24719101123595505</c:v>
                </c:pt>
                <c:pt idx="133">
                  <c:v>0.24719101123595505</c:v>
                </c:pt>
                <c:pt idx="134">
                  <c:v>0.23595505617977533</c:v>
                </c:pt>
                <c:pt idx="135">
                  <c:v>0.23595505617977533</c:v>
                </c:pt>
                <c:pt idx="136">
                  <c:v>0.23033707865168546</c:v>
                </c:pt>
                <c:pt idx="137">
                  <c:v>0.23033707865168546</c:v>
                </c:pt>
                <c:pt idx="138">
                  <c:v>0.22471910112359553</c:v>
                </c:pt>
                <c:pt idx="139">
                  <c:v>0.22471910112359553</c:v>
                </c:pt>
                <c:pt idx="140">
                  <c:v>0.21348314606741572</c:v>
                </c:pt>
                <c:pt idx="141">
                  <c:v>0.21348314606741572</c:v>
                </c:pt>
                <c:pt idx="142">
                  <c:v>0.20224719101123595</c:v>
                </c:pt>
                <c:pt idx="143">
                  <c:v>0.20224719101123595</c:v>
                </c:pt>
                <c:pt idx="144">
                  <c:v>0.17977528089887643</c:v>
                </c:pt>
                <c:pt idx="145">
                  <c:v>0.17977528089887643</c:v>
                </c:pt>
                <c:pt idx="146">
                  <c:v>0.17415730337078655</c:v>
                </c:pt>
                <c:pt idx="147">
                  <c:v>0.17415730337078655</c:v>
                </c:pt>
                <c:pt idx="148">
                  <c:v>0.16853932584269665</c:v>
                </c:pt>
                <c:pt idx="149">
                  <c:v>0.16853932584269665</c:v>
                </c:pt>
                <c:pt idx="150">
                  <c:v>0.16292134831460678</c:v>
                </c:pt>
                <c:pt idx="151">
                  <c:v>0.16292134831460678</c:v>
                </c:pt>
                <c:pt idx="152">
                  <c:v>0.15730337078651685</c:v>
                </c:pt>
                <c:pt idx="153">
                  <c:v>0.15730337078651685</c:v>
                </c:pt>
                <c:pt idx="154">
                  <c:v>0.151685393258427</c:v>
                </c:pt>
                <c:pt idx="155">
                  <c:v>0.151685393258427</c:v>
                </c:pt>
                <c:pt idx="156">
                  <c:v>0.1460674157303371</c:v>
                </c:pt>
                <c:pt idx="157">
                  <c:v>0.1460674157303371</c:v>
                </c:pt>
                <c:pt idx="158">
                  <c:v>0.14044943820224717</c:v>
                </c:pt>
                <c:pt idx="159">
                  <c:v>0.14044943820224717</c:v>
                </c:pt>
                <c:pt idx="160">
                  <c:v>0.13483146067415733</c:v>
                </c:pt>
                <c:pt idx="161">
                  <c:v>0.13483146067415733</c:v>
                </c:pt>
                <c:pt idx="162">
                  <c:v>0.12921348314606743</c:v>
                </c:pt>
                <c:pt idx="163">
                  <c:v>0.12921348314606743</c:v>
                </c:pt>
                <c:pt idx="164">
                  <c:v>0.12359550561797757</c:v>
                </c:pt>
                <c:pt idx="165">
                  <c:v>0.12359550561797757</c:v>
                </c:pt>
                <c:pt idx="166">
                  <c:v>0.11797752808988765</c:v>
                </c:pt>
                <c:pt idx="167">
                  <c:v>0.11797752808988765</c:v>
                </c:pt>
                <c:pt idx="168">
                  <c:v>0.11235955056179775</c:v>
                </c:pt>
                <c:pt idx="169">
                  <c:v>0.11235955056179775</c:v>
                </c:pt>
                <c:pt idx="170">
                  <c:v>0.10674157303370786</c:v>
                </c:pt>
                <c:pt idx="171">
                  <c:v>0.10674157303370786</c:v>
                </c:pt>
                <c:pt idx="172">
                  <c:v>0.10112359550561797</c:v>
                </c:pt>
                <c:pt idx="173">
                  <c:v>0.10112359550561797</c:v>
                </c:pt>
                <c:pt idx="174">
                  <c:v>0.09550561797752811</c:v>
                </c:pt>
                <c:pt idx="175">
                  <c:v>0.09550561797752811</c:v>
                </c:pt>
                <c:pt idx="176">
                  <c:v>0.0898876404494382</c:v>
                </c:pt>
                <c:pt idx="177">
                  <c:v>0.0898876404494382</c:v>
                </c:pt>
                <c:pt idx="178">
                  <c:v>0.07865168539325842</c:v>
                </c:pt>
                <c:pt idx="179">
                  <c:v>0.07865168539325842</c:v>
                </c:pt>
                <c:pt idx="180">
                  <c:v>0.07303370786516855</c:v>
                </c:pt>
                <c:pt idx="181">
                  <c:v>0.07303370786516855</c:v>
                </c:pt>
                <c:pt idx="182">
                  <c:v>0.06741573033707866</c:v>
                </c:pt>
                <c:pt idx="183">
                  <c:v>0.06741573033707866</c:v>
                </c:pt>
                <c:pt idx="184">
                  <c:v>0.061797752808988776</c:v>
                </c:pt>
                <c:pt idx="185">
                  <c:v>0.061797752808988776</c:v>
                </c:pt>
                <c:pt idx="186">
                  <c:v>0.050561797752809</c:v>
                </c:pt>
                <c:pt idx="187">
                  <c:v>0.050561797752809</c:v>
                </c:pt>
                <c:pt idx="188">
                  <c:v>0.0449438202247191</c:v>
                </c:pt>
                <c:pt idx="189">
                  <c:v>0.0449438202247191</c:v>
                </c:pt>
                <c:pt idx="190">
                  <c:v>0.039325842696629226</c:v>
                </c:pt>
                <c:pt idx="191">
                  <c:v>0.039325842696629226</c:v>
                </c:pt>
                <c:pt idx="192">
                  <c:v>0.033707865168539346</c:v>
                </c:pt>
                <c:pt idx="193">
                  <c:v>0.033707865168539346</c:v>
                </c:pt>
                <c:pt idx="194">
                  <c:v>0.028089887640449444</c:v>
                </c:pt>
                <c:pt idx="195">
                  <c:v>0.028089887640449444</c:v>
                </c:pt>
                <c:pt idx="196">
                  <c:v>0.022471910112359557</c:v>
                </c:pt>
                <c:pt idx="197">
                  <c:v>0.022471910112359557</c:v>
                </c:pt>
                <c:pt idx="198">
                  <c:v>0.01685393258426967</c:v>
                </c:pt>
                <c:pt idx="199">
                  <c:v>0.01685393258426967</c:v>
                </c:pt>
                <c:pt idx="200">
                  <c:v>0.011235955056179777</c:v>
                </c:pt>
              </c:numCache>
            </c:numRef>
          </c:yVal>
          <c:smooth val="0"/>
        </c:ser>
        <c:ser>
          <c:idx val="1"/>
          <c:order val="1"/>
          <c:tx>
            <c:strRef>
              <c:f>Sheet1!$B$204</c:f>
              <c:strCache>
                <c:ptCount val="1"/>
                <c:pt idx="0">
                  <c:v>PS 2 (median 29 wk)</c:v>
                </c:pt>
              </c:strCache>
            </c:strRef>
          </c:tx>
          <c:spPr>
            <a:ln w="31750">
              <a:solidFill>
                <a:srgbClr val="2A78D6"/>
              </a:solidFill>
            </a:ln>
          </c:spPr>
          <c:marker>
            <c:symbol val="none"/>
          </c:marker>
          <c:xVal>
            <c:numRef>
              <c:f>Sheet1!$A$205:$A$301</c:f>
              <c:numCache>
                <c:formatCode>General</c:formatCode>
                <c:ptCount val="97"/>
                <c:pt idx="0">
                  <c:v>0.0</c:v>
                </c:pt>
                <c:pt idx="1">
                  <c:v>3.0</c:v>
                </c:pt>
                <c:pt idx="2">
                  <c:v>3.0</c:v>
                </c:pt>
                <c:pt idx="3">
                  <c:v>4.0</c:v>
                </c:pt>
                <c:pt idx="4">
                  <c:v>4.0</c:v>
                </c:pt>
                <c:pt idx="5">
                  <c:v>6.0</c:v>
                </c:pt>
                <c:pt idx="6">
                  <c:v>6.0</c:v>
                </c:pt>
                <c:pt idx="7">
                  <c:v>7.0</c:v>
                </c:pt>
                <c:pt idx="8">
                  <c:v>7.0</c:v>
                </c:pt>
                <c:pt idx="9">
                  <c:v>8.0</c:v>
                </c:pt>
                <c:pt idx="10">
                  <c:v>8.0</c:v>
                </c:pt>
                <c:pt idx="11">
                  <c:v>9.0</c:v>
                </c:pt>
                <c:pt idx="12">
                  <c:v>9.0</c:v>
                </c:pt>
                <c:pt idx="13">
                  <c:v>10.0</c:v>
                </c:pt>
                <c:pt idx="14">
                  <c:v>10.0</c:v>
                </c:pt>
                <c:pt idx="15">
                  <c:v>13.0</c:v>
                </c:pt>
                <c:pt idx="16">
                  <c:v>13.0</c:v>
                </c:pt>
                <c:pt idx="17">
                  <c:v>15.0</c:v>
                </c:pt>
                <c:pt idx="18">
                  <c:v>15.0</c:v>
                </c:pt>
                <c:pt idx="19">
                  <c:v>16.0</c:v>
                </c:pt>
                <c:pt idx="20">
                  <c:v>16.0</c:v>
                </c:pt>
                <c:pt idx="21">
                  <c:v>17.0</c:v>
                </c:pt>
                <c:pt idx="22">
                  <c:v>17.0</c:v>
                </c:pt>
                <c:pt idx="23">
                  <c:v>18.0</c:v>
                </c:pt>
                <c:pt idx="24">
                  <c:v>18.0</c:v>
                </c:pt>
                <c:pt idx="25">
                  <c:v>19.0</c:v>
                </c:pt>
                <c:pt idx="26">
                  <c:v>19.0</c:v>
                </c:pt>
                <c:pt idx="27">
                  <c:v>21.0</c:v>
                </c:pt>
                <c:pt idx="28">
                  <c:v>21.0</c:v>
                </c:pt>
                <c:pt idx="29">
                  <c:v>22.0</c:v>
                </c:pt>
                <c:pt idx="30">
                  <c:v>22.0</c:v>
                </c:pt>
                <c:pt idx="31">
                  <c:v>24.0</c:v>
                </c:pt>
                <c:pt idx="32">
                  <c:v>24.0</c:v>
                </c:pt>
                <c:pt idx="33">
                  <c:v>25.0</c:v>
                </c:pt>
                <c:pt idx="34">
                  <c:v>25.0</c:v>
                </c:pt>
                <c:pt idx="35">
                  <c:v>26.0</c:v>
                </c:pt>
                <c:pt idx="36">
                  <c:v>26.0</c:v>
                </c:pt>
                <c:pt idx="37">
                  <c:v>28.0</c:v>
                </c:pt>
                <c:pt idx="38">
                  <c:v>28.0</c:v>
                </c:pt>
                <c:pt idx="39">
                  <c:v>29.0</c:v>
                </c:pt>
                <c:pt idx="40">
                  <c:v>29.0</c:v>
                </c:pt>
                <c:pt idx="41">
                  <c:v>34.0</c:v>
                </c:pt>
                <c:pt idx="42">
                  <c:v>34.0</c:v>
                </c:pt>
                <c:pt idx="43">
                  <c:v>35.0</c:v>
                </c:pt>
                <c:pt idx="44">
                  <c:v>35.0</c:v>
                </c:pt>
                <c:pt idx="45">
                  <c:v>41.0</c:v>
                </c:pt>
                <c:pt idx="46">
                  <c:v>41.0</c:v>
                </c:pt>
                <c:pt idx="47">
                  <c:v>43.0</c:v>
                </c:pt>
                <c:pt idx="48">
                  <c:v>43.0</c:v>
                </c:pt>
                <c:pt idx="49">
                  <c:v>44.0</c:v>
                </c:pt>
                <c:pt idx="50">
                  <c:v>44.0</c:v>
                </c:pt>
                <c:pt idx="51">
                  <c:v>47.0</c:v>
                </c:pt>
                <c:pt idx="52">
                  <c:v>47.0</c:v>
                </c:pt>
                <c:pt idx="53">
                  <c:v>48.0</c:v>
                </c:pt>
                <c:pt idx="54">
                  <c:v>48.0</c:v>
                </c:pt>
                <c:pt idx="55">
                  <c:v>50.0</c:v>
                </c:pt>
                <c:pt idx="56">
                  <c:v>50.0</c:v>
                </c:pt>
                <c:pt idx="57">
                  <c:v>52.0</c:v>
                </c:pt>
                <c:pt idx="58">
                  <c:v>52.0</c:v>
                </c:pt>
                <c:pt idx="59">
                  <c:v>54.0</c:v>
                </c:pt>
                <c:pt idx="60">
                  <c:v>54.0</c:v>
                </c:pt>
                <c:pt idx="61">
                  <c:v>56.0</c:v>
                </c:pt>
                <c:pt idx="62">
                  <c:v>56.0</c:v>
                </c:pt>
                <c:pt idx="63">
                  <c:v>58.0</c:v>
                </c:pt>
                <c:pt idx="64">
                  <c:v>58.0</c:v>
                </c:pt>
                <c:pt idx="65">
                  <c:v>60.0</c:v>
                </c:pt>
                <c:pt idx="66">
                  <c:v>60.0</c:v>
                </c:pt>
                <c:pt idx="67">
                  <c:v>71.0</c:v>
                </c:pt>
                <c:pt idx="68">
                  <c:v>71.0</c:v>
                </c:pt>
                <c:pt idx="69">
                  <c:v>72.0</c:v>
                </c:pt>
                <c:pt idx="70">
                  <c:v>72.0</c:v>
                </c:pt>
                <c:pt idx="71">
                  <c:v>73.0</c:v>
                </c:pt>
                <c:pt idx="72">
                  <c:v>73.0</c:v>
                </c:pt>
                <c:pt idx="73">
                  <c:v>75.0</c:v>
                </c:pt>
                <c:pt idx="74">
                  <c:v>75.0</c:v>
                </c:pt>
                <c:pt idx="75">
                  <c:v>77.0</c:v>
                </c:pt>
                <c:pt idx="76">
                  <c:v>77.0</c:v>
                </c:pt>
                <c:pt idx="77">
                  <c:v>78.0</c:v>
                </c:pt>
                <c:pt idx="78">
                  <c:v>78.0</c:v>
                </c:pt>
                <c:pt idx="79">
                  <c:v>80.0</c:v>
                </c:pt>
                <c:pt idx="80">
                  <c:v>80.0</c:v>
                </c:pt>
                <c:pt idx="81">
                  <c:v>103.0</c:v>
                </c:pt>
                <c:pt idx="82">
                  <c:v>103.0</c:v>
                </c:pt>
                <c:pt idx="83">
                  <c:v>114.0</c:v>
                </c:pt>
                <c:pt idx="84">
                  <c:v>114.0</c:v>
                </c:pt>
                <c:pt idx="85">
                  <c:v>115.0</c:v>
                </c:pt>
                <c:pt idx="86">
                  <c:v>115.0</c:v>
                </c:pt>
                <c:pt idx="87">
                  <c:v>117.0</c:v>
                </c:pt>
                <c:pt idx="88">
                  <c:v>117.0</c:v>
                </c:pt>
                <c:pt idx="89">
                  <c:v>137.0</c:v>
                </c:pt>
                <c:pt idx="90">
                  <c:v>137.0</c:v>
                </c:pt>
                <c:pt idx="91">
                  <c:v>140.0</c:v>
                </c:pt>
                <c:pt idx="92">
                  <c:v>140.0</c:v>
                </c:pt>
                <c:pt idx="93">
                  <c:v>150.0</c:v>
                </c:pt>
                <c:pt idx="94">
                  <c:v>150.0</c:v>
                </c:pt>
                <c:pt idx="95">
                  <c:v>196.0</c:v>
                </c:pt>
                <c:pt idx="96">
                  <c:v>196.0</c:v>
                </c:pt>
              </c:numCache>
            </c:numRef>
          </c:xVal>
          <c:yVal>
            <c:numRef>
              <c:f>Sheet1!$B$205:$B$301</c:f>
              <c:numCache>
                <c:formatCode>General</c:formatCode>
                <c:ptCount val="97"/>
                <c:pt idx="0">
                  <c:v>1.0</c:v>
                </c:pt>
                <c:pt idx="1">
                  <c:v>1.0</c:v>
                </c:pt>
                <c:pt idx="2">
                  <c:v>0.9857142857142857</c:v>
                </c:pt>
                <c:pt idx="3">
                  <c:v>0.9857142857142857</c:v>
                </c:pt>
                <c:pt idx="4">
                  <c:v>0.9714285714285713</c:v>
                </c:pt>
                <c:pt idx="5">
                  <c:v>0.9714285714285713</c:v>
                </c:pt>
                <c:pt idx="6">
                  <c:v>0.9571428571428565</c:v>
                </c:pt>
                <c:pt idx="7">
                  <c:v>0.9571428571428565</c:v>
                </c:pt>
                <c:pt idx="8">
                  <c:v>0.9285714285714279</c:v>
                </c:pt>
                <c:pt idx="9">
                  <c:v>0.9285714285714279</c:v>
                </c:pt>
                <c:pt idx="10">
                  <c:v>0.9142857142857136</c:v>
                </c:pt>
                <c:pt idx="11">
                  <c:v>0.9142857142857136</c:v>
                </c:pt>
                <c:pt idx="12">
                  <c:v>0.8285714285714281</c:v>
                </c:pt>
                <c:pt idx="13">
                  <c:v>0.8285714285714281</c:v>
                </c:pt>
                <c:pt idx="14">
                  <c:v>0.8</c:v>
                </c:pt>
                <c:pt idx="15">
                  <c:v>0.8</c:v>
                </c:pt>
                <c:pt idx="16">
                  <c:v>0.7857142857142856</c:v>
                </c:pt>
                <c:pt idx="17">
                  <c:v>0.7857142857142856</c:v>
                </c:pt>
                <c:pt idx="18">
                  <c:v>0.7714285714285712</c:v>
                </c:pt>
                <c:pt idx="19">
                  <c:v>0.7714285714285712</c:v>
                </c:pt>
                <c:pt idx="20">
                  <c:v>0.757142857142857</c:v>
                </c:pt>
                <c:pt idx="21">
                  <c:v>0.757142857142857</c:v>
                </c:pt>
                <c:pt idx="22">
                  <c:v>0.6999999999999996</c:v>
                </c:pt>
                <c:pt idx="23">
                  <c:v>0.6999999999999996</c:v>
                </c:pt>
                <c:pt idx="24">
                  <c:v>0.671428571428571</c:v>
                </c:pt>
                <c:pt idx="25">
                  <c:v>0.671428571428571</c:v>
                </c:pt>
                <c:pt idx="26">
                  <c:v>0.6571428571428569</c:v>
                </c:pt>
                <c:pt idx="27">
                  <c:v>0.6571428571428569</c:v>
                </c:pt>
                <c:pt idx="28">
                  <c:v>0.6428571428571426</c:v>
                </c:pt>
                <c:pt idx="29">
                  <c:v>0.6428571428571426</c:v>
                </c:pt>
                <c:pt idx="30">
                  <c:v>0.614285714285714</c:v>
                </c:pt>
                <c:pt idx="31">
                  <c:v>0.614285714285714</c:v>
                </c:pt>
                <c:pt idx="32">
                  <c:v>0.5857142857142856</c:v>
                </c:pt>
                <c:pt idx="33">
                  <c:v>0.5857142857142856</c:v>
                </c:pt>
                <c:pt idx="34">
                  <c:v>0.5714285714285712</c:v>
                </c:pt>
                <c:pt idx="35">
                  <c:v>0.5714285714285712</c:v>
                </c:pt>
                <c:pt idx="36">
                  <c:v>0.5428571428571426</c:v>
                </c:pt>
                <c:pt idx="37">
                  <c:v>0.5428571428571426</c:v>
                </c:pt>
                <c:pt idx="38">
                  <c:v>0.5285714285714284</c:v>
                </c:pt>
                <c:pt idx="39">
                  <c:v>0.5285714285714284</c:v>
                </c:pt>
                <c:pt idx="40">
                  <c:v>0.4857142857142856</c:v>
                </c:pt>
                <c:pt idx="41">
                  <c:v>0.4857142857142856</c:v>
                </c:pt>
                <c:pt idx="42">
                  <c:v>0.47142857142857125</c:v>
                </c:pt>
                <c:pt idx="43">
                  <c:v>0.47142857142857125</c:v>
                </c:pt>
                <c:pt idx="44">
                  <c:v>0.45714285714285696</c:v>
                </c:pt>
                <c:pt idx="45">
                  <c:v>0.45714285714285696</c:v>
                </c:pt>
                <c:pt idx="46">
                  <c:v>0.4428571428571427</c:v>
                </c:pt>
                <c:pt idx="47">
                  <c:v>0.4428571428571427</c:v>
                </c:pt>
                <c:pt idx="48">
                  <c:v>0.42857142857142844</c:v>
                </c:pt>
                <c:pt idx="49">
                  <c:v>0.42857142857142844</c:v>
                </c:pt>
                <c:pt idx="50">
                  <c:v>0.4142857142857142</c:v>
                </c:pt>
                <c:pt idx="51">
                  <c:v>0.4142857142857142</c:v>
                </c:pt>
                <c:pt idx="52">
                  <c:v>0.3999999999999998</c:v>
                </c:pt>
                <c:pt idx="53">
                  <c:v>0.3999999999999998</c:v>
                </c:pt>
                <c:pt idx="54">
                  <c:v>0.38571428571428557</c:v>
                </c:pt>
                <c:pt idx="55">
                  <c:v>0.38571428571428557</c:v>
                </c:pt>
                <c:pt idx="56">
                  <c:v>0.34285714285714275</c:v>
                </c:pt>
                <c:pt idx="57">
                  <c:v>0.34285714285714275</c:v>
                </c:pt>
                <c:pt idx="58">
                  <c:v>0.32857142857142846</c:v>
                </c:pt>
                <c:pt idx="59">
                  <c:v>0.32857142857142846</c:v>
                </c:pt>
                <c:pt idx="60">
                  <c:v>0.3142857142857142</c:v>
                </c:pt>
                <c:pt idx="61">
                  <c:v>0.3142857142857142</c:v>
                </c:pt>
                <c:pt idx="62">
                  <c:v>0.2857142857142856</c:v>
                </c:pt>
                <c:pt idx="63">
                  <c:v>0.2857142857142856</c:v>
                </c:pt>
                <c:pt idx="64">
                  <c:v>0.257142857142857</c:v>
                </c:pt>
                <c:pt idx="65">
                  <c:v>0.257142857142857</c:v>
                </c:pt>
                <c:pt idx="66">
                  <c:v>0.2428571428571428</c:v>
                </c:pt>
                <c:pt idx="67">
                  <c:v>0.2428571428571428</c:v>
                </c:pt>
                <c:pt idx="68">
                  <c:v>0.22857142857142845</c:v>
                </c:pt>
                <c:pt idx="69">
                  <c:v>0.22857142857142845</c:v>
                </c:pt>
                <c:pt idx="70">
                  <c:v>0.21428571428571422</c:v>
                </c:pt>
                <c:pt idx="71">
                  <c:v>0.21428571428571422</c:v>
                </c:pt>
                <c:pt idx="72">
                  <c:v>0.19999999999999987</c:v>
                </c:pt>
                <c:pt idx="73">
                  <c:v>0.19999999999999987</c:v>
                </c:pt>
                <c:pt idx="74">
                  <c:v>0.18571428571428564</c:v>
                </c:pt>
                <c:pt idx="75">
                  <c:v>0.18571428571428564</c:v>
                </c:pt>
                <c:pt idx="76">
                  <c:v>0.17142857142857137</c:v>
                </c:pt>
                <c:pt idx="77">
                  <c:v>0.17142857142857137</c:v>
                </c:pt>
                <c:pt idx="78">
                  <c:v>0.14285714285714285</c:v>
                </c:pt>
                <c:pt idx="79">
                  <c:v>0.14285714285714285</c:v>
                </c:pt>
                <c:pt idx="80">
                  <c:v>0.12857142857142856</c:v>
                </c:pt>
                <c:pt idx="81">
                  <c:v>0.12857142857142856</c:v>
                </c:pt>
                <c:pt idx="82">
                  <c:v>0.11428571428571423</c:v>
                </c:pt>
                <c:pt idx="83">
                  <c:v>0.11428571428571423</c:v>
                </c:pt>
                <c:pt idx="84">
                  <c:v>0.09999999999999998</c:v>
                </c:pt>
                <c:pt idx="85">
                  <c:v>0.09999999999999998</c:v>
                </c:pt>
                <c:pt idx="86">
                  <c:v>0.08571428571428572</c:v>
                </c:pt>
                <c:pt idx="87">
                  <c:v>0.08571428571428572</c:v>
                </c:pt>
                <c:pt idx="88">
                  <c:v>0.07142857142857141</c:v>
                </c:pt>
                <c:pt idx="89">
                  <c:v>0.07142857142857141</c:v>
                </c:pt>
                <c:pt idx="90">
                  <c:v>0.057142857142857134</c:v>
                </c:pt>
                <c:pt idx="91">
                  <c:v>0.057142857142857134</c:v>
                </c:pt>
                <c:pt idx="92">
                  <c:v>0.04285714285714286</c:v>
                </c:pt>
                <c:pt idx="93">
                  <c:v>0.04285714285714286</c:v>
                </c:pt>
                <c:pt idx="94">
                  <c:v>0.028571428571428564</c:v>
                </c:pt>
                <c:pt idx="95">
                  <c:v>0.028571428571428564</c:v>
                </c:pt>
                <c:pt idx="96">
                  <c:v>0.01428571428571428</c:v>
                </c:pt>
              </c:numCache>
            </c:numRef>
          </c:yVal>
          <c:smooth val="0"/>
        </c:ser>
        <c:ser>
          <c:idx val="2"/>
          <c:order val="2"/>
          <c:tx>
            <c:strRef>
              <c:f>Sheet1!$B$303</c:f>
              <c:strCache>
                <c:ptCount val="1"/>
                <c:pt idx="0">
                  <c:v>PS 3 (median 22 wk)</c:v>
                </c:pt>
              </c:strCache>
            </c:strRef>
          </c:tx>
          <c:spPr>
            <a:ln w="31750">
              <a:solidFill>
                <a:srgbClr val="104281"/>
              </a:solidFill>
            </a:ln>
          </c:spPr>
          <c:marker>
            <c:symbol val="none"/>
          </c:marker>
          <c:xVal>
            <c:numRef>
              <c:f>Sheet1!$A$304:$A$336</c:f>
              <c:numCache>
                <c:formatCode>General</c:formatCode>
                <c:ptCount val="33"/>
                <c:pt idx="0">
                  <c:v>0.0</c:v>
                </c:pt>
                <c:pt idx="1">
                  <c:v>3.0</c:v>
                </c:pt>
                <c:pt idx="2">
                  <c:v>3.0</c:v>
                </c:pt>
                <c:pt idx="3">
                  <c:v>6.0</c:v>
                </c:pt>
                <c:pt idx="4">
                  <c:v>6.0</c:v>
                </c:pt>
                <c:pt idx="5">
                  <c:v>8.0</c:v>
                </c:pt>
                <c:pt idx="6">
                  <c:v>8.0</c:v>
                </c:pt>
                <c:pt idx="7">
                  <c:v>12.0</c:v>
                </c:pt>
                <c:pt idx="8">
                  <c:v>12.0</c:v>
                </c:pt>
                <c:pt idx="9">
                  <c:v>16.0</c:v>
                </c:pt>
                <c:pt idx="10">
                  <c:v>16.0</c:v>
                </c:pt>
                <c:pt idx="11">
                  <c:v>18.0</c:v>
                </c:pt>
                <c:pt idx="12">
                  <c:v>18.0</c:v>
                </c:pt>
                <c:pt idx="13">
                  <c:v>19.0</c:v>
                </c:pt>
                <c:pt idx="14">
                  <c:v>19.0</c:v>
                </c:pt>
                <c:pt idx="15">
                  <c:v>22.0</c:v>
                </c:pt>
                <c:pt idx="16">
                  <c:v>22.0</c:v>
                </c:pt>
                <c:pt idx="17">
                  <c:v>34.0</c:v>
                </c:pt>
                <c:pt idx="18">
                  <c:v>34.0</c:v>
                </c:pt>
                <c:pt idx="19">
                  <c:v>37.0</c:v>
                </c:pt>
                <c:pt idx="20">
                  <c:v>37.0</c:v>
                </c:pt>
                <c:pt idx="21">
                  <c:v>47.0</c:v>
                </c:pt>
                <c:pt idx="22">
                  <c:v>47.0</c:v>
                </c:pt>
                <c:pt idx="23">
                  <c:v>52.0</c:v>
                </c:pt>
                <c:pt idx="24">
                  <c:v>52.0</c:v>
                </c:pt>
                <c:pt idx="25">
                  <c:v>55.0</c:v>
                </c:pt>
                <c:pt idx="26">
                  <c:v>55.0</c:v>
                </c:pt>
                <c:pt idx="27">
                  <c:v>57.0</c:v>
                </c:pt>
                <c:pt idx="28">
                  <c:v>57.0</c:v>
                </c:pt>
                <c:pt idx="29">
                  <c:v>66.0</c:v>
                </c:pt>
                <c:pt idx="30">
                  <c:v>66.0</c:v>
                </c:pt>
                <c:pt idx="31">
                  <c:v>121.0</c:v>
                </c:pt>
                <c:pt idx="32">
                  <c:v>121.0</c:v>
                </c:pt>
              </c:numCache>
            </c:numRef>
          </c:xVal>
          <c:yVal>
            <c:numRef>
              <c:f>Sheet1!$B$304:$B$336</c:f>
              <c:numCache>
                <c:formatCode>General</c:formatCode>
                <c:ptCount val="33"/>
                <c:pt idx="0">
                  <c:v>1.0</c:v>
                </c:pt>
                <c:pt idx="1">
                  <c:v>1.0</c:v>
                </c:pt>
                <c:pt idx="2">
                  <c:v>0.9375000000000001</c:v>
                </c:pt>
                <c:pt idx="3">
                  <c:v>0.9375000000000001</c:v>
                </c:pt>
                <c:pt idx="4">
                  <c:v>0.8749999999999999</c:v>
                </c:pt>
                <c:pt idx="5">
                  <c:v>0.8749999999999999</c:v>
                </c:pt>
                <c:pt idx="6">
                  <c:v>0.8125000000000001</c:v>
                </c:pt>
                <c:pt idx="7">
                  <c:v>0.8125000000000001</c:v>
                </c:pt>
                <c:pt idx="8">
                  <c:v>0.7500000000000001</c:v>
                </c:pt>
                <c:pt idx="9">
                  <c:v>0.7500000000000001</c:v>
                </c:pt>
                <c:pt idx="10">
                  <c:v>0.6875000000000001</c:v>
                </c:pt>
                <c:pt idx="11">
                  <c:v>0.6875000000000001</c:v>
                </c:pt>
                <c:pt idx="12">
                  <c:v>0.6250000000000002</c:v>
                </c:pt>
                <c:pt idx="13">
                  <c:v>0.6250000000000002</c:v>
                </c:pt>
                <c:pt idx="14">
                  <c:v>0.5625000000000001</c:v>
                </c:pt>
                <c:pt idx="15">
                  <c:v>0.5625000000000001</c:v>
                </c:pt>
                <c:pt idx="16">
                  <c:v>0.49999999999999994</c:v>
                </c:pt>
                <c:pt idx="17">
                  <c:v>0.49999999999999994</c:v>
                </c:pt>
                <c:pt idx="18">
                  <c:v>0.4375</c:v>
                </c:pt>
                <c:pt idx="19">
                  <c:v>0.4375</c:v>
                </c:pt>
                <c:pt idx="20">
                  <c:v>0.375</c:v>
                </c:pt>
                <c:pt idx="21">
                  <c:v>0.375</c:v>
                </c:pt>
                <c:pt idx="22">
                  <c:v>0.3125</c:v>
                </c:pt>
                <c:pt idx="23">
                  <c:v>0.3125</c:v>
                </c:pt>
                <c:pt idx="24">
                  <c:v>0.25</c:v>
                </c:pt>
                <c:pt idx="25">
                  <c:v>0.25</c:v>
                </c:pt>
                <c:pt idx="26">
                  <c:v>0.18750000000000003</c:v>
                </c:pt>
                <c:pt idx="27">
                  <c:v>0.18750000000000003</c:v>
                </c:pt>
                <c:pt idx="28">
                  <c:v>0.12500000000000003</c:v>
                </c:pt>
                <c:pt idx="29">
                  <c:v>0.12500000000000003</c:v>
                </c:pt>
                <c:pt idx="30">
                  <c:v>0.0625</c:v>
                </c:pt>
                <c:pt idx="31">
                  <c:v>0.0625</c:v>
                </c:pt>
                <c:pt idx="32">
                  <c:v>0.0</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legend>
      <c:legendPos val="t"/>
      <c:layout/>
      <c:overlay val="0"/>
      <c:txPr>
        <a:bodyPr/>
        <a:lstStyle/>
        <a:p>
          <a:pPr>
            <a:defRPr sz="1300">
              <a:solidFill>
                <a:srgbClr val="17203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&lt;60 (median 61 wk)</c:v>
                </c:pt>
              </c:strCache>
            </c:strRef>
          </c:tx>
          <c:spPr>
            <a:ln w="31750">
              <a:solidFill>
                <a:srgbClr val="9EC5F4"/>
              </a:solidFill>
            </a:ln>
          </c:spPr>
          <c:marker>
            <c:symbol val="none"/>
          </c:marker>
          <c:xVal>
            <c:numRef>
              <c:f>Sheet1!$A$2:$A$82</c:f>
              <c:numCache>
                <c:formatCode>General</c:formatCode>
                <c:ptCount val="81"/>
                <c:pt idx="0">
                  <c:v>0.0</c:v>
                </c:pt>
                <c:pt idx="1">
                  <c:v>3.0</c:v>
                </c:pt>
                <c:pt idx="2">
                  <c:v>3.0</c:v>
                </c:pt>
                <c:pt idx="3">
                  <c:v>8.0</c:v>
                </c:pt>
                <c:pt idx="4">
                  <c:v>8.0</c:v>
                </c:pt>
                <c:pt idx="5">
                  <c:v>9.0</c:v>
                </c:pt>
                <c:pt idx="6">
                  <c:v>9.0</c:v>
                </c:pt>
                <c:pt idx="7">
                  <c:v>16.0</c:v>
                </c:pt>
                <c:pt idx="8">
                  <c:v>16.0</c:v>
                </c:pt>
                <c:pt idx="9">
                  <c:v>21.0</c:v>
                </c:pt>
                <c:pt idx="10">
                  <c:v>21.0</c:v>
                </c:pt>
                <c:pt idx="11">
                  <c:v>25.0</c:v>
                </c:pt>
                <c:pt idx="12">
                  <c:v>25.0</c:v>
                </c:pt>
                <c:pt idx="13">
                  <c:v>29.0</c:v>
                </c:pt>
                <c:pt idx="14">
                  <c:v>29.0</c:v>
                </c:pt>
                <c:pt idx="15">
                  <c:v>34.0</c:v>
                </c:pt>
                <c:pt idx="16">
                  <c:v>34.0</c:v>
                </c:pt>
                <c:pt idx="17">
                  <c:v>36.0</c:v>
                </c:pt>
                <c:pt idx="18">
                  <c:v>36.0</c:v>
                </c:pt>
                <c:pt idx="19">
                  <c:v>40.0</c:v>
                </c:pt>
                <c:pt idx="20">
                  <c:v>40.0</c:v>
                </c:pt>
                <c:pt idx="21">
                  <c:v>41.0</c:v>
                </c:pt>
                <c:pt idx="22">
                  <c:v>41.0</c:v>
                </c:pt>
                <c:pt idx="23">
                  <c:v>47.0</c:v>
                </c:pt>
                <c:pt idx="24">
                  <c:v>47.0</c:v>
                </c:pt>
                <c:pt idx="25">
                  <c:v>49.0</c:v>
                </c:pt>
                <c:pt idx="26">
                  <c:v>49.0</c:v>
                </c:pt>
                <c:pt idx="27">
                  <c:v>52.0</c:v>
                </c:pt>
                <c:pt idx="28">
                  <c:v>52.0</c:v>
                </c:pt>
                <c:pt idx="29">
                  <c:v>53.0</c:v>
                </c:pt>
                <c:pt idx="30">
                  <c:v>53.0</c:v>
                </c:pt>
                <c:pt idx="31">
                  <c:v>54.0</c:v>
                </c:pt>
                <c:pt idx="32">
                  <c:v>54.0</c:v>
                </c:pt>
                <c:pt idx="33">
                  <c:v>56.0</c:v>
                </c:pt>
                <c:pt idx="34">
                  <c:v>56.0</c:v>
                </c:pt>
                <c:pt idx="35">
                  <c:v>57.0</c:v>
                </c:pt>
                <c:pt idx="36">
                  <c:v>57.0</c:v>
                </c:pt>
                <c:pt idx="37">
                  <c:v>60.0</c:v>
                </c:pt>
                <c:pt idx="38">
                  <c:v>60.0</c:v>
                </c:pt>
                <c:pt idx="39">
                  <c:v>61.0</c:v>
                </c:pt>
                <c:pt idx="40">
                  <c:v>61.0</c:v>
                </c:pt>
                <c:pt idx="41">
                  <c:v>64.0</c:v>
                </c:pt>
                <c:pt idx="42">
                  <c:v>64.0</c:v>
                </c:pt>
                <c:pt idx="43">
                  <c:v>65.0</c:v>
                </c:pt>
                <c:pt idx="44">
                  <c:v>65.0</c:v>
                </c:pt>
                <c:pt idx="45">
                  <c:v>70.0</c:v>
                </c:pt>
                <c:pt idx="46">
                  <c:v>70.0</c:v>
                </c:pt>
                <c:pt idx="47">
                  <c:v>72.0</c:v>
                </c:pt>
                <c:pt idx="48">
                  <c:v>72.0</c:v>
                </c:pt>
                <c:pt idx="49">
                  <c:v>73.0</c:v>
                </c:pt>
                <c:pt idx="50">
                  <c:v>73.0</c:v>
                </c:pt>
                <c:pt idx="51">
                  <c:v>78.0</c:v>
                </c:pt>
                <c:pt idx="52">
                  <c:v>78.0</c:v>
                </c:pt>
                <c:pt idx="53">
                  <c:v>79.0</c:v>
                </c:pt>
                <c:pt idx="54">
                  <c:v>79.0</c:v>
                </c:pt>
                <c:pt idx="55">
                  <c:v>81.0</c:v>
                </c:pt>
                <c:pt idx="56">
                  <c:v>81.0</c:v>
                </c:pt>
                <c:pt idx="57">
                  <c:v>87.0</c:v>
                </c:pt>
                <c:pt idx="58">
                  <c:v>87.0</c:v>
                </c:pt>
                <c:pt idx="59">
                  <c:v>90.0</c:v>
                </c:pt>
                <c:pt idx="60">
                  <c:v>90.0</c:v>
                </c:pt>
                <c:pt idx="61">
                  <c:v>94.0</c:v>
                </c:pt>
                <c:pt idx="62">
                  <c:v>94.0</c:v>
                </c:pt>
                <c:pt idx="63">
                  <c:v>95.0</c:v>
                </c:pt>
                <c:pt idx="64">
                  <c:v>95.0</c:v>
                </c:pt>
                <c:pt idx="65">
                  <c:v>97.0</c:v>
                </c:pt>
                <c:pt idx="66">
                  <c:v>97.0</c:v>
                </c:pt>
                <c:pt idx="67">
                  <c:v>100.0</c:v>
                </c:pt>
                <c:pt idx="68">
                  <c:v>100.0</c:v>
                </c:pt>
                <c:pt idx="69">
                  <c:v>102.0</c:v>
                </c:pt>
                <c:pt idx="70">
                  <c:v>102.0</c:v>
                </c:pt>
                <c:pt idx="71">
                  <c:v>111.0</c:v>
                </c:pt>
                <c:pt idx="72">
                  <c:v>111.0</c:v>
                </c:pt>
                <c:pt idx="73">
                  <c:v>114.0</c:v>
                </c:pt>
                <c:pt idx="74">
                  <c:v>114.0</c:v>
                </c:pt>
                <c:pt idx="75">
                  <c:v>120.0</c:v>
                </c:pt>
                <c:pt idx="76">
                  <c:v>120.0</c:v>
                </c:pt>
                <c:pt idx="77">
                  <c:v>129.0</c:v>
                </c:pt>
                <c:pt idx="78">
                  <c:v>129.0</c:v>
                </c:pt>
                <c:pt idx="79">
                  <c:v>196.0</c:v>
                </c:pt>
                <c:pt idx="80">
                  <c:v>196.0</c:v>
                </c:pt>
              </c:numCache>
            </c:numRef>
          </c:xVal>
          <c:yVal>
            <c:numRef>
              <c:f>Sheet1!$B$2:$B$82</c:f>
              <c:numCache>
                <c:formatCode>General</c:formatCode>
                <c:ptCount val="81"/>
                <c:pt idx="0">
                  <c:v>1.0</c:v>
                </c:pt>
                <c:pt idx="1">
                  <c:v>1.0</c:v>
                </c:pt>
                <c:pt idx="2">
                  <c:v>0.9583333333333331</c:v>
                </c:pt>
                <c:pt idx="3">
                  <c:v>0.9583333333333331</c:v>
                </c:pt>
                <c:pt idx="4">
                  <c:v>0.9374999999999997</c:v>
                </c:pt>
                <c:pt idx="5">
                  <c:v>0.9374999999999997</c:v>
                </c:pt>
                <c:pt idx="6">
                  <c:v>0.9166666666666663</c:v>
                </c:pt>
                <c:pt idx="7">
                  <c:v>0.9166666666666663</c:v>
                </c:pt>
                <c:pt idx="8">
                  <c:v>0.8958333333333331</c:v>
                </c:pt>
                <c:pt idx="9">
                  <c:v>0.8958333333333331</c:v>
                </c:pt>
                <c:pt idx="10">
                  <c:v>0.8541666666666666</c:v>
                </c:pt>
                <c:pt idx="11">
                  <c:v>0.8541666666666666</c:v>
                </c:pt>
                <c:pt idx="12">
                  <c:v>0.8333333333333331</c:v>
                </c:pt>
                <c:pt idx="13">
                  <c:v>0.8333333333333331</c:v>
                </c:pt>
                <c:pt idx="14">
                  <c:v>0.8124999999999997</c:v>
                </c:pt>
                <c:pt idx="15">
                  <c:v>0.8124999999999997</c:v>
                </c:pt>
                <c:pt idx="16">
                  <c:v>0.7916666666666664</c:v>
                </c:pt>
                <c:pt idx="17">
                  <c:v>0.7916666666666664</c:v>
                </c:pt>
                <c:pt idx="18">
                  <c:v>0.770833333333333</c:v>
                </c:pt>
                <c:pt idx="19">
                  <c:v>0.770833333333333</c:v>
                </c:pt>
                <c:pt idx="20">
                  <c:v>0.7499999999999998</c:v>
                </c:pt>
                <c:pt idx="21">
                  <c:v>0.7499999999999998</c:v>
                </c:pt>
                <c:pt idx="22">
                  <c:v>0.7291666666666664</c:v>
                </c:pt>
                <c:pt idx="23">
                  <c:v>0.7291666666666664</c:v>
                </c:pt>
                <c:pt idx="24">
                  <c:v>0.7083333333333333</c:v>
                </c:pt>
                <c:pt idx="25">
                  <c:v>0.7083333333333333</c:v>
                </c:pt>
                <c:pt idx="26">
                  <c:v>0.6874999999999999</c:v>
                </c:pt>
                <c:pt idx="27">
                  <c:v>0.6874999999999999</c:v>
                </c:pt>
                <c:pt idx="28">
                  <c:v>0.6666666666666665</c:v>
                </c:pt>
                <c:pt idx="29">
                  <c:v>0.6666666666666665</c:v>
                </c:pt>
                <c:pt idx="30">
                  <c:v>0.6458333333333333</c:v>
                </c:pt>
                <c:pt idx="31">
                  <c:v>0.6458333333333333</c:v>
                </c:pt>
                <c:pt idx="32">
                  <c:v>0.6249999999999999</c:v>
                </c:pt>
                <c:pt idx="33">
                  <c:v>0.6249999999999999</c:v>
                </c:pt>
                <c:pt idx="34">
                  <c:v>0.5833333333333331</c:v>
                </c:pt>
                <c:pt idx="35">
                  <c:v>0.5833333333333331</c:v>
                </c:pt>
                <c:pt idx="36">
                  <c:v>0.5416666666666666</c:v>
                </c:pt>
                <c:pt idx="37">
                  <c:v>0.5416666666666666</c:v>
                </c:pt>
                <c:pt idx="38">
                  <c:v>0.5208333333333331</c:v>
                </c:pt>
                <c:pt idx="39">
                  <c:v>0.5208333333333331</c:v>
                </c:pt>
                <c:pt idx="40">
                  <c:v>0.49999999999999994</c:v>
                </c:pt>
                <c:pt idx="41">
                  <c:v>0.49999999999999994</c:v>
                </c:pt>
                <c:pt idx="42">
                  <c:v>0.4791666666666666</c:v>
                </c:pt>
                <c:pt idx="43">
                  <c:v>0.4791666666666666</c:v>
                </c:pt>
                <c:pt idx="44">
                  <c:v>0.4583333333333333</c:v>
                </c:pt>
                <c:pt idx="45">
                  <c:v>0.4583333333333333</c:v>
                </c:pt>
                <c:pt idx="46">
                  <c:v>0.4374999999999999</c:v>
                </c:pt>
                <c:pt idx="47">
                  <c:v>0.4374999999999999</c:v>
                </c:pt>
                <c:pt idx="48">
                  <c:v>0.4166666666666665</c:v>
                </c:pt>
                <c:pt idx="49">
                  <c:v>0.4166666666666665</c:v>
                </c:pt>
                <c:pt idx="50">
                  <c:v>0.39583333333333315</c:v>
                </c:pt>
                <c:pt idx="51">
                  <c:v>0.39583333333333315</c:v>
                </c:pt>
                <c:pt idx="52">
                  <c:v>0.35416666666666663</c:v>
                </c:pt>
                <c:pt idx="53">
                  <c:v>0.35416666666666663</c:v>
                </c:pt>
                <c:pt idx="54">
                  <c:v>0.31249999999999994</c:v>
                </c:pt>
                <c:pt idx="55">
                  <c:v>0.31249999999999994</c:v>
                </c:pt>
                <c:pt idx="56">
                  <c:v>0.2916666666666665</c:v>
                </c:pt>
                <c:pt idx="57">
                  <c:v>0.2916666666666665</c:v>
                </c:pt>
                <c:pt idx="58">
                  <c:v>0.27083333333333326</c:v>
                </c:pt>
                <c:pt idx="59">
                  <c:v>0.27083333333333326</c:v>
                </c:pt>
                <c:pt idx="60">
                  <c:v>0.24999999999999994</c:v>
                </c:pt>
                <c:pt idx="61">
                  <c:v>0.24999999999999994</c:v>
                </c:pt>
                <c:pt idx="62">
                  <c:v>0.22916666666666666</c:v>
                </c:pt>
                <c:pt idx="63">
                  <c:v>0.22916666666666666</c:v>
                </c:pt>
                <c:pt idx="64">
                  <c:v>0.20833333333333334</c:v>
                </c:pt>
                <c:pt idx="65">
                  <c:v>0.20833333333333334</c:v>
                </c:pt>
                <c:pt idx="66">
                  <c:v>0.1875</c:v>
                </c:pt>
                <c:pt idx="67">
                  <c:v>0.1875</c:v>
                </c:pt>
                <c:pt idx="68">
                  <c:v>0.1666666666666666</c:v>
                </c:pt>
                <c:pt idx="69">
                  <c:v>0.1666666666666666</c:v>
                </c:pt>
                <c:pt idx="70">
                  <c:v>0.1458333333333333</c:v>
                </c:pt>
                <c:pt idx="71">
                  <c:v>0.1458333333333333</c:v>
                </c:pt>
                <c:pt idx="72">
                  <c:v>0.12499999999999997</c:v>
                </c:pt>
                <c:pt idx="73">
                  <c:v>0.12499999999999997</c:v>
                </c:pt>
                <c:pt idx="74">
                  <c:v>0.10416666666666662</c:v>
                </c:pt>
                <c:pt idx="75">
                  <c:v>0.10416666666666662</c:v>
                </c:pt>
                <c:pt idx="76">
                  <c:v>0.08333333333333329</c:v>
                </c:pt>
                <c:pt idx="77">
                  <c:v>0.08333333333333329</c:v>
                </c:pt>
                <c:pt idx="78">
                  <c:v>0.06249999999999998</c:v>
                </c:pt>
                <c:pt idx="79">
                  <c:v>0.06249999999999998</c:v>
                </c:pt>
                <c:pt idx="80">
                  <c:v>0.041666666666666644</c:v>
                </c:pt>
              </c:numCache>
            </c:numRef>
          </c:yVal>
          <c:smooth val="0"/>
        </c:ser>
        <c:ser>
          <c:idx val="1"/>
          <c:order val="1"/>
          <c:tx>
            <c:strRef>
              <c:f>Sheet1!$B$84</c:f>
              <c:strCache>
                <c:ptCount val="1"/>
                <c:pt idx="0">
                  <c:v>60–69 (median 61 wk)</c:v>
                </c:pt>
              </c:strCache>
            </c:strRef>
          </c:tx>
          <c:spPr>
            <a:ln w="31750">
              <a:solidFill>
                <a:srgbClr val="6DA7EC"/>
              </a:solidFill>
            </a:ln>
          </c:spPr>
          <c:marker>
            <c:symbol val="none"/>
          </c:marker>
          <c:xVal>
            <c:numRef>
              <c:f>Sheet1!$A$85:$A$199</c:f>
              <c:numCache>
                <c:formatCode>General</c:formatCode>
                <c:ptCount val="115"/>
                <c:pt idx="0">
                  <c:v>0.0</c:v>
                </c:pt>
                <c:pt idx="1">
                  <c:v>13.0</c:v>
                </c:pt>
                <c:pt idx="2">
                  <c:v>13.0</c:v>
                </c:pt>
                <c:pt idx="3">
                  <c:v>16.0</c:v>
                </c:pt>
                <c:pt idx="4">
                  <c:v>16.0</c:v>
                </c:pt>
                <c:pt idx="5">
                  <c:v>17.0</c:v>
                </c:pt>
                <c:pt idx="6">
                  <c:v>17.0</c:v>
                </c:pt>
                <c:pt idx="7">
                  <c:v>18.0</c:v>
                </c:pt>
                <c:pt idx="8">
                  <c:v>18.0</c:v>
                </c:pt>
                <c:pt idx="9">
                  <c:v>19.0</c:v>
                </c:pt>
                <c:pt idx="10">
                  <c:v>19.0</c:v>
                </c:pt>
                <c:pt idx="11">
                  <c:v>22.0</c:v>
                </c:pt>
                <c:pt idx="12">
                  <c:v>22.0</c:v>
                </c:pt>
                <c:pt idx="13">
                  <c:v>23.0</c:v>
                </c:pt>
                <c:pt idx="14">
                  <c:v>23.0</c:v>
                </c:pt>
                <c:pt idx="15">
                  <c:v>25.0</c:v>
                </c:pt>
                <c:pt idx="16">
                  <c:v>25.0</c:v>
                </c:pt>
                <c:pt idx="17">
                  <c:v>26.0</c:v>
                </c:pt>
                <c:pt idx="18">
                  <c:v>26.0</c:v>
                </c:pt>
                <c:pt idx="19">
                  <c:v>28.0</c:v>
                </c:pt>
                <c:pt idx="20">
                  <c:v>28.0</c:v>
                </c:pt>
                <c:pt idx="21">
                  <c:v>30.0</c:v>
                </c:pt>
                <c:pt idx="22">
                  <c:v>30.0</c:v>
                </c:pt>
                <c:pt idx="23">
                  <c:v>32.0</c:v>
                </c:pt>
                <c:pt idx="24">
                  <c:v>32.0</c:v>
                </c:pt>
                <c:pt idx="25">
                  <c:v>34.0</c:v>
                </c:pt>
                <c:pt idx="26">
                  <c:v>34.0</c:v>
                </c:pt>
                <c:pt idx="27">
                  <c:v>35.0</c:v>
                </c:pt>
                <c:pt idx="28">
                  <c:v>35.0</c:v>
                </c:pt>
                <c:pt idx="29">
                  <c:v>42.0</c:v>
                </c:pt>
                <c:pt idx="30">
                  <c:v>42.0</c:v>
                </c:pt>
                <c:pt idx="31">
                  <c:v>44.0</c:v>
                </c:pt>
                <c:pt idx="32">
                  <c:v>44.0</c:v>
                </c:pt>
                <c:pt idx="33">
                  <c:v>45.0</c:v>
                </c:pt>
                <c:pt idx="34">
                  <c:v>45.0</c:v>
                </c:pt>
                <c:pt idx="35">
                  <c:v>46.0</c:v>
                </c:pt>
                <c:pt idx="36">
                  <c:v>46.0</c:v>
                </c:pt>
                <c:pt idx="37">
                  <c:v>47.0</c:v>
                </c:pt>
                <c:pt idx="38">
                  <c:v>47.0</c:v>
                </c:pt>
                <c:pt idx="39">
                  <c:v>50.0</c:v>
                </c:pt>
                <c:pt idx="40">
                  <c:v>50.0</c:v>
                </c:pt>
                <c:pt idx="41">
                  <c:v>51.0</c:v>
                </c:pt>
                <c:pt idx="42">
                  <c:v>51.0</c:v>
                </c:pt>
                <c:pt idx="43">
                  <c:v>53.0</c:v>
                </c:pt>
                <c:pt idx="44">
                  <c:v>53.0</c:v>
                </c:pt>
                <c:pt idx="45">
                  <c:v>54.0</c:v>
                </c:pt>
                <c:pt idx="46">
                  <c:v>54.0</c:v>
                </c:pt>
                <c:pt idx="47">
                  <c:v>55.0</c:v>
                </c:pt>
                <c:pt idx="48">
                  <c:v>55.0</c:v>
                </c:pt>
                <c:pt idx="49">
                  <c:v>56.0</c:v>
                </c:pt>
                <c:pt idx="50">
                  <c:v>56.0</c:v>
                </c:pt>
                <c:pt idx="51">
                  <c:v>57.0</c:v>
                </c:pt>
                <c:pt idx="52">
                  <c:v>57.0</c:v>
                </c:pt>
                <c:pt idx="53">
                  <c:v>58.0</c:v>
                </c:pt>
                <c:pt idx="54">
                  <c:v>58.0</c:v>
                </c:pt>
                <c:pt idx="55">
                  <c:v>61.0</c:v>
                </c:pt>
                <c:pt idx="56">
                  <c:v>61.0</c:v>
                </c:pt>
                <c:pt idx="57">
                  <c:v>63.0</c:v>
                </c:pt>
                <c:pt idx="58">
                  <c:v>63.0</c:v>
                </c:pt>
                <c:pt idx="59">
                  <c:v>64.0</c:v>
                </c:pt>
                <c:pt idx="60">
                  <c:v>64.0</c:v>
                </c:pt>
                <c:pt idx="61">
                  <c:v>66.0</c:v>
                </c:pt>
                <c:pt idx="62">
                  <c:v>66.0</c:v>
                </c:pt>
                <c:pt idx="63">
                  <c:v>67.0</c:v>
                </c:pt>
                <c:pt idx="64">
                  <c:v>67.0</c:v>
                </c:pt>
                <c:pt idx="65">
                  <c:v>69.0</c:v>
                </c:pt>
                <c:pt idx="66">
                  <c:v>69.0</c:v>
                </c:pt>
                <c:pt idx="67">
                  <c:v>70.0</c:v>
                </c:pt>
                <c:pt idx="68">
                  <c:v>70.0</c:v>
                </c:pt>
                <c:pt idx="69">
                  <c:v>71.0</c:v>
                </c:pt>
                <c:pt idx="70">
                  <c:v>71.0</c:v>
                </c:pt>
                <c:pt idx="71">
                  <c:v>74.0</c:v>
                </c:pt>
                <c:pt idx="72">
                  <c:v>74.0</c:v>
                </c:pt>
                <c:pt idx="73">
                  <c:v>76.0</c:v>
                </c:pt>
                <c:pt idx="74">
                  <c:v>76.0</c:v>
                </c:pt>
                <c:pt idx="75">
                  <c:v>77.0</c:v>
                </c:pt>
                <c:pt idx="76">
                  <c:v>77.0</c:v>
                </c:pt>
                <c:pt idx="77">
                  <c:v>78.0</c:v>
                </c:pt>
                <c:pt idx="78">
                  <c:v>78.0</c:v>
                </c:pt>
                <c:pt idx="79">
                  <c:v>81.0</c:v>
                </c:pt>
                <c:pt idx="80">
                  <c:v>81.0</c:v>
                </c:pt>
                <c:pt idx="81">
                  <c:v>93.0</c:v>
                </c:pt>
                <c:pt idx="82">
                  <c:v>93.0</c:v>
                </c:pt>
                <c:pt idx="83">
                  <c:v>95.0</c:v>
                </c:pt>
                <c:pt idx="84">
                  <c:v>95.0</c:v>
                </c:pt>
                <c:pt idx="85">
                  <c:v>98.0</c:v>
                </c:pt>
                <c:pt idx="86">
                  <c:v>98.0</c:v>
                </c:pt>
                <c:pt idx="87">
                  <c:v>108.0</c:v>
                </c:pt>
                <c:pt idx="88">
                  <c:v>108.0</c:v>
                </c:pt>
                <c:pt idx="89">
                  <c:v>110.0</c:v>
                </c:pt>
                <c:pt idx="90">
                  <c:v>110.0</c:v>
                </c:pt>
                <c:pt idx="91">
                  <c:v>114.0</c:v>
                </c:pt>
                <c:pt idx="92">
                  <c:v>114.0</c:v>
                </c:pt>
                <c:pt idx="93">
                  <c:v>118.0</c:v>
                </c:pt>
                <c:pt idx="94">
                  <c:v>118.0</c:v>
                </c:pt>
                <c:pt idx="95">
                  <c:v>121.0</c:v>
                </c:pt>
                <c:pt idx="96">
                  <c:v>121.0</c:v>
                </c:pt>
                <c:pt idx="97">
                  <c:v>127.0</c:v>
                </c:pt>
                <c:pt idx="98">
                  <c:v>127.0</c:v>
                </c:pt>
                <c:pt idx="99">
                  <c:v>130.0</c:v>
                </c:pt>
                <c:pt idx="100">
                  <c:v>130.0</c:v>
                </c:pt>
                <c:pt idx="101">
                  <c:v>137.0</c:v>
                </c:pt>
                <c:pt idx="102">
                  <c:v>137.0</c:v>
                </c:pt>
                <c:pt idx="103">
                  <c:v>139.0</c:v>
                </c:pt>
                <c:pt idx="104">
                  <c:v>139.0</c:v>
                </c:pt>
                <c:pt idx="105">
                  <c:v>140.0</c:v>
                </c:pt>
                <c:pt idx="106">
                  <c:v>140.0</c:v>
                </c:pt>
                <c:pt idx="107">
                  <c:v>155.0</c:v>
                </c:pt>
                <c:pt idx="108">
                  <c:v>155.0</c:v>
                </c:pt>
                <c:pt idx="109">
                  <c:v>158.0</c:v>
                </c:pt>
                <c:pt idx="110">
                  <c:v>158.0</c:v>
                </c:pt>
                <c:pt idx="111">
                  <c:v>170.0</c:v>
                </c:pt>
                <c:pt idx="112">
                  <c:v>170.0</c:v>
                </c:pt>
                <c:pt idx="113">
                  <c:v>191.0</c:v>
                </c:pt>
                <c:pt idx="114">
                  <c:v>191.0</c:v>
                </c:pt>
              </c:numCache>
            </c:numRef>
          </c:xVal>
          <c:yVal>
            <c:numRef>
              <c:f>Sheet1!$B$85:$B$199</c:f>
              <c:numCache>
                <c:formatCode>General</c:formatCode>
                <c:ptCount val="115"/>
                <c:pt idx="0">
                  <c:v>1.0</c:v>
                </c:pt>
                <c:pt idx="1">
                  <c:v>1.0</c:v>
                </c:pt>
                <c:pt idx="2">
                  <c:v>0.9863013698630139</c:v>
                </c:pt>
                <c:pt idx="3">
                  <c:v>0.9863013698630139</c:v>
                </c:pt>
                <c:pt idx="4">
                  <c:v>0.9589041095890416</c:v>
                </c:pt>
                <c:pt idx="5">
                  <c:v>0.9589041095890416</c:v>
                </c:pt>
                <c:pt idx="6">
                  <c:v>0.9315068493150689</c:v>
                </c:pt>
                <c:pt idx="7">
                  <c:v>0.9315068493150689</c:v>
                </c:pt>
                <c:pt idx="8">
                  <c:v>0.9178082191780821</c:v>
                </c:pt>
                <c:pt idx="9">
                  <c:v>0.9178082191780821</c:v>
                </c:pt>
                <c:pt idx="10">
                  <c:v>0.9041095890410957</c:v>
                </c:pt>
                <c:pt idx="11">
                  <c:v>0.9041095890410957</c:v>
                </c:pt>
                <c:pt idx="12">
                  <c:v>0.8904109589041095</c:v>
                </c:pt>
                <c:pt idx="13">
                  <c:v>0.8904109589041095</c:v>
                </c:pt>
                <c:pt idx="14">
                  <c:v>0.8767123287671231</c:v>
                </c:pt>
                <c:pt idx="15">
                  <c:v>0.8767123287671231</c:v>
                </c:pt>
                <c:pt idx="16">
                  <c:v>0.849315068493151</c:v>
                </c:pt>
                <c:pt idx="17">
                  <c:v>0.849315068493151</c:v>
                </c:pt>
                <c:pt idx="18">
                  <c:v>0.8356164383561646</c:v>
                </c:pt>
                <c:pt idx="19">
                  <c:v>0.8356164383561646</c:v>
                </c:pt>
                <c:pt idx="20">
                  <c:v>0.821917808219178</c:v>
                </c:pt>
                <c:pt idx="21">
                  <c:v>0.821917808219178</c:v>
                </c:pt>
                <c:pt idx="22">
                  <c:v>0.8082191780821921</c:v>
                </c:pt>
                <c:pt idx="23">
                  <c:v>0.8082191780821921</c:v>
                </c:pt>
                <c:pt idx="24">
                  <c:v>0.7945205479452054</c:v>
                </c:pt>
                <c:pt idx="25">
                  <c:v>0.7945205479452054</c:v>
                </c:pt>
                <c:pt idx="26">
                  <c:v>0.7671232876712333</c:v>
                </c:pt>
                <c:pt idx="27">
                  <c:v>0.7671232876712333</c:v>
                </c:pt>
                <c:pt idx="28">
                  <c:v>0.7534246575342469</c:v>
                </c:pt>
                <c:pt idx="29">
                  <c:v>0.7534246575342469</c:v>
                </c:pt>
                <c:pt idx="30">
                  <c:v>0.7397260273972605</c:v>
                </c:pt>
                <c:pt idx="31">
                  <c:v>0.7397260273972605</c:v>
                </c:pt>
                <c:pt idx="32">
                  <c:v>0.7260273972602742</c:v>
                </c:pt>
                <c:pt idx="33">
                  <c:v>0.7260273972602742</c:v>
                </c:pt>
                <c:pt idx="34">
                  <c:v>0.6986301369863015</c:v>
                </c:pt>
                <c:pt idx="35">
                  <c:v>0.6986301369863015</c:v>
                </c:pt>
                <c:pt idx="36">
                  <c:v>0.6849315068493151</c:v>
                </c:pt>
                <c:pt idx="37">
                  <c:v>0.6849315068493151</c:v>
                </c:pt>
                <c:pt idx="38">
                  <c:v>0.6712328767123288</c:v>
                </c:pt>
                <c:pt idx="39">
                  <c:v>0.6712328767123288</c:v>
                </c:pt>
                <c:pt idx="40">
                  <c:v>0.6438356164383562</c:v>
                </c:pt>
                <c:pt idx="41">
                  <c:v>0.6438356164383562</c:v>
                </c:pt>
                <c:pt idx="42">
                  <c:v>0.63013698630137</c:v>
                </c:pt>
                <c:pt idx="43">
                  <c:v>0.63013698630137</c:v>
                </c:pt>
                <c:pt idx="44">
                  <c:v>0.6164383561643836</c:v>
                </c:pt>
                <c:pt idx="45">
                  <c:v>0.6164383561643836</c:v>
                </c:pt>
                <c:pt idx="46">
                  <c:v>0.5890410958904111</c:v>
                </c:pt>
                <c:pt idx="47">
                  <c:v>0.5890410958904111</c:v>
                </c:pt>
                <c:pt idx="48">
                  <c:v>0.5616438356164385</c:v>
                </c:pt>
                <c:pt idx="49">
                  <c:v>0.5616438356164385</c:v>
                </c:pt>
                <c:pt idx="50">
                  <c:v>0.5479452054794521</c:v>
                </c:pt>
                <c:pt idx="51">
                  <c:v>0.5479452054794521</c:v>
                </c:pt>
                <c:pt idx="52">
                  <c:v>0.5342465753424658</c:v>
                </c:pt>
                <c:pt idx="53">
                  <c:v>0.5342465753424658</c:v>
                </c:pt>
                <c:pt idx="54">
                  <c:v>0.5068493150684932</c:v>
                </c:pt>
                <c:pt idx="55">
                  <c:v>0.5068493150684932</c:v>
                </c:pt>
                <c:pt idx="56">
                  <c:v>0.4931506849315069</c:v>
                </c:pt>
                <c:pt idx="57">
                  <c:v>0.4931506849315069</c:v>
                </c:pt>
                <c:pt idx="58">
                  <c:v>0.4794520547945206</c:v>
                </c:pt>
                <c:pt idx="59">
                  <c:v>0.4794520547945206</c:v>
                </c:pt>
                <c:pt idx="60">
                  <c:v>0.4657534246575344</c:v>
                </c:pt>
                <c:pt idx="61">
                  <c:v>0.4657534246575344</c:v>
                </c:pt>
                <c:pt idx="62">
                  <c:v>0.45205479452054803</c:v>
                </c:pt>
                <c:pt idx="63">
                  <c:v>0.45205479452054803</c:v>
                </c:pt>
                <c:pt idx="64">
                  <c:v>0.43835616438356173</c:v>
                </c:pt>
                <c:pt idx="65">
                  <c:v>0.43835616438356173</c:v>
                </c:pt>
                <c:pt idx="66">
                  <c:v>0.41095890410958913</c:v>
                </c:pt>
                <c:pt idx="67">
                  <c:v>0.41095890410958913</c:v>
                </c:pt>
                <c:pt idx="68">
                  <c:v>0.3835616438356165</c:v>
                </c:pt>
                <c:pt idx="69">
                  <c:v>0.3835616438356165</c:v>
                </c:pt>
                <c:pt idx="70">
                  <c:v>0.3561643835616439</c:v>
                </c:pt>
                <c:pt idx="71">
                  <c:v>0.3561643835616439</c:v>
                </c:pt>
                <c:pt idx="72">
                  <c:v>0.3424657534246575</c:v>
                </c:pt>
                <c:pt idx="73">
                  <c:v>0.3424657534246575</c:v>
                </c:pt>
                <c:pt idx="74">
                  <c:v>0.3287671232876713</c:v>
                </c:pt>
                <c:pt idx="75">
                  <c:v>0.3287671232876713</c:v>
                </c:pt>
                <c:pt idx="76">
                  <c:v>0.3013698630136987</c:v>
                </c:pt>
                <c:pt idx="77">
                  <c:v>0.3013698630136987</c:v>
                </c:pt>
                <c:pt idx="78">
                  <c:v>0.28767123287671237</c:v>
                </c:pt>
                <c:pt idx="79">
                  <c:v>0.28767123287671237</c:v>
                </c:pt>
                <c:pt idx="80">
                  <c:v>0.273972602739726</c:v>
                </c:pt>
                <c:pt idx="81">
                  <c:v>0.273972602739726</c:v>
                </c:pt>
                <c:pt idx="82">
                  <c:v>0.2602739726027397</c:v>
                </c:pt>
                <c:pt idx="83">
                  <c:v>0.2602739726027397</c:v>
                </c:pt>
                <c:pt idx="84">
                  <c:v>0.2328767123287672</c:v>
                </c:pt>
                <c:pt idx="85">
                  <c:v>0.2328767123287672</c:v>
                </c:pt>
                <c:pt idx="86">
                  <c:v>0.21917808219178084</c:v>
                </c:pt>
                <c:pt idx="87">
                  <c:v>0.21917808219178084</c:v>
                </c:pt>
                <c:pt idx="88">
                  <c:v>0.20547945205479456</c:v>
                </c:pt>
                <c:pt idx="89">
                  <c:v>0.20547945205479456</c:v>
                </c:pt>
                <c:pt idx="90">
                  <c:v>0.1917808219178082</c:v>
                </c:pt>
                <c:pt idx="91">
                  <c:v>0.1917808219178082</c:v>
                </c:pt>
                <c:pt idx="92">
                  <c:v>0.17808219178082196</c:v>
                </c:pt>
                <c:pt idx="93">
                  <c:v>0.17808219178082196</c:v>
                </c:pt>
                <c:pt idx="94">
                  <c:v>0.16438356164383566</c:v>
                </c:pt>
                <c:pt idx="95">
                  <c:v>0.16438356164383566</c:v>
                </c:pt>
                <c:pt idx="96">
                  <c:v>0.15068493150684936</c:v>
                </c:pt>
                <c:pt idx="97">
                  <c:v>0.15068493150684936</c:v>
                </c:pt>
                <c:pt idx="98">
                  <c:v>0.13698630136986306</c:v>
                </c:pt>
                <c:pt idx="99">
                  <c:v>0.13698630136986306</c:v>
                </c:pt>
                <c:pt idx="100">
                  <c:v>0.12328767123287676</c:v>
                </c:pt>
                <c:pt idx="101">
                  <c:v>0.12328767123287676</c:v>
                </c:pt>
                <c:pt idx="102">
                  <c:v>0.1095890410958904</c:v>
                </c:pt>
                <c:pt idx="103">
                  <c:v>0.1095890410958904</c:v>
                </c:pt>
                <c:pt idx="104">
                  <c:v>0.09589041095890415</c:v>
                </c:pt>
                <c:pt idx="105">
                  <c:v>0.09589041095890415</c:v>
                </c:pt>
                <c:pt idx="106">
                  <c:v>0.06849315068493153</c:v>
                </c:pt>
                <c:pt idx="107">
                  <c:v>0.06849315068493153</c:v>
                </c:pt>
                <c:pt idx="108">
                  <c:v>0.05479452054794522</c:v>
                </c:pt>
                <c:pt idx="109">
                  <c:v>0.05479452054794522</c:v>
                </c:pt>
                <c:pt idx="110">
                  <c:v>0.04109589041095892</c:v>
                </c:pt>
                <c:pt idx="111">
                  <c:v>0.04109589041095892</c:v>
                </c:pt>
                <c:pt idx="112">
                  <c:v>0.02739726027397261</c:v>
                </c:pt>
                <c:pt idx="113">
                  <c:v>0.02739726027397261</c:v>
                </c:pt>
                <c:pt idx="114">
                  <c:v>0.013698630136986304</c:v>
                </c:pt>
              </c:numCache>
            </c:numRef>
          </c:yVal>
          <c:smooth val="0"/>
        </c:ser>
        <c:ser>
          <c:idx val="2"/>
          <c:order val="2"/>
          <c:tx>
            <c:strRef>
              <c:f>Sheet1!$B$201</c:f>
              <c:strCache>
                <c:ptCount val="1"/>
                <c:pt idx="0">
                  <c:v>70–74 (median 42 wk)</c:v>
                </c:pt>
              </c:strCache>
            </c:strRef>
          </c:tx>
          <c:spPr>
            <a:ln w="31750">
              <a:solidFill>
                <a:srgbClr val="2A78D6"/>
              </a:solidFill>
            </a:ln>
          </c:spPr>
          <c:marker>
            <c:symbol val="none"/>
          </c:marker>
          <c:xVal>
            <c:numRef>
              <c:f>Sheet1!$A$202:$A$294</c:f>
              <c:numCache>
                <c:formatCode>General</c:formatCode>
                <c:ptCount val="93"/>
                <c:pt idx="0">
                  <c:v>0.0</c:v>
                </c:pt>
                <c:pt idx="1">
                  <c:v>4.0</c:v>
                </c:pt>
                <c:pt idx="2">
                  <c:v>4.0</c:v>
                </c:pt>
                <c:pt idx="3">
                  <c:v>6.0</c:v>
                </c:pt>
                <c:pt idx="4">
                  <c:v>6.0</c:v>
                </c:pt>
                <c:pt idx="5">
                  <c:v>7.0</c:v>
                </c:pt>
                <c:pt idx="6">
                  <c:v>7.0</c:v>
                </c:pt>
                <c:pt idx="7">
                  <c:v>8.0</c:v>
                </c:pt>
                <c:pt idx="8">
                  <c:v>8.0</c:v>
                </c:pt>
                <c:pt idx="9">
                  <c:v>9.0</c:v>
                </c:pt>
                <c:pt idx="10">
                  <c:v>9.0</c:v>
                </c:pt>
                <c:pt idx="11">
                  <c:v>10.0</c:v>
                </c:pt>
                <c:pt idx="12">
                  <c:v>10.0</c:v>
                </c:pt>
                <c:pt idx="13">
                  <c:v>13.0</c:v>
                </c:pt>
                <c:pt idx="14">
                  <c:v>13.0</c:v>
                </c:pt>
                <c:pt idx="15">
                  <c:v>15.0</c:v>
                </c:pt>
                <c:pt idx="16">
                  <c:v>15.0</c:v>
                </c:pt>
                <c:pt idx="17">
                  <c:v>16.0</c:v>
                </c:pt>
                <c:pt idx="18">
                  <c:v>16.0</c:v>
                </c:pt>
                <c:pt idx="19">
                  <c:v>17.0</c:v>
                </c:pt>
                <c:pt idx="20">
                  <c:v>17.0</c:v>
                </c:pt>
                <c:pt idx="21">
                  <c:v>19.0</c:v>
                </c:pt>
                <c:pt idx="22">
                  <c:v>19.0</c:v>
                </c:pt>
                <c:pt idx="23">
                  <c:v>22.0</c:v>
                </c:pt>
                <c:pt idx="24">
                  <c:v>22.0</c:v>
                </c:pt>
                <c:pt idx="25">
                  <c:v>23.0</c:v>
                </c:pt>
                <c:pt idx="26">
                  <c:v>23.0</c:v>
                </c:pt>
                <c:pt idx="27">
                  <c:v>24.0</c:v>
                </c:pt>
                <c:pt idx="28">
                  <c:v>24.0</c:v>
                </c:pt>
                <c:pt idx="29">
                  <c:v>25.0</c:v>
                </c:pt>
                <c:pt idx="30">
                  <c:v>25.0</c:v>
                </c:pt>
                <c:pt idx="31">
                  <c:v>29.0</c:v>
                </c:pt>
                <c:pt idx="32">
                  <c:v>29.0</c:v>
                </c:pt>
                <c:pt idx="33">
                  <c:v>30.0</c:v>
                </c:pt>
                <c:pt idx="34">
                  <c:v>30.0</c:v>
                </c:pt>
                <c:pt idx="35">
                  <c:v>36.0</c:v>
                </c:pt>
                <c:pt idx="36">
                  <c:v>36.0</c:v>
                </c:pt>
                <c:pt idx="37">
                  <c:v>37.0</c:v>
                </c:pt>
                <c:pt idx="38">
                  <c:v>37.0</c:v>
                </c:pt>
                <c:pt idx="39">
                  <c:v>40.0</c:v>
                </c:pt>
                <c:pt idx="40">
                  <c:v>40.0</c:v>
                </c:pt>
                <c:pt idx="41">
                  <c:v>41.0</c:v>
                </c:pt>
                <c:pt idx="42">
                  <c:v>41.0</c:v>
                </c:pt>
                <c:pt idx="43">
                  <c:v>42.0</c:v>
                </c:pt>
                <c:pt idx="44">
                  <c:v>42.0</c:v>
                </c:pt>
                <c:pt idx="45">
                  <c:v>43.0</c:v>
                </c:pt>
                <c:pt idx="46">
                  <c:v>43.0</c:v>
                </c:pt>
                <c:pt idx="47">
                  <c:v>45.0</c:v>
                </c:pt>
                <c:pt idx="48">
                  <c:v>45.0</c:v>
                </c:pt>
                <c:pt idx="49">
                  <c:v>48.0</c:v>
                </c:pt>
                <c:pt idx="50">
                  <c:v>48.0</c:v>
                </c:pt>
                <c:pt idx="51">
                  <c:v>50.0</c:v>
                </c:pt>
                <c:pt idx="52">
                  <c:v>50.0</c:v>
                </c:pt>
                <c:pt idx="53">
                  <c:v>51.0</c:v>
                </c:pt>
                <c:pt idx="54">
                  <c:v>51.0</c:v>
                </c:pt>
                <c:pt idx="55">
                  <c:v>53.0</c:v>
                </c:pt>
                <c:pt idx="56">
                  <c:v>53.0</c:v>
                </c:pt>
                <c:pt idx="57">
                  <c:v>55.0</c:v>
                </c:pt>
                <c:pt idx="58">
                  <c:v>55.0</c:v>
                </c:pt>
                <c:pt idx="59">
                  <c:v>60.0</c:v>
                </c:pt>
                <c:pt idx="60">
                  <c:v>60.0</c:v>
                </c:pt>
                <c:pt idx="61">
                  <c:v>63.0</c:v>
                </c:pt>
                <c:pt idx="62">
                  <c:v>63.0</c:v>
                </c:pt>
                <c:pt idx="63">
                  <c:v>66.0</c:v>
                </c:pt>
                <c:pt idx="64">
                  <c:v>66.0</c:v>
                </c:pt>
                <c:pt idx="65">
                  <c:v>67.0</c:v>
                </c:pt>
                <c:pt idx="66">
                  <c:v>67.0</c:v>
                </c:pt>
                <c:pt idx="67">
                  <c:v>70.0</c:v>
                </c:pt>
                <c:pt idx="68">
                  <c:v>70.0</c:v>
                </c:pt>
                <c:pt idx="69">
                  <c:v>71.0</c:v>
                </c:pt>
                <c:pt idx="70">
                  <c:v>71.0</c:v>
                </c:pt>
                <c:pt idx="71">
                  <c:v>72.0</c:v>
                </c:pt>
                <c:pt idx="72">
                  <c:v>72.0</c:v>
                </c:pt>
                <c:pt idx="73">
                  <c:v>73.0</c:v>
                </c:pt>
                <c:pt idx="74">
                  <c:v>73.0</c:v>
                </c:pt>
                <c:pt idx="75">
                  <c:v>80.0</c:v>
                </c:pt>
                <c:pt idx="76">
                  <c:v>80.0</c:v>
                </c:pt>
                <c:pt idx="77">
                  <c:v>82.0</c:v>
                </c:pt>
                <c:pt idx="78">
                  <c:v>82.0</c:v>
                </c:pt>
                <c:pt idx="79">
                  <c:v>96.0</c:v>
                </c:pt>
                <c:pt idx="80">
                  <c:v>96.0</c:v>
                </c:pt>
                <c:pt idx="81">
                  <c:v>101.0</c:v>
                </c:pt>
                <c:pt idx="82">
                  <c:v>101.0</c:v>
                </c:pt>
                <c:pt idx="83">
                  <c:v>103.0</c:v>
                </c:pt>
                <c:pt idx="84">
                  <c:v>103.0</c:v>
                </c:pt>
                <c:pt idx="85">
                  <c:v>117.0</c:v>
                </c:pt>
                <c:pt idx="86">
                  <c:v>117.0</c:v>
                </c:pt>
                <c:pt idx="87">
                  <c:v>127.0</c:v>
                </c:pt>
                <c:pt idx="88">
                  <c:v>127.0</c:v>
                </c:pt>
                <c:pt idx="89">
                  <c:v>149.0</c:v>
                </c:pt>
                <c:pt idx="90">
                  <c:v>149.0</c:v>
                </c:pt>
                <c:pt idx="91">
                  <c:v>150.0</c:v>
                </c:pt>
                <c:pt idx="92">
                  <c:v>150.0</c:v>
                </c:pt>
              </c:numCache>
            </c:numRef>
          </c:xVal>
          <c:yVal>
            <c:numRef>
              <c:f>Sheet1!$B$202:$B$294</c:f>
              <c:numCache>
                <c:formatCode>General</c:formatCode>
                <c:ptCount val="93"/>
                <c:pt idx="0">
                  <c:v>1.0</c:v>
                </c:pt>
                <c:pt idx="1">
                  <c:v>1.0</c:v>
                </c:pt>
                <c:pt idx="2">
                  <c:v>0.982142857142857</c:v>
                </c:pt>
                <c:pt idx="3">
                  <c:v>0.982142857142857</c:v>
                </c:pt>
                <c:pt idx="4">
                  <c:v>0.964285714285714</c:v>
                </c:pt>
                <c:pt idx="5">
                  <c:v>0.964285714285714</c:v>
                </c:pt>
                <c:pt idx="6">
                  <c:v>0.9464285714285712</c:v>
                </c:pt>
                <c:pt idx="7">
                  <c:v>0.9464285714285712</c:v>
                </c:pt>
                <c:pt idx="8">
                  <c:v>0.9285714285714284</c:v>
                </c:pt>
                <c:pt idx="9">
                  <c:v>0.9285714285714284</c:v>
                </c:pt>
                <c:pt idx="10">
                  <c:v>0.8928571428571423</c:v>
                </c:pt>
                <c:pt idx="11">
                  <c:v>0.8928571428571423</c:v>
                </c:pt>
                <c:pt idx="12">
                  <c:v>0.857142857142857</c:v>
                </c:pt>
                <c:pt idx="13">
                  <c:v>0.857142857142857</c:v>
                </c:pt>
                <c:pt idx="14">
                  <c:v>0.8392857142857139</c:v>
                </c:pt>
                <c:pt idx="15">
                  <c:v>0.8392857142857139</c:v>
                </c:pt>
                <c:pt idx="16">
                  <c:v>0.8214285714285712</c:v>
                </c:pt>
                <c:pt idx="17">
                  <c:v>0.8214285714285712</c:v>
                </c:pt>
                <c:pt idx="18">
                  <c:v>0.8035714285714282</c:v>
                </c:pt>
                <c:pt idx="19">
                  <c:v>0.8035714285714282</c:v>
                </c:pt>
                <c:pt idx="20">
                  <c:v>0.7857142857142853</c:v>
                </c:pt>
                <c:pt idx="21">
                  <c:v>0.7857142857142853</c:v>
                </c:pt>
                <c:pt idx="22">
                  <c:v>0.7678571428571425</c:v>
                </c:pt>
                <c:pt idx="23">
                  <c:v>0.7678571428571425</c:v>
                </c:pt>
                <c:pt idx="24">
                  <c:v>0.732142857142857</c:v>
                </c:pt>
                <c:pt idx="25">
                  <c:v>0.732142857142857</c:v>
                </c:pt>
                <c:pt idx="26">
                  <c:v>0.6964285714285711</c:v>
                </c:pt>
                <c:pt idx="27">
                  <c:v>0.6964285714285711</c:v>
                </c:pt>
                <c:pt idx="28">
                  <c:v>0.6785714285714283</c:v>
                </c:pt>
                <c:pt idx="29">
                  <c:v>0.6785714285714283</c:v>
                </c:pt>
                <c:pt idx="30">
                  <c:v>0.6607142857142854</c:v>
                </c:pt>
                <c:pt idx="31">
                  <c:v>0.6607142857142854</c:v>
                </c:pt>
                <c:pt idx="32">
                  <c:v>0.6249999999999997</c:v>
                </c:pt>
                <c:pt idx="33">
                  <c:v>0.6249999999999997</c:v>
                </c:pt>
                <c:pt idx="34">
                  <c:v>0.607142857142857</c:v>
                </c:pt>
                <c:pt idx="35">
                  <c:v>0.607142857142857</c:v>
                </c:pt>
                <c:pt idx="36">
                  <c:v>0.5892857142857141</c:v>
                </c:pt>
                <c:pt idx="37">
                  <c:v>0.5892857142857141</c:v>
                </c:pt>
                <c:pt idx="38">
                  <c:v>0.5714285714285712</c:v>
                </c:pt>
                <c:pt idx="39">
                  <c:v>0.5714285714285712</c:v>
                </c:pt>
                <c:pt idx="40">
                  <c:v>0.5357142857142856</c:v>
                </c:pt>
                <c:pt idx="41">
                  <c:v>0.5357142857142856</c:v>
                </c:pt>
                <c:pt idx="42">
                  <c:v>0.5178571428571427</c:v>
                </c:pt>
                <c:pt idx="43">
                  <c:v>0.5178571428571427</c:v>
                </c:pt>
                <c:pt idx="44">
                  <c:v>0.4999999999999997</c:v>
                </c:pt>
                <c:pt idx="45">
                  <c:v>0.4999999999999997</c:v>
                </c:pt>
                <c:pt idx="46">
                  <c:v>0.482142857142857</c:v>
                </c:pt>
                <c:pt idx="47">
                  <c:v>0.482142857142857</c:v>
                </c:pt>
                <c:pt idx="48">
                  <c:v>0.46428571428571414</c:v>
                </c:pt>
                <c:pt idx="49">
                  <c:v>0.46428571428571414</c:v>
                </c:pt>
                <c:pt idx="50">
                  <c:v>0.4464285714285712</c:v>
                </c:pt>
                <c:pt idx="51">
                  <c:v>0.4464285714285712</c:v>
                </c:pt>
                <c:pt idx="52">
                  <c:v>0.41071428571428553</c:v>
                </c:pt>
                <c:pt idx="53">
                  <c:v>0.41071428571428553</c:v>
                </c:pt>
                <c:pt idx="54">
                  <c:v>0.3928571428571428</c:v>
                </c:pt>
                <c:pt idx="55">
                  <c:v>0.3928571428571428</c:v>
                </c:pt>
                <c:pt idx="56">
                  <c:v>0.37499999999999983</c:v>
                </c:pt>
                <c:pt idx="57">
                  <c:v>0.37499999999999983</c:v>
                </c:pt>
                <c:pt idx="58">
                  <c:v>0.35714285714285693</c:v>
                </c:pt>
                <c:pt idx="59">
                  <c:v>0.35714285714285693</c:v>
                </c:pt>
                <c:pt idx="60">
                  <c:v>0.3392857142857141</c:v>
                </c:pt>
                <c:pt idx="61">
                  <c:v>0.3392857142857141</c:v>
                </c:pt>
                <c:pt idx="62">
                  <c:v>0.32142857142857123</c:v>
                </c:pt>
                <c:pt idx="63">
                  <c:v>0.32142857142857123</c:v>
                </c:pt>
                <c:pt idx="64">
                  <c:v>0.3035714285714285</c:v>
                </c:pt>
                <c:pt idx="65">
                  <c:v>0.3035714285714285</c:v>
                </c:pt>
                <c:pt idx="66">
                  <c:v>0.2857142857142856</c:v>
                </c:pt>
                <c:pt idx="67">
                  <c:v>0.2857142857142856</c:v>
                </c:pt>
                <c:pt idx="68">
                  <c:v>0.26785714285714274</c:v>
                </c:pt>
                <c:pt idx="69">
                  <c:v>0.26785714285714274</c:v>
                </c:pt>
                <c:pt idx="70">
                  <c:v>0.24999999999999983</c:v>
                </c:pt>
                <c:pt idx="71">
                  <c:v>0.24999999999999983</c:v>
                </c:pt>
                <c:pt idx="72">
                  <c:v>0.21428571428571422</c:v>
                </c:pt>
                <c:pt idx="73">
                  <c:v>0.21428571428571422</c:v>
                </c:pt>
                <c:pt idx="74">
                  <c:v>0.17857142857142855</c:v>
                </c:pt>
                <c:pt idx="75">
                  <c:v>0.17857142857142855</c:v>
                </c:pt>
                <c:pt idx="76">
                  <c:v>0.16071428571428567</c:v>
                </c:pt>
                <c:pt idx="77">
                  <c:v>0.16071428571428567</c:v>
                </c:pt>
                <c:pt idx="78">
                  <c:v>0.14285714285714277</c:v>
                </c:pt>
                <c:pt idx="79">
                  <c:v>0.14285714285714277</c:v>
                </c:pt>
                <c:pt idx="80">
                  <c:v>0.12499999999999997</c:v>
                </c:pt>
                <c:pt idx="81">
                  <c:v>0.12499999999999997</c:v>
                </c:pt>
                <c:pt idx="82">
                  <c:v>0.10714285714285714</c:v>
                </c:pt>
                <c:pt idx="83">
                  <c:v>0.10714285714285714</c:v>
                </c:pt>
                <c:pt idx="84">
                  <c:v>0.07142857142857141</c:v>
                </c:pt>
                <c:pt idx="85">
                  <c:v>0.07142857142857141</c:v>
                </c:pt>
                <c:pt idx="86">
                  <c:v>0.05357142857142857</c:v>
                </c:pt>
                <c:pt idx="87">
                  <c:v>0.05357142857142857</c:v>
                </c:pt>
                <c:pt idx="88">
                  <c:v>0.035714285714285705</c:v>
                </c:pt>
                <c:pt idx="89">
                  <c:v>0.035714285714285705</c:v>
                </c:pt>
                <c:pt idx="90">
                  <c:v>0.01785714285714285</c:v>
                </c:pt>
                <c:pt idx="91">
                  <c:v>0.01785714285714285</c:v>
                </c:pt>
                <c:pt idx="92">
                  <c:v>0.0</c:v>
                </c:pt>
              </c:numCache>
            </c:numRef>
          </c:yVal>
          <c:smooth val="0"/>
        </c:ser>
        <c:ser>
          <c:idx val="3"/>
          <c:order val="3"/>
          <c:tx>
            <c:strRef>
              <c:f>Sheet1!$B$296</c:f>
              <c:strCache>
                <c:ptCount val="1"/>
                <c:pt idx="0">
                  <c:v>≥75 (median 31 wk)</c:v>
                </c:pt>
              </c:strCache>
            </c:strRef>
          </c:tx>
          <c:spPr>
            <a:ln w="31750">
              <a:solidFill>
                <a:srgbClr val="104281"/>
              </a:solidFill>
            </a:ln>
          </c:spPr>
          <c:marker>
            <c:symbol val="none"/>
          </c:marker>
          <c:xVal>
            <c:numRef>
              <c:f>Sheet1!$A$297:$A$415</c:f>
              <c:numCache>
                <c:formatCode>General</c:formatCode>
                <c:ptCount val="119"/>
                <c:pt idx="0">
                  <c:v>0.0</c:v>
                </c:pt>
                <c:pt idx="1">
                  <c:v>3.0</c:v>
                </c:pt>
                <c:pt idx="2">
                  <c:v>3.0</c:v>
                </c:pt>
                <c:pt idx="3">
                  <c:v>6.0</c:v>
                </c:pt>
                <c:pt idx="4">
                  <c:v>6.0</c:v>
                </c:pt>
                <c:pt idx="5">
                  <c:v>7.0</c:v>
                </c:pt>
                <c:pt idx="6">
                  <c:v>7.0</c:v>
                </c:pt>
                <c:pt idx="7">
                  <c:v>8.0</c:v>
                </c:pt>
                <c:pt idx="8">
                  <c:v>8.0</c:v>
                </c:pt>
                <c:pt idx="9">
                  <c:v>9.0</c:v>
                </c:pt>
                <c:pt idx="10">
                  <c:v>9.0</c:v>
                </c:pt>
                <c:pt idx="11">
                  <c:v>10.0</c:v>
                </c:pt>
                <c:pt idx="12">
                  <c:v>10.0</c:v>
                </c:pt>
                <c:pt idx="13">
                  <c:v>11.0</c:v>
                </c:pt>
                <c:pt idx="14">
                  <c:v>11.0</c:v>
                </c:pt>
                <c:pt idx="15">
                  <c:v>12.0</c:v>
                </c:pt>
                <c:pt idx="16">
                  <c:v>12.0</c:v>
                </c:pt>
                <c:pt idx="17">
                  <c:v>14.0</c:v>
                </c:pt>
                <c:pt idx="18">
                  <c:v>14.0</c:v>
                </c:pt>
                <c:pt idx="19">
                  <c:v>15.0</c:v>
                </c:pt>
                <c:pt idx="20">
                  <c:v>15.0</c:v>
                </c:pt>
                <c:pt idx="21">
                  <c:v>16.0</c:v>
                </c:pt>
                <c:pt idx="22">
                  <c:v>16.0</c:v>
                </c:pt>
                <c:pt idx="23">
                  <c:v>17.0</c:v>
                </c:pt>
                <c:pt idx="24">
                  <c:v>17.0</c:v>
                </c:pt>
                <c:pt idx="25">
                  <c:v>18.0</c:v>
                </c:pt>
                <c:pt idx="26">
                  <c:v>18.0</c:v>
                </c:pt>
                <c:pt idx="27">
                  <c:v>19.0</c:v>
                </c:pt>
                <c:pt idx="28">
                  <c:v>19.0</c:v>
                </c:pt>
                <c:pt idx="29">
                  <c:v>21.0</c:v>
                </c:pt>
                <c:pt idx="30">
                  <c:v>21.0</c:v>
                </c:pt>
                <c:pt idx="31">
                  <c:v>22.0</c:v>
                </c:pt>
                <c:pt idx="32">
                  <c:v>22.0</c:v>
                </c:pt>
                <c:pt idx="33">
                  <c:v>24.0</c:v>
                </c:pt>
                <c:pt idx="34">
                  <c:v>24.0</c:v>
                </c:pt>
                <c:pt idx="35">
                  <c:v>26.0</c:v>
                </c:pt>
                <c:pt idx="36">
                  <c:v>26.0</c:v>
                </c:pt>
                <c:pt idx="37">
                  <c:v>28.0</c:v>
                </c:pt>
                <c:pt idx="38">
                  <c:v>28.0</c:v>
                </c:pt>
                <c:pt idx="39">
                  <c:v>29.0</c:v>
                </c:pt>
                <c:pt idx="40">
                  <c:v>29.0</c:v>
                </c:pt>
                <c:pt idx="41">
                  <c:v>30.0</c:v>
                </c:pt>
                <c:pt idx="42">
                  <c:v>30.0</c:v>
                </c:pt>
                <c:pt idx="43">
                  <c:v>31.0</c:v>
                </c:pt>
                <c:pt idx="44">
                  <c:v>31.0</c:v>
                </c:pt>
                <c:pt idx="45">
                  <c:v>34.0</c:v>
                </c:pt>
                <c:pt idx="46">
                  <c:v>34.0</c:v>
                </c:pt>
                <c:pt idx="47">
                  <c:v>36.0</c:v>
                </c:pt>
                <c:pt idx="48">
                  <c:v>36.0</c:v>
                </c:pt>
                <c:pt idx="49">
                  <c:v>38.0</c:v>
                </c:pt>
                <c:pt idx="50">
                  <c:v>38.0</c:v>
                </c:pt>
                <c:pt idx="51">
                  <c:v>42.0</c:v>
                </c:pt>
                <c:pt idx="52">
                  <c:v>42.0</c:v>
                </c:pt>
                <c:pt idx="53">
                  <c:v>43.0</c:v>
                </c:pt>
                <c:pt idx="54">
                  <c:v>43.0</c:v>
                </c:pt>
                <c:pt idx="55">
                  <c:v>44.0</c:v>
                </c:pt>
                <c:pt idx="56">
                  <c:v>44.0</c:v>
                </c:pt>
                <c:pt idx="57">
                  <c:v>45.0</c:v>
                </c:pt>
                <c:pt idx="58">
                  <c:v>45.0</c:v>
                </c:pt>
                <c:pt idx="59">
                  <c:v>47.0</c:v>
                </c:pt>
                <c:pt idx="60">
                  <c:v>47.0</c:v>
                </c:pt>
                <c:pt idx="61">
                  <c:v>48.0</c:v>
                </c:pt>
                <c:pt idx="62">
                  <c:v>48.0</c:v>
                </c:pt>
                <c:pt idx="63">
                  <c:v>49.0</c:v>
                </c:pt>
                <c:pt idx="64">
                  <c:v>49.0</c:v>
                </c:pt>
                <c:pt idx="65">
                  <c:v>51.0</c:v>
                </c:pt>
                <c:pt idx="66">
                  <c:v>51.0</c:v>
                </c:pt>
                <c:pt idx="67">
                  <c:v>52.0</c:v>
                </c:pt>
                <c:pt idx="68">
                  <c:v>52.0</c:v>
                </c:pt>
                <c:pt idx="69">
                  <c:v>54.0</c:v>
                </c:pt>
                <c:pt idx="70">
                  <c:v>54.0</c:v>
                </c:pt>
                <c:pt idx="71">
                  <c:v>56.0</c:v>
                </c:pt>
                <c:pt idx="72">
                  <c:v>56.0</c:v>
                </c:pt>
                <c:pt idx="73">
                  <c:v>57.0</c:v>
                </c:pt>
                <c:pt idx="74">
                  <c:v>57.0</c:v>
                </c:pt>
                <c:pt idx="75">
                  <c:v>60.0</c:v>
                </c:pt>
                <c:pt idx="76">
                  <c:v>60.0</c:v>
                </c:pt>
                <c:pt idx="77">
                  <c:v>61.0</c:v>
                </c:pt>
                <c:pt idx="78">
                  <c:v>61.0</c:v>
                </c:pt>
                <c:pt idx="79">
                  <c:v>62.0</c:v>
                </c:pt>
                <c:pt idx="80">
                  <c:v>62.0</c:v>
                </c:pt>
                <c:pt idx="81">
                  <c:v>66.0</c:v>
                </c:pt>
                <c:pt idx="82">
                  <c:v>66.0</c:v>
                </c:pt>
                <c:pt idx="83">
                  <c:v>67.0</c:v>
                </c:pt>
                <c:pt idx="84">
                  <c:v>67.0</c:v>
                </c:pt>
                <c:pt idx="85">
                  <c:v>70.0</c:v>
                </c:pt>
                <c:pt idx="86">
                  <c:v>70.0</c:v>
                </c:pt>
                <c:pt idx="87">
                  <c:v>71.0</c:v>
                </c:pt>
                <c:pt idx="88">
                  <c:v>71.0</c:v>
                </c:pt>
                <c:pt idx="89">
                  <c:v>72.0</c:v>
                </c:pt>
                <c:pt idx="90">
                  <c:v>72.0</c:v>
                </c:pt>
                <c:pt idx="91">
                  <c:v>75.0</c:v>
                </c:pt>
                <c:pt idx="92">
                  <c:v>75.0</c:v>
                </c:pt>
                <c:pt idx="93">
                  <c:v>76.0</c:v>
                </c:pt>
                <c:pt idx="94">
                  <c:v>76.0</c:v>
                </c:pt>
                <c:pt idx="95">
                  <c:v>80.0</c:v>
                </c:pt>
                <c:pt idx="96">
                  <c:v>80.0</c:v>
                </c:pt>
                <c:pt idx="97">
                  <c:v>82.0</c:v>
                </c:pt>
                <c:pt idx="98">
                  <c:v>82.0</c:v>
                </c:pt>
                <c:pt idx="99">
                  <c:v>93.0</c:v>
                </c:pt>
                <c:pt idx="100">
                  <c:v>93.0</c:v>
                </c:pt>
                <c:pt idx="101">
                  <c:v>94.0</c:v>
                </c:pt>
                <c:pt idx="102">
                  <c:v>94.0</c:v>
                </c:pt>
                <c:pt idx="103">
                  <c:v>95.0</c:v>
                </c:pt>
                <c:pt idx="104">
                  <c:v>95.0</c:v>
                </c:pt>
                <c:pt idx="105">
                  <c:v>104.0</c:v>
                </c:pt>
                <c:pt idx="106">
                  <c:v>104.0</c:v>
                </c:pt>
                <c:pt idx="107">
                  <c:v>109.0</c:v>
                </c:pt>
                <c:pt idx="108">
                  <c:v>109.0</c:v>
                </c:pt>
                <c:pt idx="109">
                  <c:v>115.0</c:v>
                </c:pt>
                <c:pt idx="110">
                  <c:v>115.0</c:v>
                </c:pt>
                <c:pt idx="111">
                  <c:v>121.0</c:v>
                </c:pt>
                <c:pt idx="112">
                  <c:v>121.0</c:v>
                </c:pt>
                <c:pt idx="113">
                  <c:v>133.0</c:v>
                </c:pt>
                <c:pt idx="114">
                  <c:v>133.0</c:v>
                </c:pt>
                <c:pt idx="115">
                  <c:v>139.0</c:v>
                </c:pt>
                <c:pt idx="116">
                  <c:v>139.0</c:v>
                </c:pt>
                <c:pt idx="117">
                  <c:v>159.0</c:v>
                </c:pt>
                <c:pt idx="118">
                  <c:v>159.0</c:v>
                </c:pt>
              </c:numCache>
            </c:numRef>
          </c:xVal>
          <c:yVal>
            <c:numRef>
              <c:f>Sheet1!$B$297:$B$415</c:f>
              <c:numCache>
                <c:formatCode>General</c:formatCode>
                <c:ptCount val="119"/>
                <c:pt idx="0">
                  <c:v>1.0</c:v>
                </c:pt>
                <c:pt idx="1">
                  <c:v>1.0</c:v>
                </c:pt>
                <c:pt idx="2">
                  <c:v>0.9770114942528738</c:v>
                </c:pt>
                <c:pt idx="3">
                  <c:v>0.9770114942528738</c:v>
                </c:pt>
                <c:pt idx="4">
                  <c:v>0.9425287356321841</c:v>
                </c:pt>
                <c:pt idx="5">
                  <c:v>0.9425287356321841</c:v>
                </c:pt>
                <c:pt idx="6">
                  <c:v>0.9195402298850571</c:v>
                </c:pt>
                <c:pt idx="7">
                  <c:v>0.9195402298850571</c:v>
                </c:pt>
                <c:pt idx="8">
                  <c:v>0.9080459770114943</c:v>
                </c:pt>
                <c:pt idx="9">
                  <c:v>0.9080459770114943</c:v>
                </c:pt>
                <c:pt idx="10">
                  <c:v>0.8505747126436786</c:v>
                </c:pt>
                <c:pt idx="11">
                  <c:v>0.8505747126436786</c:v>
                </c:pt>
                <c:pt idx="12">
                  <c:v>0.8390804597701148</c:v>
                </c:pt>
                <c:pt idx="13">
                  <c:v>0.8390804597701148</c:v>
                </c:pt>
                <c:pt idx="14">
                  <c:v>0.8160919540229885</c:v>
                </c:pt>
                <c:pt idx="15">
                  <c:v>0.8160919540229885</c:v>
                </c:pt>
                <c:pt idx="16">
                  <c:v>0.8045977011494256</c:v>
                </c:pt>
                <c:pt idx="17">
                  <c:v>0.8045977011494256</c:v>
                </c:pt>
                <c:pt idx="18">
                  <c:v>0.7931034482758623</c:v>
                </c:pt>
                <c:pt idx="19">
                  <c:v>0.7931034482758623</c:v>
                </c:pt>
                <c:pt idx="20">
                  <c:v>0.7356321839080457</c:v>
                </c:pt>
                <c:pt idx="21">
                  <c:v>0.7356321839080457</c:v>
                </c:pt>
                <c:pt idx="22">
                  <c:v>0.7241379310344827</c:v>
                </c:pt>
                <c:pt idx="23">
                  <c:v>0.7241379310344827</c:v>
                </c:pt>
                <c:pt idx="24">
                  <c:v>0.7011494252873564</c:v>
                </c:pt>
                <c:pt idx="25">
                  <c:v>0.7011494252873564</c:v>
                </c:pt>
                <c:pt idx="26">
                  <c:v>0.6436781609195406</c:v>
                </c:pt>
                <c:pt idx="27">
                  <c:v>0.6436781609195406</c:v>
                </c:pt>
                <c:pt idx="28">
                  <c:v>0.6321839080459771</c:v>
                </c:pt>
                <c:pt idx="29">
                  <c:v>0.6321839080459771</c:v>
                </c:pt>
                <c:pt idx="30">
                  <c:v>0.6206896551724139</c:v>
                </c:pt>
                <c:pt idx="31">
                  <c:v>0.6206896551724139</c:v>
                </c:pt>
                <c:pt idx="32">
                  <c:v>0.6091954022988507</c:v>
                </c:pt>
                <c:pt idx="33">
                  <c:v>0.6091954022988507</c:v>
                </c:pt>
                <c:pt idx="34">
                  <c:v>0.5862068965517241</c:v>
                </c:pt>
                <c:pt idx="35">
                  <c:v>0.5862068965517241</c:v>
                </c:pt>
                <c:pt idx="36">
                  <c:v>0.5632183908045977</c:v>
                </c:pt>
                <c:pt idx="37">
                  <c:v>0.5632183908045977</c:v>
                </c:pt>
                <c:pt idx="38">
                  <c:v>0.5402298850574712</c:v>
                </c:pt>
                <c:pt idx="39">
                  <c:v>0.5402298850574712</c:v>
                </c:pt>
                <c:pt idx="40">
                  <c:v>0.5287356321839081</c:v>
                </c:pt>
                <c:pt idx="41">
                  <c:v>0.5287356321839081</c:v>
                </c:pt>
                <c:pt idx="42">
                  <c:v>0.5057471264367815</c:v>
                </c:pt>
                <c:pt idx="43">
                  <c:v>0.5057471264367815</c:v>
                </c:pt>
                <c:pt idx="44">
                  <c:v>0.4942528735632184</c:v>
                </c:pt>
                <c:pt idx="45">
                  <c:v>0.4942528735632184</c:v>
                </c:pt>
                <c:pt idx="46">
                  <c:v>0.48275862068965525</c:v>
                </c:pt>
                <c:pt idx="47">
                  <c:v>0.48275862068965525</c:v>
                </c:pt>
                <c:pt idx="48">
                  <c:v>0.47126436781609204</c:v>
                </c:pt>
                <c:pt idx="49">
                  <c:v>0.47126436781609204</c:v>
                </c:pt>
                <c:pt idx="50">
                  <c:v>0.45977011494252873</c:v>
                </c:pt>
                <c:pt idx="51">
                  <c:v>0.45977011494252873</c:v>
                </c:pt>
                <c:pt idx="52">
                  <c:v>0.44827586206896547</c:v>
                </c:pt>
                <c:pt idx="53">
                  <c:v>0.44827586206896547</c:v>
                </c:pt>
                <c:pt idx="54">
                  <c:v>0.43678160919540227</c:v>
                </c:pt>
                <c:pt idx="55">
                  <c:v>0.43678160919540227</c:v>
                </c:pt>
                <c:pt idx="56">
                  <c:v>0.41379310344827586</c:v>
                </c:pt>
                <c:pt idx="57">
                  <c:v>0.41379310344827586</c:v>
                </c:pt>
                <c:pt idx="58">
                  <c:v>0.3908045977011495</c:v>
                </c:pt>
                <c:pt idx="59">
                  <c:v>0.3908045977011495</c:v>
                </c:pt>
                <c:pt idx="60">
                  <c:v>0.3563218390804598</c:v>
                </c:pt>
                <c:pt idx="61">
                  <c:v>0.3563218390804598</c:v>
                </c:pt>
                <c:pt idx="62">
                  <c:v>0.3448275862068966</c:v>
                </c:pt>
                <c:pt idx="63">
                  <c:v>0.3448275862068966</c:v>
                </c:pt>
                <c:pt idx="64">
                  <c:v>0.33333333333333337</c:v>
                </c:pt>
                <c:pt idx="65">
                  <c:v>0.33333333333333337</c:v>
                </c:pt>
                <c:pt idx="66">
                  <c:v>0.32183908045977005</c:v>
                </c:pt>
                <c:pt idx="67">
                  <c:v>0.32183908045977005</c:v>
                </c:pt>
                <c:pt idx="68">
                  <c:v>0.2988505747126437</c:v>
                </c:pt>
                <c:pt idx="69">
                  <c:v>0.2988505747126437</c:v>
                </c:pt>
                <c:pt idx="70">
                  <c:v>0.2873563218390804</c:v>
                </c:pt>
                <c:pt idx="71">
                  <c:v>0.2873563218390804</c:v>
                </c:pt>
                <c:pt idx="72">
                  <c:v>0.2758620689655173</c:v>
                </c:pt>
                <c:pt idx="73">
                  <c:v>0.2758620689655173</c:v>
                </c:pt>
                <c:pt idx="74">
                  <c:v>0.26436781609195403</c:v>
                </c:pt>
                <c:pt idx="75">
                  <c:v>0.26436781609195403</c:v>
                </c:pt>
                <c:pt idx="76">
                  <c:v>0.2528735632183909</c:v>
                </c:pt>
                <c:pt idx="77">
                  <c:v>0.2528735632183909</c:v>
                </c:pt>
                <c:pt idx="78">
                  <c:v>0.2413793103448276</c:v>
                </c:pt>
                <c:pt idx="79">
                  <c:v>0.2413793103448276</c:v>
                </c:pt>
                <c:pt idx="80">
                  <c:v>0.22988505747126434</c:v>
                </c:pt>
                <c:pt idx="81">
                  <c:v>0.22988505747126434</c:v>
                </c:pt>
                <c:pt idx="82">
                  <c:v>0.2183908045977011</c:v>
                </c:pt>
                <c:pt idx="83">
                  <c:v>0.2183908045977011</c:v>
                </c:pt>
                <c:pt idx="84">
                  <c:v>0.2068965517241379</c:v>
                </c:pt>
                <c:pt idx="85">
                  <c:v>0.2068965517241379</c:v>
                </c:pt>
                <c:pt idx="86">
                  <c:v>0.19540229885057472</c:v>
                </c:pt>
                <c:pt idx="87">
                  <c:v>0.19540229885057472</c:v>
                </c:pt>
                <c:pt idx="88">
                  <c:v>0.1839080459770115</c:v>
                </c:pt>
                <c:pt idx="89">
                  <c:v>0.1839080459770115</c:v>
                </c:pt>
                <c:pt idx="90">
                  <c:v>0.1724137931034483</c:v>
                </c:pt>
                <c:pt idx="91">
                  <c:v>0.1724137931034483</c:v>
                </c:pt>
                <c:pt idx="92">
                  <c:v>0.16091954022988503</c:v>
                </c:pt>
                <c:pt idx="93">
                  <c:v>0.16091954022988503</c:v>
                </c:pt>
                <c:pt idx="94">
                  <c:v>0.14942528735632185</c:v>
                </c:pt>
                <c:pt idx="95">
                  <c:v>0.14942528735632185</c:v>
                </c:pt>
                <c:pt idx="96">
                  <c:v>0.12643678160919541</c:v>
                </c:pt>
                <c:pt idx="97">
                  <c:v>0.12643678160919541</c:v>
                </c:pt>
                <c:pt idx="98">
                  <c:v>0.11494252873563221</c:v>
                </c:pt>
                <c:pt idx="99">
                  <c:v>0.11494252873563221</c:v>
                </c:pt>
                <c:pt idx="100">
                  <c:v>0.10344827586206899</c:v>
                </c:pt>
                <c:pt idx="101">
                  <c:v>0.10344827586206899</c:v>
                </c:pt>
                <c:pt idx="102">
                  <c:v>0.09195402298850573</c:v>
                </c:pt>
                <c:pt idx="103">
                  <c:v>0.09195402298850573</c:v>
                </c:pt>
                <c:pt idx="104">
                  <c:v>0.08045977011494254</c:v>
                </c:pt>
                <c:pt idx="105">
                  <c:v>0.08045977011494254</c:v>
                </c:pt>
                <c:pt idx="106">
                  <c:v>0.06896551724137934</c:v>
                </c:pt>
                <c:pt idx="107">
                  <c:v>0.06896551724137934</c:v>
                </c:pt>
                <c:pt idx="108">
                  <c:v>0.0574712643678161</c:v>
                </c:pt>
                <c:pt idx="109">
                  <c:v>0.0574712643678161</c:v>
                </c:pt>
                <c:pt idx="110">
                  <c:v>0.04597701149425288</c:v>
                </c:pt>
                <c:pt idx="111">
                  <c:v>0.04597701149425288</c:v>
                </c:pt>
                <c:pt idx="112">
                  <c:v>0.03448275862068967</c:v>
                </c:pt>
                <c:pt idx="113">
                  <c:v>0.03448275862068967</c:v>
                </c:pt>
                <c:pt idx="114">
                  <c:v>0.02298850574712644</c:v>
                </c:pt>
                <c:pt idx="115">
                  <c:v>0.02298850574712644</c:v>
                </c:pt>
                <c:pt idx="116">
                  <c:v>0.011494252873563218</c:v>
                </c:pt>
                <c:pt idx="117">
                  <c:v>0.011494252873563218</c:v>
                </c:pt>
                <c:pt idx="118">
                  <c:v>0.0</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legend>
      <c:legendPos val="t"/>
      <c:layout/>
      <c:overlay val="0"/>
      <c:txPr>
        <a:bodyPr/>
        <a:lstStyle/>
        <a:p>
          <a:pPr>
            <a:defRPr sz="1300">
              <a:solidFill>
                <a:srgbClr val="17203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WHO 2016 (median 53 wk)</c:v>
                </c:pt>
              </c:strCache>
            </c:strRef>
          </c:tx>
          <c:spPr>
            <a:ln w="31750">
              <a:solidFill>
                <a:srgbClr val="2A78D6"/>
              </a:solidFill>
            </a:ln>
          </c:spPr>
          <c:marker>
            <c:symbol val="none"/>
          </c:marker>
          <c:xVal>
            <c:numRef>
              <c:f>Sheet1!$A$2:$A$202</c:f>
              <c:numCache>
                <c:formatCode>General</c:formatCode>
                <c:ptCount val="201"/>
                <c:pt idx="0">
                  <c:v>0.0</c:v>
                </c:pt>
                <c:pt idx="1">
                  <c:v>3.0</c:v>
                </c:pt>
                <c:pt idx="2">
                  <c:v>3.0</c:v>
                </c:pt>
                <c:pt idx="3">
                  <c:v>4.0</c:v>
                </c:pt>
                <c:pt idx="4">
                  <c:v>4.0</c:v>
                </c:pt>
                <c:pt idx="5">
                  <c:v>6.0</c:v>
                </c:pt>
                <c:pt idx="6">
                  <c:v>6.0</c:v>
                </c:pt>
                <c:pt idx="7">
                  <c:v>7.0</c:v>
                </c:pt>
                <c:pt idx="8">
                  <c:v>7.0</c:v>
                </c:pt>
                <c:pt idx="9">
                  <c:v>8.0</c:v>
                </c:pt>
                <c:pt idx="10">
                  <c:v>8.0</c:v>
                </c:pt>
                <c:pt idx="11">
                  <c:v>9.0</c:v>
                </c:pt>
                <c:pt idx="12">
                  <c:v>9.0</c:v>
                </c:pt>
                <c:pt idx="13">
                  <c:v>10.0</c:v>
                </c:pt>
                <c:pt idx="14">
                  <c:v>10.0</c:v>
                </c:pt>
                <c:pt idx="15">
                  <c:v>11.0</c:v>
                </c:pt>
                <c:pt idx="16">
                  <c:v>11.0</c:v>
                </c:pt>
                <c:pt idx="17">
                  <c:v>13.0</c:v>
                </c:pt>
                <c:pt idx="18">
                  <c:v>13.0</c:v>
                </c:pt>
                <c:pt idx="19">
                  <c:v>14.0</c:v>
                </c:pt>
                <c:pt idx="20">
                  <c:v>14.0</c:v>
                </c:pt>
                <c:pt idx="21">
                  <c:v>15.0</c:v>
                </c:pt>
                <c:pt idx="22">
                  <c:v>15.0</c:v>
                </c:pt>
                <c:pt idx="23">
                  <c:v>16.0</c:v>
                </c:pt>
                <c:pt idx="24">
                  <c:v>16.0</c:v>
                </c:pt>
                <c:pt idx="25">
                  <c:v>17.0</c:v>
                </c:pt>
                <c:pt idx="26">
                  <c:v>17.0</c:v>
                </c:pt>
                <c:pt idx="27">
                  <c:v>18.0</c:v>
                </c:pt>
                <c:pt idx="28">
                  <c:v>18.0</c:v>
                </c:pt>
                <c:pt idx="29">
                  <c:v>19.0</c:v>
                </c:pt>
                <c:pt idx="30">
                  <c:v>19.0</c:v>
                </c:pt>
                <c:pt idx="31">
                  <c:v>21.0</c:v>
                </c:pt>
                <c:pt idx="32">
                  <c:v>21.0</c:v>
                </c:pt>
                <c:pt idx="33">
                  <c:v>22.0</c:v>
                </c:pt>
                <c:pt idx="34">
                  <c:v>22.0</c:v>
                </c:pt>
                <c:pt idx="35">
                  <c:v>23.0</c:v>
                </c:pt>
                <c:pt idx="36">
                  <c:v>23.0</c:v>
                </c:pt>
                <c:pt idx="37">
                  <c:v>24.0</c:v>
                </c:pt>
                <c:pt idx="38">
                  <c:v>24.0</c:v>
                </c:pt>
                <c:pt idx="39">
                  <c:v>25.0</c:v>
                </c:pt>
                <c:pt idx="40">
                  <c:v>25.0</c:v>
                </c:pt>
                <c:pt idx="41">
                  <c:v>26.0</c:v>
                </c:pt>
                <c:pt idx="42">
                  <c:v>26.0</c:v>
                </c:pt>
                <c:pt idx="43">
                  <c:v>28.0</c:v>
                </c:pt>
                <c:pt idx="44">
                  <c:v>28.0</c:v>
                </c:pt>
                <c:pt idx="45">
                  <c:v>29.0</c:v>
                </c:pt>
                <c:pt idx="46">
                  <c:v>29.0</c:v>
                </c:pt>
                <c:pt idx="47">
                  <c:v>30.0</c:v>
                </c:pt>
                <c:pt idx="48">
                  <c:v>30.0</c:v>
                </c:pt>
                <c:pt idx="49">
                  <c:v>31.0</c:v>
                </c:pt>
                <c:pt idx="50">
                  <c:v>31.0</c:v>
                </c:pt>
                <c:pt idx="51">
                  <c:v>34.0</c:v>
                </c:pt>
                <c:pt idx="52">
                  <c:v>34.0</c:v>
                </c:pt>
                <c:pt idx="53">
                  <c:v>35.0</c:v>
                </c:pt>
                <c:pt idx="54">
                  <c:v>35.0</c:v>
                </c:pt>
                <c:pt idx="55">
                  <c:v>36.0</c:v>
                </c:pt>
                <c:pt idx="56">
                  <c:v>36.0</c:v>
                </c:pt>
                <c:pt idx="57">
                  <c:v>37.0</c:v>
                </c:pt>
                <c:pt idx="58">
                  <c:v>37.0</c:v>
                </c:pt>
                <c:pt idx="59">
                  <c:v>38.0</c:v>
                </c:pt>
                <c:pt idx="60">
                  <c:v>38.0</c:v>
                </c:pt>
                <c:pt idx="61">
                  <c:v>40.0</c:v>
                </c:pt>
                <c:pt idx="62">
                  <c:v>40.0</c:v>
                </c:pt>
                <c:pt idx="63">
                  <c:v>42.0</c:v>
                </c:pt>
                <c:pt idx="64">
                  <c:v>42.0</c:v>
                </c:pt>
                <c:pt idx="65">
                  <c:v>43.0</c:v>
                </c:pt>
                <c:pt idx="66">
                  <c:v>43.0</c:v>
                </c:pt>
                <c:pt idx="67">
                  <c:v>44.0</c:v>
                </c:pt>
                <c:pt idx="68">
                  <c:v>44.0</c:v>
                </c:pt>
                <c:pt idx="69">
                  <c:v>45.0</c:v>
                </c:pt>
                <c:pt idx="70">
                  <c:v>45.0</c:v>
                </c:pt>
                <c:pt idx="71">
                  <c:v>46.0</c:v>
                </c:pt>
                <c:pt idx="72">
                  <c:v>46.0</c:v>
                </c:pt>
                <c:pt idx="73">
                  <c:v>47.0</c:v>
                </c:pt>
                <c:pt idx="74">
                  <c:v>47.0</c:v>
                </c:pt>
                <c:pt idx="75">
                  <c:v>48.0</c:v>
                </c:pt>
                <c:pt idx="76">
                  <c:v>48.0</c:v>
                </c:pt>
                <c:pt idx="77">
                  <c:v>49.0</c:v>
                </c:pt>
                <c:pt idx="78">
                  <c:v>49.0</c:v>
                </c:pt>
                <c:pt idx="79">
                  <c:v>50.0</c:v>
                </c:pt>
                <c:pt idx="80">
                  <c:v>50.0</c:v>
                </c:pt>
                <c:pt idx="81">
                  <c:v>51.0</c:v>
                </c:pt>
                <c:pt idx="82">
                  <c:v>51.0</c:v>
                </c:pt>
                <c:pt idx="83">
                  <c:v>52.0</c:v>
                </c:pt>
                <c:pt idx="84">
                  <c:v>52.0</c:v>
                </c:pt>
                <c:pt idx="85">
                  <c:v>53.0</c:v>
                </c:pt>
                <c:pt idx="86">
                  <c:v>53.0</c:v>
                </c:pt>
                <c:pt idx="87">
                  <c:v>54.0</c:v>
                </c:pt>
                <c:pt idx="88">
                  <c:v>54.0</c:v>
                </c:pt>
                <c:pt idx="89">
                  <c:v>55.0</c:v>
                </c:pt>
                <c:pt idx="90">
                  <c:v>55.0</c:v>
                </c:pt>
                <c:pt idx="91">
                  <c:v>56.0</c:v>
                </c:pt>
                <c:pt idx="92">
                  <c:v>56.0</c:v>
                </c:pt>
                <c:pt idx="93">
                  <c:v>57.0</c:v>
                </c:pt>
                <c:pt idx="94">
                  <c:v>57.0</c:v>
                </c:pt>
                <c:pt idx="95">
                  <c:v>58.0</c:v>
                </c:pt>
                <c:pt idx="96">
                  <c:v>58.0</c:v>
                </c:pt>
                <c:pt idx="97">
                  <c:v>60.0</c:v>
                </c:pt>
                <c:pt idx="98">
                  <c:v>60.0</c:v>
                </c:pt>
                <c:pt idx="99">
                  <c:v>61.0</c:v>
                </c:pt>
                <c:pt idx="100">
                  <c:v>61.0</c:v>
                </c:pt>
                <c:pt idx="101">
                  <c:v>62.0</c:v>
                </c:pt>
                <c:pt idx="102">
                  <c:v>62.0</c:v>
                </c:pt>
                <c:pt idx="103">
                  <c:v>63.0</c:v>
                </c:pt>
                <c:pt idx="104">
                  <c:v>63.0</c:v>
                </c:pt>
                <c:pt idx="105">
                  <c:v>64.0</c:v>
                </c:pt>
                <c:pt idx="106">
                  <c:v>64.0</c:v>
                </c:pt>
                <c:pt idx="107">
                  <c:v>66.0</c:v>
                </c:pt>
                <c:pt idx="108">
                  <c:v>66.0</c:v>
                </c:pt>
                <c:pt idx="109">
                  <c:v>67.0</c:v>
                </c:pt>
                <c:pt idx="110">
                  <c:v>67.0</c:v>
                </c:pt>
                <c:pt idx="111">
                  <c:v>70.0</c:v>
                </c:pt>
                <c:pt idx="112">
                  <c:v>70.0</c:v>
                </c:pt>
                <c:pt idx="113">
                  <c:v>71.0</c:v>
                </c:pt>
                <c:pt idx="114">
                  <c:v>71.0</c:v>
                </c:pt>
                <c:pt idx="115">
                  <c:v>72.0</c:v>
                </c:pt>
                <c:pt idx="116">
                  <c:v>72.0</c:v>
                </c:pt>
                <c:pt idx="117">
                  <c:v>73.0</c:v>
                </c:pt>
                <c:pt idx="118">
                  <c:v>73.0</c:v>
                </c:pt>
                <c:pt idx="119">
                  <c:v>74.0</c:v>
                </c:pt>
                <c:pt idx="120">
                  <c:v>74.0</c:v>
                </c:pt>
                <c:pt idx="121">
                  <c:v>75.0</c:v>
                </c:pt>
                <c:pt idx="122">
                  <c:v>75.0</c:v>
                </c:pt>
                <c:pt idx="123">
                  <c:v>76.0</c:v>
                </c:pt>
                <c:pt idx="124">
                  <c:v>76.0</c:v>
                </c:pt>
                <c:pt idx="125">
                  <c:v>77.0</c:v>
                </c:pt>
                <c:pt idx="126">
                  <c:v>77.0</c:v>
                </c:pt>
                <c:pt idx="127">
                  <c:v>78.0</c:v>
                </c:pt>
                <c:pt idx="128">
                  <c:v>78.0</c:v>
                </c:pt>
                <c:pt idx="129">
                  <c:v>79.0</c:v>
                </c:pt>
                <c:pt idx="130">
                  <c:v>79.0</c:v>
                </c:pt>
                <c:pt idx="131">
                  <c:v>80.0</c:v>
                </c:pt>
                <c:pt idx="132">
                  <c:v>80.0</c:v>
                </c:pt>
                <c:pt idx="133">
                  <c:v>81.0</c:v>
                </c:pt>
                <c:pt idx="134">
                  <c:v>81.0</c:v>
                </c:pt>
                <c:pt idx="135">
                  <c:v>82.0</c:v>
                </c:pt>
                <c:pt idx="136">
                  <c:v>82.0</c:v>
                </c:pt>
                <c:pt idx="137">
                  <c:v>93.0</c:v>
                </c:pt>
                <c:pt idx="138">
                  <c:v>93.0</c:v>
                </c:pt>
                <c:pt idx="139">
                  <c:v>94.0</c:v>
                </c:pt>
                <c:pt idx="140">
                  <c:v>94.0</c:v>
                </c:pt>
                <c:pt idx="141">
                  <c:v>95.0</c:v>
                </c:pt>
                <c:pt idx="142">
                  <c:v>95.0</c:v>
                </c:pt>
                <c:pt idx="143">
                  <c:v>96.0</c:v>
                </c:pt>
                <c:pt idx="144">
                  <c:v>96.0</c:v>
                </c:pt>
                <c:pt idx="145">
                  <c:v>97.0</c:v>
                </c:pt>
                <c:pt idx="146">
                  <c:v>97.0</c:v>
                </c:pt>
                <c:pt idx="147">
                  <c:v>98.0</c:v>
                </c:pt>
                <c:pt idx="148">
                  <c:v>98.0</c:v>
                </c:pt>
                <c:pt idx="149">
                  <c:v>101.0</c:v>
                </c:pt>
                <c:pt idx="150">
                  <c:v>101.0</c:v>
                </c:pt>
                <c:pt idx="151">
                  <c:v>102.0</c:v>
                </c:pt>
                <c:pt idx="152">
                  <c:v>102.0</c:v>
                </c:pt>
                <c:pt idx="153">
                  <c:v>103.0</c:v>
                </c:pt>
                <c:pt idx="154">
                  <c:v>103.0</c:v>
                </c:pt>
                <c:pt idx="155">
                  <c:v>108.0</c:v>
                </c:pt>
                <c:pt idx="156">
                  <c:v>108.0</c:v>
                </c:pt>
                <c:pt idx="157">
                  <c:v>109.0</c:v>
                </c:pt>
                <c:pt idx="158">
                  <c:v>109.0</c:v>
                </c:pt>
                <c:pt idx="159">
                  <c:v>110.0</c:v>
                </c:pt>
                <c:pt idx="160">
                  <c:v>110.0</c:v>
                </c:pt>
                <c:pt idx="161">
                  <c:v>111.0</c:v>
                </c:pt>
                <c:pt idx="162">
                  <c:v>111.0</c:v>
                </c:pt>
                <c:pt idx="163">
                  <c:v>114.0</c:v>
                </c:pt>
                <c:pt idx="164">
                  <c:v>114.0</c:v>
                </c:pt>
                <c:pt idx="165">
                  <c:v>115.0</c:v>
                </c:pt>
                <c:pt idx="166">
                  <c:v>115.0</c:v>
                </c:pt>
                <c:pt idx="167">
                  <c:v>117.0</c:v>
                </c:pt>
                <c:pt idx="168">
                  <c:v>117.0</c:v>
                </c:pt>
                <c:pt idx="169">
                  <c:v>118.0</c:v>
                </c:pt>
                <c:pt idx="170">
                  <c:v>118.0</c:v>
                </c:pt>
                <c:pt idx="171">
                  <c:v>120.0</c:v>
                </c:pt>
                <c:pt idx="172">
                  <c:v>120.0</c:v>
                </c:pt>
                <c:pt idx="173">
                  <c:v>121.0</c:v>
                </c:pt>
                <c:pt idx="174">
                  <c:v>121.0</c:v>
                </c:pt>
                <c:pt idx="175">
                  <c:v>127.0</c:v>
                </c:pt>
                <c:pt idx="176">
                  <c:v>127.0</c:v>
                </c:pt>
                <c:pt idx="177">
                  <c:v>129.0</c:v>
                </c:pt>
                <c:pt idx="178">
                  <c:v>129.0</c:v>
                </c:pt>
                <c:pt idx="179">
                  <c:v>130.0</c:v>
                </c:pt>
                <c:pt idx="180">
                  <c:v>130.0</c:v>
                </c:pt>
                <c:pt idx="181">
                  <c:v>133.0</c:v>
                </c:pt>
                <c:pt idx="182">
                  <c:v>133.0</c:v>
                </c:pt>
                <c:pt idx="183">
                  <c:v>139.0</c:v>
                </c:pt>
                <c:pt idx="184">
                  <c:v>139.0</c:v>
                </c:pt>
                <c:pt idx="185">
                  <c:v>140.0</c:v>
                </c:pt>
                <c:pt idx="186">
                  <c:v>140.0</c:v>
                </c:pt>
                <c:pt idx="187">
                  <c:v>149.0</c:v>
                </c:pt>
                <c:pt idx="188">
                  <c:v>149.0</c:v>
                </c:pt>
                <c:pt idx="189">
                  <c:v>150.0</c:v>
                </c:pt>
                <c:pt idx="190">
                  <c:v>150.0</c:v>
                </c:pt>
                <c:pt idx="191">
                  <c:v>155.0</c:v>
                </c:pt>
                <c:pt idx="192">
                  <c:v>155.0</c:v>
                </c:pt>
                <c:pt idx="193">
                  <c:v>159.0</c:v>
                </c:pt>
                <c:pt idx="194">
                  <c:v>159.0</c:v>
                </c:pt>
                <c:pt idx="195">
                  <c:v>170.0</c:v>
                </c:pt>
                <c:pt idx="196">
                  <c:v>170.0</c:v>
                </c:pt>
                <c:pt idx="197">
                  <c:v>191.0</c:v>
                </c:pt>
                <c:pt idx="198">
                  <c:v>191.0</c:v>
                </c:pt>
                <c:pt idx="199">
                  <c:v>196.0</c:v>
                </c:pt>
                <c:pt idx="200">
                  <c:v>196.0</c:v>
                </c:pt>
              </c:numCache>
            </c:numRef>
          </c:xVal>
          <c:yVal>
            <c:numRef>
              <c:f>Sheet1!$B$2:$B$202</c:f>
              <c:numCache>
                <c:formatCode>General</c:formatCode>
                <c:ptCount val="201"/>
                <c:pt idx="0">
                  <c:v>1.0</c:v>
                </c:pt>
                <c:pt idx="1">
                  <c:v>1.0</c:v>
                </c:pt>
                <c:pt idx="2">
                  <c:v>0.983783783783784</c:v>
                </c:pt>
                <c:pt idx="3">
                  <c:v>0.983783783783784</c:v>
                </c:pt>
                <c:pt idx="4">
                  <c:v>0.9783783783783792</c:v>
                </c:pt>
                <c:pt idx="5">
                  <c:v>0.9783783783783792</c:v>
                </c:pt>
                <c:pt idx="6">
                  <c:v>0.9567567567567569</c:v>
                </c:pt>
                <c:pt idx="7">
                  <c:v>0.9567567567567569</c:v>
                </c:pt>
                <c:pt idx="8">
                  <c:v>0.9513513513513514</c:v>
                </c:pt>
                <c:pt idx="9">
                  <c:v>0.9513513513513514</c:v>
                </c:pt>
                <c:pt idx="10">
                  <c:v>0.9459459459459467</c:v>
                </c:pt>
                <c:pt idx="11">
                  <c:v>0.9459459459459467</c:v>
                </c:pt>
                <c:pt idx="12">
                  <c:v>0.9297297297297298</c:v>
                </c:pt>
                <c:pt idx="13">
                  <c:v>0.9297297297297298</c:v>
                </c:pt>
                <c:pt idx="14">
                  <c:v>0.9189189189189195</c:v>
                </c:pt>
                <c:pt idx="15">
                  <c:v>0.9189189189189195</c:v>
                </c:pt>
                <c:pt idx="16">
                  <c:v>0.9081081081081084</c:v>
                </c:pt>
                <c:pt idx="17">
                  <c:v>0.9081081081081084</c:v>
                </c:pt>
                <c:pt idx="18">
                  <c:v>0.9027027027027034</c:v>
                </c:pt>
                <c:pt idx="19">
                  <c:v>0.9027027027027034</c:v>
                </c:pt>
                <c:pt idx="20">
                  <c:v>0.897297297297298</c:v>
                </c:pt>
                <c:pt idx="21">
                  <c:v>0.897297297297298</c:v>
                </c:pt>
                <c:pt idx="22">
                  <c:v>0.8756756756756756</c:v>
                </c:pt>
                <c:pt idx="23">
                  <c:v>0.8756756756756756</c:v>
                </c:pt>
                <c:pt idx="24">
                  <c:v>0.8540540540540544</c:v>
                </c:pt>
                <c:pt idx="25">
                  <c:v>0.8540540540540544</c:v>
                </c:pt>
                <c:pt idx="26">
                  <c:v>0.8378378378378383</c:v>
                </c:pt>
                <c:pt idx="27">
                  <c:v>0.8378378378378383</c:v>
                </c:pt>
                <c:pt idx="28">
                  <c:v>0.8162162162162165</c:v>
                </c:pt>
                <c:pt idx="29">
                  <c:v>0.8162162162162165</c:v>
                </c:pt>
                <c:pt idx="30">
                  <c:v>0.8054054054054057</c:v>
                </c:pt>
                <c:pt idx="31">
                  <c:v>0.8054054054054057</c:v>
                </c:pt>
                <c:pt idx="32">
                  <c:v>0.8</c:v>
                </c:pt>
                <c:pt idx="33">
                  <c:v>0.8</c:v>
                </c:pt>
                <c:pt idx="34">
                  <c:v>0.783783783783784</c:v>
                </c:pt>
                <c:pt idx="35">
                  <c:v>0.783783783783784</c:v>
                </c:pt>
                <c:pt idx="36">
                  <c:v>0.7729729729729731</c:v>
                </c:pt>
                <c:pt idx="37">
                  <c:v>0.7729729729729731</c:v>
                </c:pt>
                <c:pt idx="38">
                  <c:v>0.7621621621621626</c:v>
                </c:pt>
                <c:pt idx="39">
                  <c:v>0.7621621621621626</c:v>
                </c:pt>
                <c:pt idx="40">
                  <c:v>0.7567567567567567</c:v>
                </c:pt>
                <c:pt idx="41">
                  <c:v>0.7567567567567567</c:v>
                </c:pt>
                <c:pt idx="42">
                  <c:v>0.740540540540541</c:v>
                </c:pt>
                <c:pt idx="43">
                  <c:v>0.740540540540541</c:v>
                </c:pt>
                <c:pt idx="44">
                  <c:v>0.7243243243243245</c:v>
                </c:pt>
                <c:pt idx="45">
                  <c:v>0.7243243243243245</c:v>
                </c:pt>
                <c:pt idx="46">
                  <c:v>0.7081081081081081</c:v>
                </c:pt>
                <c:pt idx="47">
                  <c:v>0.7081081081081081</c:v>
                </c:pt>
                <c:pt idx="48">
                  <c:v>0.6864864864864867</c:v>
                </c:pt>
                <c:pt idx="49">
                  <c:v>0.6864864864864867</c:v>
                </c:pt>
                <c:pt idx="50">
                  <c:v>0.6810810810810813</c:v>
                </c:pt>
                <c:pt idx="51">
                  <c:v>0.6810810810810813</c:v>
                </c:pt>
                <c:pt idx="52">
                  <c:v>0.6756756756756762</c:v>
                </c:pt>
                <c:pt idx="53">
                  <c:v>0.6756756756756762</c:v>
                </c:pt>
                <c:pt idx="54">
                  <c:v>0.6702702702702706</c:v>
                </c:pt>
                <c:pt idx="55">
                  <c:v>0.6702702702702706</c:v>
                </c:pt>
                <c:pt idx="56">
                  <c:v>0.6540540540540545</c:v>
                </c:pt>
                <c:pt idx="57">
                  <c:v>0.6540540540540545</c:v>
                </c:pt>
                <c:pt idx="58">
                  <c:v>0.6486486486486488</c:v>
                </c:pt>
                <c:pt idx="59">
                  <c:v>0.6486486486486488</c:v>
                </c:pt>
                <c:pt idx="60">
                  <c:v>0.6432432432432437</c:v>
                </c:pt>
                <c:pt idx="61">
                  <c:v>0.6432432432432437</c:v>
                </c:pt>
                <c:pt idx="62">
                  <c:v>0.6270270270270272</c:v>
                </c:pt>
                <c:pt idx="63">
                  <c:v>0.6270270270270272</c:v>
                </c:pt>
                <c:pt idx="64">
                  <c:v>0.6216216216216219</c:v>
                </c:pt>
                <c:pt idx="65">
                  <c:v>0.6216216216216219</c:v>
                </c:pt>
                <c:pt idx="66">
                  <c:v>0.6108108108108112</c:v>
                </c:pt>
                <c:pt idx="67">
                  <c:v>0.6108108108108112</c:v>
                </c:pt>
                <c:pt idx="68">
                  <c:v>0.6054054054054054</c:v>
                </c:pt>
                <c:pt idx="69">
                  <c:v>0.6054054054054054</c:v>
                </c:pt>
                <c:pt idx="70">
                  <c:v>0.5837837837837841</c:v>
                </c:pt>
                <c:pt idx="71">
                  <c:v>0.5837837837837841</c:v>
                </c:pt>
                <c:pt idx="72">
                  <c:v>0.5783783783783784</c:v>
                </c:pt>
                <c:pt idx="73">
                  <c:v>0.5783783783783784</c:v>
                </c:pt>
                <c:pt idx="74">
                  <c:v>0.5621621621621623</c:v>
                </c:pt>
                <c:pt idx="75">
                  <c:v>0.5621621621621623</c:v>
                </c:pt>
                <c:pt idx="76">
                  <c:v>0.5567567567567571</c:v>
                </c:pt>
                <c:pt idx="77">
                  <c:v>0.5567567567567571</c:v>
                </c:pt>
                <c:pt idx="78">
                  <c:v>0.5459459459459463</c:v>
                </c:pt>
                <c:pt idx="79">
                  <c:v>0.5459459459459463</c:v>
                </c:pt>
                <c:pt idx="80">
                  <c:v>0.540540540540541</c:v>
                </c:pt>
                <c:pt idx="81">
                  <c:v>0.540540540540541</c:v>
                </c:pt>
                <c:pt idx="82">
                  <c:v>0.5243243243243245</c:v>
                </c:pt>
                <c:pt idx="83">
                  <c:v>0.5243243243243245</c:v>
                </c:pt>
                <c:pt idx="84">
                  <c:v>0.5081081081081082</c:v>
                </c:pt>
                <c:pt idx="85">
                  <c:v>0.5081081081081082</c:v>
                </c:pt>
                <c:pt idx="86">
                  <c:v>0.491891891891892</c:v>
                </c:pt>
                <c:pt idx="87">
                  <c:v>0.491891891891892</c:v>
                </c:pt>
                <c:pt idx="88">
                  <c:v>0.47027027027027046</c:v>
                </c:pt>
                <c:pt idx="89">
                  <c:v>0.47027027027027046</c:v>
                </c:pt>
                <c:pt idx="90">
                  <c:v>0.45945945945945976</c:v>
                </c:pt>
                <c:pt idx="91">
                  <c:v>0.45945945945945976</c:v>
                </c:pt>
                <c:pt idx="92">
                  <c:v>0.45405405405405413</c:v>
                </c:pt>
                <c:pt idx="93">
                  <c:v>0.45405405405405413</c:v>
                </c:pt>
                <c:pt idx="94">
                  <c:v>0.44324324324324355</c:v>
                </c:pt>
                <c:pt idx="95">
                  <c:v>0.44324324324324355</c:v>
                </c:pt>
                <c:pt idx="96">
                  <c:v>0.43243243243243246</c:v>
                </c:pt>
                <c:pt idx="97">
                  <c:v>0.43243243243243246</c:v>
                </c:pt>
                <c:pt idx="98">
                  <c:v>0.42162162162162176</c:v>
                </c:pt>
                <c:pt idx="99">
                  <c:v>0.42162162162162176</c:v>
                </c:pt>
                <c:pt idx="100">
                  <c:v>0.40540540540540543</c:v>
                </c:pt>
                <c:pt idx="101">
                  <c:v>0.40540540540540543</c:v>
                </c:pt>
                <c:pt idx="102">
                  <c:v>0.40000000000000036</c:v>
                </c:pt>
                <c:pt idx="103">
                  <c:v>0.40000000000000036</c:v>
                </c:pt>
                <c:pt idx="104">
                  <c:v>0.3891891891891893</c:v>
                </c:pt>
                <c:pt idx="105">
                  <c:v>0.3891891891891893</c:v>
                </c:pt>
                <c:pt idx="106">
                  <c:v>0.3783783783783787</c:v>
                </c:pt>
                <c:pt idx="107">
                  <c:v>0.3783783783783787</c:v>
                </c:pt>
                <c:pt idx="108">
                  <c:v>0.3675675675675678</c:v>
                </c:pt>
                <c:pt idx="109">
                  <c:v>0.3675675675675678</c:v>
                </c:pt>
                <c:pt idx="110">
                  <c:v>0.3621621621621622</c:v>
                </c:pt>
                <c:pt idx="111">
                  <c:v>0.3621621621621622</c:v>
                </c:pt>
                <c:pt idx="112">
                  <c:v>0.3405405405405406</c:v>
                </c:pt>
                <c:pt idx="113">
                  <c:v>0.3405405405405406</c:v>
                </c:pt>
                <c:pt idx="114">
                  <c:v>0.32432432432432434</c:v>
                </c:pt>
                <c:pt idx="115">
                  <c:v>0.32432432432432434</c:v>
                </c:pt>
                <c:pt idx="116">
                  <c:v>0.3135135135135136</c:v>
                </c:pt>
                <c:pt idx="117">
                  <c:v>0.3135135135135136</c:v>
                </c:pt>
                <c:pt idx="118">
                  <c:v>0.2972972972972975</c:v>
                </c:pt>
                <c:pt idx="119">
                  <c:v>0.2972972972972975</c:v>
                </c:pt>
                <c:pt idx="120">
                  <c:v>0.2918918918918921</c:v>
                </c:pt>
                <c:pt idx="121">
                  <c:v>0.2918918918918921</c:v>
                </c:pt>
                <c:pt idx="122">
                  <c:v>0.28648648648648667</c:v>
                </c:pt>
                <c:pt idx="123">
                  <c:v>0.28648648648648667</c:v>
                </c:pt>
                <c:pt idx="124">
                  <c:v>0.2756756756756758</c:v>
                </c:pt>
                <c:pt idx="125">
                  <c:v>0.2756756756756758</c:v>
                </c:pt>
                <c:pt idx="126">
                  <c:v>0.26486486486486494</c:v>
                </c:pt>
                <c:pt idx="127">
                  <c:v>0.26486486486486494</c:v>
                </c:pt>
                <c:pt idx="128">
                  <c:v>0.2540540540540541</c:v>
                </c:pt>
                <c:pt idx="129">
                  <c:v>0.2540540540540541</c:v>
                </c:pt>
                <c:pt idx="130">
                  <c:v>0.24864864864864877</c:v>
                </c:pt>
                <c:pt idx="131">
                  <c:v>0.24864864864864877</c:v>
                </c:pt>
                <c:pt idx="132">
                  <c:v>0.2432432432432433</c:v>
                </c:pt>
                <c:pt idx="133">
                  <c:v>0.2432432432432433</c:v>
                </c:pt>
                <c:pt idx="134">
                  <c:v>0.2378378378378379</c:v>
                </c:pt>
                <c:pt idx="135">
                  <c:v>0.2378378378378379</c:v>
                </c:pt>
                <c:pt idx="136">
                  <c:v>0.23243243243243253</c:v>
                </c:pt>
                <c:pt idx="137">
                  <c:v>0.23243243243243253</c:v>
                </c:pt>
                <c:pt idx="138">
                  <c:v>0.22162162162162174</c:v>
                </c:pt>
                <c:pt idx="139">
                  <c:v>0.22162162162162174</c:v>
                </c:pt>
                <c:pt idx="140">
                  <c:v>0.21621621621621628</c:v>
                </c:pt>
                <c:pt idx="141">
                  <c:v>0.21621621621621628</c:v>
                </c:pt>
                <c:pt idx="142">
                  <c:v>0.19459459459459466</c:v>
                </c:pt>
                <c:pt idx="143">
                  <c:v>0.19459459459459466</c:v>
                </c:pt>
                <c:pt idx="144">
                  <c:v>0.18918918918918923</c:v>
                </c:pt>
                <c:pt idx="145">
                  <c:v>0.18918918918918923</c:v>
                </c:pt>
                <c:pt idx="146">
                  <c:v>0.18378378378378388</c:v>
                </c:pt>
                <c:pt idx="147">
                  <c:v>0.18378378378378388</c:v>
                </c:pt>
                <c:pt idx="148">
                  <c:v>0.17837837837837844</c:v>
                </c:pt>
                <c:pt idx="149">
                  <c:v>0.17837837837837844</c:v>
                </c:pt>
                <c:pt idx="150">
                  <c:v>0.17297297297297304</c:v>
                </c:pt>
                <c:pt idx="151">
                  <c:v>0.17297297297297304</c:v>
                </c:pt>
                <c:pt idx="152">
                  <c:v>0.16756756756756763</c:v>
                </c:pt>
                <c:pt idx="153">
                  <c:v>0.16756756756756763</c:v>
                </c:pt>
                <c:pt idx="154">
                  <c:v>0.15675675675675685</c:v>
                </c:pt>
                <c:pt idx="155">
                  <c:v>0.15675675675675685</c:v>
                </c:pt>
                <c:pt idx="156">
                  <c:v>0.1513513513513514</c:v>
                </c:pt>
                <c:pt idx="157">
                  <c:v>0.1513513513513514</c:v>
                </c:pt>
                <c:pt idx="158">
                  <c:v>0.145945945945946</c:v>
                </c:pt>
                <c:pt idx="159">
                  <c:v>0.145945945945946</c:v>
                </c:pt>
                <c:pt idx="160">
                  <c:v>0.1405405405405406</c:v>
                </c:pt>
                <c:pt idx="161">
                  <c:v>0.1405405405405406</c:v>
                </c:pt>
                <c:pt idx="162">
                  <c:v>0.13513513513513517</c:v>
                </c:pt>
                <c:pt idx="163">
                  <c:v>0.13513513513513517</c:v>
                </c:pt>
                <c:pt idx="164">
                  <c:v>0.1297297297297298</c:v>
                </c:pt>
                <c:pt idx="165">
                  <c:v>0.1297297297297298</c:v>
                </c:pt>
                <c:pt idx="166">
                  <c:v>0.12432432432432437</c:v>
                </c:pt>
                <c:pt idx="167">
                  <c:v>0.12432432432432437</c:v>
                </c:pt>
                <c:pt idx="168">
                  <c:v>0.118918918918919</c:v>
                </c:pt>
                <c:pt idx="169">
                  <c:v>0.118918918918919</c:v>
                </c:pt>
                <c:pt idx="170">
                  <c:v>0.11351351351351356</c:v>
                </c:pt>
                <c:pt idx="171">
                  <c:v>0.11351351351351356</c:v>
                </c:pt>
                <c:pt idx="172">
                  <c:v>0.10810810810810814</c:v>
                </c:pt>
                <c:pt idx="173">
                  <c:v>0.10810810810810814</c:v>
                </c:pt>
                <c:pt idx="174">
                  <c:v>0.09729729729729732</c:v>
                </c:pt>
                <c:pt idx="175">
                  <c:v>0.09729729729729732</c:v>
                </c:pt>
                <c:pt idx="176">
                  <c:v>0.08648648648648652</c:v>
                </c:pt>
                <c:pt idx="177">
                  <c:v>0.08648648648648652</c:v>
                </c:pt>
                <c:pt idx="178">
                  <c:v>0.08108108108108111</c:v>
                </c:pt>
                <c:pt idx="179">
                  <c:v>0.08108108108108111</c:v>
                </c:pt>
                <c:pt idx="180">
                  <c:v>0.0756756756756757</c:v>
                </c:pt>
                <c:pt idx="181">
                  <c:v>0.0756756756756757</c:v>
                </c:pt>
                <c:pt idx="182">
                  <c:v>0.0702702702702703</c:v>
                </c:pt>
                <c:pt idx="183">
                  <c:v>0.0702702702702703</c:v>
                </c:pt>
                <c:pt idx="184">
                  <c:v>0.0648648648648649</c:v>
                </c:pt>
                <c:pt idx="185">
                  <c:v>0.0648648648648649</c:v>
                </c:pt>
                <c:pt idx="186">
                  <c:v>0.054054054054054085</c:v>
                </c:pt>
                <c:pt idx="187">
                  <c:v>0.054054054054054085</c:v>
                </c:pt>
                <c:pt idx="188">
                  <c:v>0.04864864864864868</c:v>
                </c:pt>
                <c:pt idx="189">
                  <c:v>0.04864864864864868</c:v>
                </c:pt>
                <c:pt idx="190">
                  <c:v>0.04324324324324325</c:v>
                </c:pt>
                <c:pt idx="191">
                  <c:v>0.04324324324324325</c:v>
                </c:pt>
                <c:pt idx="192">
                  <c:v>0.03783783783783786</c:v>
                </c:pt>
                <c:pt idx="193">
                  <c:v>0.03783783783783786</c:v>
                </c:pt>
                <c:pt idx="194">
                  <c:v>0.03243243243243246</c:v>
                </c:pt>
                <c:pt idx="195">
                  <c:v>0.03243243243243246</c:v>
                </c:pt>
                <c:pt idx="196">
                  <c:v>0.027027027027027042</c:v>
                </c:pt>
                <c:pt idx="197">
                  <c:v>0.027027027027027042</c:v>
                </c:pt>
                <c:pt idx="198">
                  <c:v>0.021621621621621633</c:v>
                </c:pt>
                <c:pt idx="199">
                  <c:v>0.021621621621621633</c:v>
                </c:pt>
                <c:pt idx="200">
                  <c:v>0.016216216216216228</c:v>
                </c:pt>
              </c:numCache>
            </c:numRef>
          </c:yVal>
          <c:smooth val="0"/>
        </c:ser>
        <c:ser>
          <c:idx val="1"/>
          <c:order val="1"/>
          <c:tx>
            <c:strRef>
              <c:f>Sheet1!$B$204</c:f>
              <c:strCache>
                <c:ptCount val="1"/>
                <c:pt idx="0">
                  <c:v>WHO 2021 (median 44 wk)</c:v>
                </c:pt>
              </c:strCache>
            </c:strRef>
          </c:tx>
          <c:spPr>
            <a:ln w="31750">
              <a:solidFill>
                <a:srgbClr val="EB6834"/>
              </a:solidFill>
            </a:ln>
          </c:spPr>
          <c:marker>
            <c:symbol val="none"/>
          </c:marker>
          <c:xVal>
            <c:numRef>
              <c:f>Sheet1!$A$205:$A$309</c:f>
              <c:numCache>
                <c:formatCode>General</c:formatCode>
                <c:ptCount val="105"/>
                <c:pt idx="0">
                  <c:v>0.0</c:v>
                </c:pt>
                <c:pt idx="1">
                  <c:v>3.0</c:v>
                </c:pt>
                <c:pt idx="2">
                  <c:v>3.0</c:v>
                </c:pt>
                <c:pt idx="3">
                  <c:v>7.0</c:v>
                </c:pt>
                <c:pt idx="4">
                  <c:v>7.0</c:v>
                </c:pt>
                <c:pt idx="5">
                  <c:v>8.0</c:v>
                </c:pt>
                <c:pt idx="6">
                  <c:v>8.0</c:v>
                </c:pt>
                <c:pt idx="7">
                  <c:v>9.0</c:v>
                </c:pt>
                <c:pt idx="8">
                  <c:v>9.0</c:v>
                </c:pt>
                <c:pt idx="9">
                  <c:v>10.0</c:v>
                </c:pt>
                <c:pt idx="10">
                  <c:v>10.0</c:v>
                </c:pt>
                <c:pt idx="11">
                  <c:v>12.0</c:v>
                </c:pt>
                <c:pt idx="12">
                  <c:v>12.0</c:v>
                </c:pt>
                <c:pt idx="13">
                  <c:v>13.0</c:v>
                </c:pt>
                <c:pt idx="14">
                  <c:v>13.0</c:v>
                </c:pt>
                <c:pt idx="15">
                  <c:v>15.0</c:v>
                </c:pt>
                <c:pt idx="16">
                  <c:v>15.0</c:v>
                </c:pt>
                <c:pt idx="17">
                  <c:v>16.0</c:v>
                </c:pt>
                <c:pt idx="18">
                  <c:v>16.0</c:v>
                </c:pt>
                <c:pt idx="19">
                  <c:v>17.0</c:v>
                </c:pt>
                <c:pt idx="20">
                  <c:v>17.0</c:v>
                </c:pt>
                <c:pt idx="21">
                  <c:v>18.0</c:v>
                </c:pt>
                <c:pt idx="22">
                  <c:v>18.0</c:v>
                </c:pt>
                <c:pt idx="23">
                  <c:v>19.0</c:v>
                </c:pt>
                <c:pt idx="24">
                  <c:v>19.0</c:v>
                </c:pt>
                <c:pt idx="25">
                  <c:v>21.0</c:v>
                </c:pt>
                <c:pt idx="26">
                  <c:v>21.0</c:v>
                </c:pt>
                <c:pt idx="27">
                  <c:v>22.0</c:v>
                </c:pt>
                <c:pt idx="28">
                  <c:v>22.0</c:v>
                </c:pt>
                <c:pt idx="29">
                  <c:v>23.0</c:v>
                </c:pt>
                <c:pt idx="30">
                  <c:v>23.0</c:v>
                </c:pt>
                <c:pt idx="31">
                  <c:v>24.0</c:v>
                </c:pt>
                <c:pt idx="32">
                  <c:v>24.0</c:v>
                </c:pt>
                <c:pt idx="33">
                  <c:v>25.0</c:v>
                </c:pt>
                <c:pt idx="34">
                  <c:v>25.0</c:v>
                </c:pt>
                <c:pt idx="35">
                  <c:v>29.0</c:v>
                </c:pt>
                <c:pt idx="36">
                  <c:v>29.0</c:v>
                </c:pt>
                <c:pt idx="37">
                  <c:v>32.0</c:v>
                </c:pt>
                <c:pt idx="38">
                  <c:v>32.0</c:v>
                </c:pt>
                <c:pt idx="39">
                  <c:v>34.0</c:v>
                </c:pt>
                <c:pt idx="40">
                  <c:v>34.0</c:v>
                </c:pt>
                <c:pt idx="41">
                  <c:v>41.0</c:v>
                </c:pt>
                <c:pt idx="42">
                  <c:v>41.0</c:v>
                </c:pt>
                <c:pt idx="43">
                  <c:v>42.0</c:v>
                </c:pt>
                <c:pt idx="44">
                  <c:v>42.0</c:v>
                </c:pt>
                <c:pt idx="45">
                  <c:v>44.0</c:v>
                </c:pt>
                <c:pt idx="46">
                  <c:v>44.0</c:v>
                </c:pt>
                <c:pt idx="47">
                  <c:v>45.0</c:v>
                </c:pt>
                <c:pt idx="48">
                  <c:v>45.0</c:v>
                </c:pt>
                <c:pt idx="49">
                  <c:v>47.0</c:v>
                </c:pt>
                <c:pt idx="50">
                  <c:v>47.0</c:v>
                </c:pt>
                <c:pt idx="51">
                  <c:v>48.0</c:v>
                </c:pt>
                <c:pt idx="52">
                  <c:v>48.0</c:v>
                </c:pt>
                <c:pt idx="53">
                  <c:v>50.0</c:v>
                </c:pt>
                <c:pt idx="54">
                  <c:v>50.0</c:v>
                </c:pt>
                <c:pt idx="55">
                  <c:v>55.0</c:v>
                </c:pt>
                <c:pt idx="56">
                  <c:v>55.0</c:v>
                </c:pt>
                <c:pt idx="57">
                  <c:v>56.0</c:v>
                </c:pt>
                <c:pt idx="58">
                  <c:v>56.0</c:v>
                </c:pt>
                <c:pt idx="59">
                  <c:v>57.0</c:v>
                </c:pt>
                <c:pt idx="60">
                  <c:v>57.0</c:v>
                </c:pt>
                <c:pt idx="61">
                  <c:v>60.0</c:v>
                </c:pt>
                <c:pt idx="62">
                  <c:v>60.0</c:v>
                </c:pt>
                <c:pt idx="63">
                  <c:v>65.0</c:v>
                </c:pt>
                <c:pt idx="64">
                  <c:v>65.0</c:v>
                </c:pt>
                <c:pt idx="65">
                  <c:v>66.0</c:v>
                </c:pt>
                <c:pt idx="66">
                  <c:v>66.0</c:v>
                </c:pt>
                <c:pt idx="67">
                  <c:v>67.0</c:v>
                </c:pt>
                <c:pt idx="68">
                  <c:v>67.0</c:v>
                </c:pt>
                <c:pt idx="69">
                  <c:v>69.0</c:v>
                </c:pt>
                <c:pt idx="70">
                  <c:v>69.0</c:v>
                </c:pt>
                <c:pt idx="71">
                  <c:v>70.0</c:v>
                </c:pt>
                <c:pt idx="72">
                  <c:v>70.0</c:v>
                </c:pt>
                <c:pt idx="73">
                  <c:v>71.0</c:v>
                </c:pt>
                <c:pt idx="74">
                  <c:v>71.0</c:v>
                </c:pt>
                <c:pt idx="75">
                  <c:v>72.0</c:v>
                </c:pt>
                <c:pt idx="76">
                  <c:v>72.0</c:v>
                </c:pt>
                <c:pt idx="77">
                  <c:v>78.0</c:v>
                </c:pt>
                <c:pt idx="78">
                  <c:v>78.0</c:v>
                </c:pt>
                <c:pt idx="79">
                  <c:v>79.0</c:v>
                </c:pt>
                <c:pt idx="80">
                  <c:v>79.0</c:v>
                </c:pt>
                <c:pt idx="81">
                  <c:v>80.0</c:v>
                </c:pt>
                <c:pt idx="82">
                  <c:v>80.0</c:v>
                </c:pt>
                <c:pt idx="83">
                  <c:v>81.0</c:v>
                </c:pt>
                <c:pt idx="84">
                  <c:v>81.0</c:v>
                </c:pt>
                <c:pt idx="85">
                  <c:v>82.0</c:v>
                </c:pt>
                <c:pt idx="86">
                  <c:v>82.0</c:v>
                </c:pt>
                <c:pt idx="87">
                  <c:v>87.0</c:v>
                </c:pt>
                <c:pt idx="88">
                  <c:v>87.0</c:v>
                </c:pt>
                <c:pt idx="89">
                  <c:v>90.0</c:v>
                </c:pt>
                <c:pt idx="90">
                  <c:v>90.0</c:v>
                </c:pt>
                <c:pt idx="91">
                  <c:v>94.0</c:v>
                </c:pt>
                <c:pt idx="92">
                  <c:v>94.0</c:v>
                </c:pt>
                <c:pt idx="93">
                  <c:v>100.0</c:v>
                </c:pt>
                <c:pt idx="94">
                  <c:v>100.0</c:v>
                </c:pt>
                <c:pt idx="95">
                  <c:v>104.0</c:v>
                </c:pt>
                <c:pt idx="96">
                  <c:v>104.0</c:v>
                </c:pt>
                <c:pt idx="97">
                  <c:v>114.0</c:v>
                </c:pt>
                <c:pt idx="98">
                  <c:v>114.0</c:v>
                </c:pt>
                <c:pt idx="99">
                  <c:v>137.0</c:v>
                </c:pt>
                <c:pt idx="100">
                  <c:v>137.0</c:v>
                </c:pt>
                <c:pt idx="101">
                  <c:v>139.0</c:v>
                </c:pt>
                <c:pt idx="102">
                  <c:v>139.0</c:v>
                </c:pt>
                <c:pt idx="103">
                  <c:v>158.0</c:v>
                </c:pt>
                <c:pt idx="104">
                  <c:v>158.0</c:v>
                </c:pt>
              </c:numCache>
            </c:numRef>
          </c:xVal>
          <c:yVal>
            <c:numRef>
              <c:f>Sheet1!$B$205:$B$309</c:f>
              <c:numCache>
                <c:formatCode>General</c:formatCode>
                <c:ptCount val="105"/>
                <c:pt idx="0">
                  <c:v>1.0</c:v>
                </c:pt>
                <c:pt idx="1">
                  <c:v>1.0</c:v>
                </c:pt>
                <c:pt idx="2">
                  <c:v>0.9873417721518987</c:v>
                </c:pt>
                <c:pt idx="3">
                  <c:v>0.9873417721518987</c:v>
                </c:pt>
                <c:pt idx="4">
                  <c:v>0.9620253164556962</c:v>
                </c:pt>
                <c:pt idx="5">
                  <c:v>0.9620253164556962</c:v>
                </c:pt>
                <c:pt idx="6">
                  <c:v>0.9367088607594941</c:v>
                </c:pt>
                <c:pt idx="7">
                  <c:v>0.9367088607594941</c:v>
                </c:pt>
                <c:pt idx="8">
                  <c:v>0.8734177215189876</c:v>
                </c:pt>
                <c:pt idx="9">
                  <c:v>0.8734177215189876</c:v>
                </c:pt>
                <c:pt idx="10">
                  <c:v>0.8607594936708863</c:v>
                </c:pt>
                <c:pt idx="11">
                  <c:v>0.8607594936708863</c:v>
                </c:pt>
                <c:pt idx="12">
                  <c:v>0.8481012658227846</c:v>
                </c:pt>
                <c:pt idx="13">
                  <c:v>0.8481012658227846</c:v>
                </c:pt>
                <c:pt idx="14">
                  <c:v>0.8354430379746832</c:v>
                </c:pt>
                <c:pt idx="15">
                  <c:v>0.8354430379746832</c:v>
                </c:pt>
                <c:pt idx="16">
                  <c:v>0.8101265822784807</c:v>
                </c:pt>
                <c:pt idx="17">
                  <c:v>0.8101265822784807</c:v>
                </c:pt>
                <c:pt idx="18">
                  <c:v>0.7974683544303797</c:v>
                </c:pt>
                <c:pt idx="19">
                  <c:v>0.7974683544303797</c:v>
                </c:pt>
                <c:pt idx="20">
                  <c:v>0.7721518987341773</c:v>
                </c:pt>
                <c:pt idx="21">
                  <c:v>0.7721518987341773</c:v>
                </c:pt>
                <c:pt idx="22">
                  <c:v>0.7468354430379749</c:v>
                </c:pt>
                <c:pt idx="23">
                  <c:v>0.7468354430379749</c:v>
                </c:pt>
                <c:pt idx="24">
                  <c:v>0.7341772151898732</c:v>
                </c:pt>
                <c:pt idx="25">
                  <c:v>0.7341772151898732</c:v>
                </c:pt>
                <c:pt idx="26">
                  <c:v>0.7088607594936712</c:v>
                </c:pt>
                <c:pt idx="27">
                  <c:v>0.7088607594936712</c:v>
                </c:pt>
                <c:pt idx="28">
                  <c:v>0.6962025316455698</c:v>
                </c:pt>
                <c:pt idx="29">
                  <c:v>0.6962025316455698</c:v>
                </c:pt>
                <c:pt idx="30">
                  <c:v>0.6835443037974684</c:v>
                </c:pt>
                <c:pt idx="31">
                  <c:v>0.6835443037974684</c:v>
                </c:pt>
                <c:pt idx="32">
                  <c:v>0.6708860759493672</c:v>
                </c:pt>
                <c:pt idx="33">
                  <c:v>0.6708860759493672</c:v>
                </c:pt>
                <c:pt idx="34">
                  <c:v>0.6329113924050632</c:v>
                </c:pt>
                <c:pt idx="35">
                  <c:v>0.6329113924050632</c:v>
                </c:pt>
                <c:pt idx="36">
                  <c:v>0.6202531645569619</c:v>
                </c:pt>
                <c:pt idx="37">
                  <c:v>0.6202531645569619</c:v>
                </c:pt>
                <c:pt idx="38">
                  <c:v>0.6075949367088609</c:v>
                </c:pt>
                <c:pt idx="39">
                  <c:v>0.6075949367088609</c:v>
                </c:pt>
                <c:pt idx="40">
                  <c:v>0.5696202531645569</c:v>
                </c:pt>
                <c:pt idx="41">
                  <c:v>0.5696202531645569</c:v>
                </c:pt>
                <c:pt idx="42">
                  <c:v>0.5443037974683544</c:v>
                </c:pt>
                <c:pt idx="43">
                  <c:v>0.5443037974683544</c:v>
                </c:pt>
                <c:pt idx="44">
                  <c:v>0.518987341772152</c:v>
                </c:pt>
                <c:pt idx="45">
                  <c:v>0.518987341772152</c:v>
                </c:pt>
                <c:pt idx="46">
                  <c:v>0.4936708860759493</c:v>
                </c:pt>
                <c:pt idx="47">
                  <c:v>0.4936708860759493</c:v>
                </c:pt>
                <c:pt idx="48">
                  <c:v>0.48101265822784806</c:v>
                </c:pt>
                <c:pt idx="49">
                  <c:v>0.48101265822784806</c:v>
                </c:pt>
                <c:pt idx="50">
                  <c:v>0.45569620253164556</c:v>
                </c:pt>
                <c:pt idx="51">
                  <c:v>0.45569620253164556</c:v>
                </c:pt>
                <c:pt idx="52">
                  <c:v>0.4430379746835442</c:v>
                </c:pt>
                <c:pt idx="53">
                  <c:v>0.4430379746835442</c:v>
                </c:pt>
                <c:pt idx="54">
                  <c:v>0.4050632911392405</c:v>
                </c:pt>
                <c:pt idx="55">
                  <c:v>0.4050632911392405</c:v>
                </c:pt>
                <c:pt idx="56">
                  <c:v>0.3924050632911392</c:v>
                </c:pt>
                <c:pt idx="57">
                  <c:v>0.3924050632911392</c:v>
                </c:pt>
                <c:pt idx="58">
                  <c:v>0.3544303797468354</c:v>
                </c:pt>
                <c:pt idx="59">
                  <c:v>0.3544303797468354</c:v>
                </c:pt>
                <c:pt idx="60">
                  <c:v>0.32911392405063294</c:v>
                </c:pt>
                <c:pt idx="61">
                  <c:v>0.32911392405063294</c:v>
                </c:pt>
                <c:pt idx="62">
                  <c:v>0.3164556962025316</c:v>
                </c:pt>
                <c:pt idx="63">
                  <c:v>0.3164556962025316</c:v>
                </c:pt>
                <c:pt idx="64">
                  <c:v>0.30379746835443044</c:v>
                </c:pt>
                <c:pt idx="65">
                  <c:v>0.30379746835443044</c:v>
                </c:pt>
                <c:pt idx="66">
                  <c:v>0.2911392405063291</c:v>
                </c:pt>
                <c:pt idx="67">
                  <c:v>0.2911392405063291</c:v>
                </c:pt>
                <c:pt idx="68">
                  <c:v>0.2658227848101266</c:v>
                </c:pt>
                <c:pt idx="69">
                  <c:v>0.2658227848101266</c:v>
                </c:pt>
                <c:pt idx="70">
                  <c:v>0.240506329113924</c:v>
                </c:pt>
                <c:pt idx="71">
                  <c:v>0.240506329113924</c:v>
                </c:pt>
                <c:pt idx="72">
                  <c:v>0.22784810126582275</c:v>
                </c:pt>
                <c:pt idx="73">
                  <c:v>0.22784810126582275</c:v>
                </c:pt>
                <c:pt idx="74">
                  <c:v>0.21518987341772153</c:v>
                </c:pt>
                <c:pt idx="75">
                  <c:v>0.21518987341772153</c:v>
                </c:pt>
                <c:pt idx="76">
                  <c:v>0.189873417721519</c:v>
                </c:pt>
                <c:pt idx="77">
                  <c:v>0.189873417721519</c:v>
                </c:pt>
                <c:pt idx="78">
                  <c:v>0.1772151898734177</c:v>
                </c:pt>
                <c:pt idx="79">
                  <c:v>0.1772151898734177</c:v>
                </c:pt>
                <c:pt idx="80">
                  <c:v>0.16455696202531644</c:v>
                </c:pt>
                <c:pt idx="81">
                  <c:v>0.16455696202531644</c:v>
                </c:pt>
                <c:pt idx="82">
                  <c:v>0.13924050632911394</c:v>
                </c:pt>
                <c:pt idx="83">
                  <c:v>0.13924050632911394</c:v>
                </c:pt>
                <c:pt idx="84">
                  <c:v>0.1265822784810127</c:v>
                </c:pt>
                <c:pt idx="85">
                  <c:v>0.1265822784810127</c:v>
                </c:pt>
                <c:pt idx="86">
                  <c:v>0.11392405063291142</c:v>
                </c:pt>
                <c:pt idx="87">
                  <c:v>0.11392405063291142</c:v>
                </c:pt>
                <c:pt idx="88">
                  <c:v>0.10126582278481011</c:v>
                </c:pt>
                <c:pt idx="89">
                  <c:v>0.10126582278481011</c:v>
                </c:pt>
                <c:pt idx="90">
                  <c:v>0.08860759493670887</c:v>
                </c:pt>
                <c:pt idx="91">
                  <c:v>0.08860759493670887</c:v>
                </c:pt>
                <c:pt idx="92">
                  <c:v>0.07594936708860762</c:v>
                </c:pt>
                <c:pt idx="93">
                  <c:v>0.07594936708860762</c:v>
                </c:pt>
                <c:pt idx="94">
                  <c:v>0.06329113924050633</c:v>
                </c:pt>
                <c:pt idx="95">
                  <c:v>0.06329113924050633</c:v>
                </c:pt>
                <c:pt idx="96">
                  <c:v>0.05063291139240507</c:v>
                </c:pt>
                <c:pt idx="97">
                  <c:v>0.05063291139240507</c:v>
                </c:pt>
                <c:pt idx="98">
                  <c:v>0.03797468354430381</c:v>
                </c:pt>
                <c:pt idx="99">
                  <c:v>0.03797468354430381</c:v>
                </c:pt>
                <c:pt idx="100">
                  <c:v>0.025316455696202535</c:v>
                </c:pt>
                <c:pt idx="101">
                  <c:v>0.025316455696202535</c:v>
                </c:pt>
                <c:pt idx="102">
                  <c:v>0.012658227848101266</c:v>
                </c:pt>
                <c:pt idx="103">
                  <c:v>0.012658227848101266</c:v>
                </c:pt>
                <c:pt idx="104">
                  <c:v>0.0</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legend>
      <c:legendPos val="t"/>
      <c:layout/>
      <c:overlay val="0"/>
      <c:txPr>
        <a:bodyPr/>
        <a:lstStyle/>
        <a:p>
          <a:pPr>
            <a:defRPr sz="1300">
              <a:solidFill>
                <a:srgbClr val="17203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Conventional (median 58 wk)</c:v>
                </c:pt>
              </c:strCache>
            </c:strRef>
          </c:tx>
          <c:spPr>
            <a:ln w="31750">
              <a:solidFill>
                <a:srgbClr val="2A78D6"/>
              </a:solidFill>
            </a:ln>
          </c:spPr>
          <c:marker>
            <c:symbol val="none"/>
          </c:marker>
          <c:xVal>
            <c:numRef>
              <c:f>Sheet1!$A$2:$A$156</c:f>
              <c:numCache>
                <c:formatCode>General</c:formatCode>
                <c:ptCount val="155"/>
                <c:pt idx="0">
                  <c:v>0.0</c:v>
                </c:pt>
                <c:pt idx="1">
                  <c:v>9.0</c:v>
                </c:pt>
                <c:pt idx="2">
                  <c:v>9.0</c:v>
                </c:pt>
                <c:pt idx="3">
                  <c:v>10.0</c:v>
                </c:pt>
                <c:pt idx="4">
                  <c:v>10.0</c:v>
                </c:pt>
                <c:pt idx="5">
                  <c:v>13.0</c:v>
                </c:pt>
                <c:pt idx="6">
                  <c:v>13.0</c:v>
                </c:pt>
                <c:pt idx="7">
                  <c:v>15.0</c:v>
                </c:pt>
                <c:pt idx="8">
                  <c:v>15.0</c:v>
                </c:pt>
                <c:pt idx="9">
                  <c:v>17.0</c:v>
                </c:pt>
                <c:pt idx="10">
                  <c:v>17.0</c:v>
                </c:pt>
                <c:pt idx="11">
                  <c:v>18.0</c:v>
                </c:pt>
                <c:pt idx="12">
                  <c:v>18.0</c:v>
                </c:pt>
                <c:pt idx="13">
                  <c:v>19.0</c:v>
                </c:pt>
                <c:pt idx="14">
                  <c:v>19.0</c:v>
                </c:pt>
                <c:pt idx="15">
                  <c:v>21.0</c:v>
                </c:pt>
                <c:pt idx="16">
                  <c:v>21.0</c:v>
                </c:pt>
                <c:pt idx="17">
                  <c:v>22.0</c:v>
                </c:pt>
                <c:pt idx="18">
                  <c:v>22.0</c:v>
                </c:pt>
                <c:pt idx="19">
                  <c:v>25.0</c:v>
                </c:pt>
                <c:pt idx="20">
                  <c:v>25.0</c:v>
                </c:pt>
                <c:pt idx="21">
                  <c:v>26.0</c:v>
                </c:pt>
                <c:pt idx="22">
                  <c:v>26.0</c:v>
                </c:pt>
                <c:pt idx="23">
                  <c:v>28.0</c:v>
                </c:pt>
                <c:pt idx="24">
                  <c:v>28.0</c:v>
                </c:pt>
                <c:pt idx="25">
                  <c:v>29.0</c:v>
                </c:pt>
                <c:pt idx="26">
                  <c:v>29.0</c:v>
                </c:pt>
                <c:pt idx="27">
                  <c:v>32.0</c:v>
                </c:pt>
                <c:pt idx="28">
                  <c:v>32.0</c:v>
                </c:pt>
                <c:pt idx="29">
                  <c:v>34.0</c:v>
                </c:pt>
                <c:pt idx="30">
                  <c:v>34.0</c:v>
                </c:pt>
                <c:pt idx="31">
                  <c:v>35.0</c:v>
                </c:pt>
                <c:pt idx="32">
                  <c:v>35.0</c:v>
                </c:pt>
                <c:pt idx="33">
                  <c:v>36.0</c:v>
                </c:pt>
                <c:pt idx="34">
                  <c:v>36.0</c:v>
                </c:pt>
                <c:pt idx="35">
                  <c:v>40.0</c:v>
                </c:pt>
                <c:pt idx="36">
                  <c:v>40.0</c:v>
                </c:pt>
                <c:pt idx="37">
                  <c:v>41.0</c:v>
                </c:pt>
                <c:pt idx="38">
                  <c:v>41.0</c:v>
                </c:pt>
                <c:pt idx="39">
                  <c:v>42.0</c:v>
                </c:pt>
                <c:pt idx="40">
                  <c:v>42.0</c:v>
                </c:pt>
                <c:pt idx="41">
                  <c:v>43.0</c:v>
                </c:pt>
                <c:pt idx="42">
                  <c:v>43.0</c:v>
                </c:pt>
                <c:pt idx="43">
                  <c:v>44.0</c:v>
                </c:pt>
                <c:pt idx="44">
                  <c:v>44.0</c:v>
                </c:pt>
                <c:pt idx="45">
                  <c:v>45.0</c:v>
                </c:pt>
                <c:pt idx="46">
                  <c:v>45.0</c:v>
                </c:pt>
                <c:pt idx="47">
                  <c:v>46.0</c:v>
                </c:pt>
                <c:pt idx="48">
                  <c:v>46.0</c:v>
                </c:pt>
                <c:pt idx="49">
                  <c:v>47.0</c:v>
                </c:pt>
                <c:pt idx="50">
                  <c:v>47.0</c:v>
                </c:pt>
                <c:pt idx="51">
                  <c:v>48.0</c:v>
                </c:pt>
                <c:pt idx="52">
                  <c:v>48.0</c:v>
                </c:pt>
                <c:pt idx="53">
                  <c:v>49.0</c:v>
                </c:pt>
                <c:pt idx="54">
                  <c:v>49.0</c:v>
                </c:pt>
                <c:pt idx="55">
                  <c:v>50.0</c:v>
                </c:pt>
                <c:pt idx="56">
                  <c:v>50.0</c:v>
                </c:pt>
                <c:pt idx="57">
                  <c:v>51.0</c:v>
                </c:pt>
                <c:pt idx="58">
                  <c:v>51.0</c:v>
                </c:pt>
                <c:pt idx="59">
                  <c:v>52.0</c:v>
                </c:pt>
                <c:pt idx="60">
                  <c:v>52.0</c:v>
                </c:pt>
                <c:pt idx="61">
                  <c:v>53.0</c:v>
                </c:pt>
                <c:pt idx="62">
                  <c:v>53.0</c:v>
                </c:pt>
                <c:pt idx="63">
                  <c:v>54.0</c:v>
                </c:pt>
                <c:pt idx="64">
                  <c:v>54.0</c:v>
                </c:pt>
                <c:pt idx="65">
                  <c:v>55.0</c:v>
                </c:pt>
                <c:pt idx="66">
                  <c:v>55.0</c:v>
                </c:pt>
                <c:pt idx="67">
                  <c:v>56.0</c:v>
                </c:pt>
                <c:pt idx="68">
                  <c:v>56.0</c:v>
                </c:pt>
                <c:pt idx="69">
                  <c:v>57.0</c:v>
                </c:pt>
                <c:pt idx="70">
                  <c:v>57.0</c:v>
                </c:pt>
                <c:pt idx="71">
                  <c:v>58.0</c:v>
                </c:pt>
                <c:pt idx="72">
                  <c:v>58.0</c:v>
                </c:pt>
                <c:pt idx="73">
                  <c:v>60.0</c:v>
                </c:pt>
                <c:pt idx="74">
                  <c:v>60.0</c:v>
                </c:pt>
                <c:pt idx="75">
                  <c:v>61.0</c:v>
                </c:pt>
                <c:pt idx="76">
                  <c:v>61.0</c:v>
                </c:pt>
                <c:pt idx="77">
                  <c:v>63.0</c:v>
                </c:pt>
                <c:pt idx="78">
                  <c:v>63.0</c:v>
                </c:pt>
                <c:pt idx="79">
                  <c:v>64.0</c:v>
                </c:pt>
                <c:pt idx="80">
                  <c:v>64.0</c:v>
                </c:pt>
                <c:pt idx="81">
                  <c:v>65.0</c:v>
                </c:pt>
                <c:pt idx="82">
                  <c:v>65.0</c:v>
                </c:pt>
                <c:pt idx="83">
                  <c:v>66.0</c:v>
                </c:pt>
                <c:pt idx="84">
                  <c:v>66.0</c:v>
                </c:pt>
                <c:pt idx="85">
                  <c:v>67.0</c:v>
                </c:pt>
                <c:pt idx="86">
                  <c:v>67.0</c:v>
                </c:pt>
                <c:pt idx="87">
                  <c:v>69.0</c:v>
                </c:pt>
                <c:pt idx="88">
                  <c:v>69.0</c:v>
                </c:pt>
                <c:pt idx="89">
                  <c:v>70.0</c:v>
                </c:pt>
                <c:pt idx="90">
                  <c:v>70.0</c:v>
                </c:pt>
                <c:pt idx="91">
                  <c:v>71.0</c:v>
                </c:pt>
                <c:pt idx="92">
                  <c:v>71.0</c:v>
                </c:pt>
                <c:pt idx="93">
                  <c:v>72.0</c:v>
                </c:pt>
                <c:pt idx="94">
                  <c:v>72.0</c:v>
                </c:pt>
                <c:pt idx="95">
                  <c:v>73.0</c:v>
                </c:pt>
                <c:pt idx="96">
                  <c:v>73.0</c:v>
                </c:pt>
                <c:pt idx="97">
                  <c:v>74.0</c:v>
                </c:pt>
                <c:pt idx="98">
                  <c:v>74.0</c:v>
                </c:pt>
                <c:pt idx="99">
                  <c:v>76.0</c:v>
                </c:pt>
                <c:pt idx="100">
                  <c:v>76.0</c:v>
                </c:pt>
                <c:pt idx="101">
                  <c:v>77.0</c:v>
                </c:pt>
                <c:pt idx="102">
                  <c:v>77.0</c:v>
                </c:pt>
                <c:pt idx="103">
                  <c:v>79.0</c:v>
                </c:pt>
                <c:pt idx="104">
                  <c:v>79.0</c:v>
                </c:pt>
                <c:pt idx="105">
                  <c:v>80.0</c:v>
                </c:pt>
                <c:pt idx="106">
                  <c:v>80.0</c:v>
                </c:pt>
                <c:pt idx="107">
                  <c:v>87.0</c:v>
                </c:pt>
                <c:pt idx="108">
                  <c:v>87.0</c:v>
                </c:pt>
                <c:pt idx="109">
                  <c:v>90.0</c:v>
                </c:pt>
                <c:pt idx="110">
                  <c:v>90.0</c:v>
                </c:pt>
                <c:pt idx="111">
                  <c:v>94.0</c:v>
                </c:pt>
                <c:pt idx="112">
                  <c:v>94.0</c:v>
                </c:pt>
                <c:pt idx="113">
                  <c:v>95.0</c:v>
                </c:pt>
                <c:pt idx="114">
                  <c:v>95.0</c:v>
                </c:pt>
                <c:pt idx="115">
                  <c:v>97.0</c:v>
                </c:pt>
                <c:pt idx="116">
                  <c:v>97.0</c:v>
                </c:pt>
                <c:pt idx="117">
                  <c:v>100.0</c:v>
                </c:pt>
                <c:pt idx="118">
                  <c:v>100.0</c:v>
                </c:pt>
                <c:pt idx="119">
                  <c:v>103.0</c:v>
                </c:pt>
                <c:pt idx="120">
                  <c:v>103.0</c:v>
                </c:pt>
                <c:pt idx="121">
                  <c:v>109.0</c:v>
                </c:pt>
                <c:pt idx="122">
                  <c:v>109.0</c:v>
                </c:pt>
                <c:pt idx="123">
                  <c:v>111.0</c:v>
                </c:pt>
                <c:pt idx="124">
                  <c:v>111.0</c:v>
                </c:pt>
                <c:pt idx="125">
                  <c:v>114.0</c:v>
                </c:pt>
                <c:pt idx="126">
                  <c:v>114.0</c:v>
                </c:pt>
                <c:pt idx="127">
                  <c:v>115.0</c:v>
                </c:pt>
                <c:pt idx="128">
                  <c:v>115.0</c:v>
                </c:pt>
                <c:pt idx="129">
                  <c:v>117.0</c:v>
                </c:pt>
                <c:pt idx="130">
                  <c:v>117.0</c:v>
                </c:pt>
                <c:pt idx="131">
                  <c:v>118.0</c:v>
                </c:pt>
                <c:pt idx="132">
                  <c:v>118.0</c:v>
                </c:pt>
                <c:pt idx="133">
                  <c:v>127.0</c:v>
                </c:pt>
                <c:pt idx="134">
                  <c:v>127.0</c:v>
                </c:pt>
                <c:pt idx="135">
                  <c:v>129.0</c:v>
                </c:pt>
                <c:pt idx="136">
                  <c:v>129.0</c:v>
                </c:pt>
                <c:pt idx="137">
                  <c:v>130.0</c:v>
                </c:pt>
                <c:pt idx="138">
                  <c:v>130.0</c:v>
                </c:pt>
                <c:pt idx="139">
                  <c:v>137.0</c:v>
                </c:pt>
                <c:pt idx="140">
                  <c:v>137.0</c:v>
                </c:pt>
                <c:pt idx="141">
                  <c:v>139.0</c:v>
                </c:pt>
                <c:pt idx="142">
                  <c:v>139.0</c:v>
                </c:pt>
                <c:pt idx="143">
                  <c:v>149.0</c:v>
                </c:pt>
                <c:pt idx="144">
                  <c:v>149.0</c:v>
                </c:pt>
                <c:pt idx="145">
                  <c:v>150.0</c:v>
                </c:pt>
                <c:pt idx="146">
                  <c:v>150.0</c:v>
                </c:pt>
                <c:pt idx="147">
                  <c:v>155.0</c:v>
                </c:pt>
                <c:pt idx="148">
                  <c:v>155.0</c:v>
                </c:pt>
                <c:pt idx="149">
                  <c:v>158.0</c:v>
                </c:pt>
                <c:pt idx="150">
                  <c:v>158.0</c:v>
                </c:pt>
                <c:pt idx="151">
                  <c:v>159.0</c:v>
                </c:pt>
                <c:pt idx="152">
                  <c:v>159.0</c:v>
                </c:pt>
                <c:pt idx="153">
                  <c:v>170.0</c:v>
                </c:pt>
                <c:pt idx="154">
                  <c:v>170.0</c:v>
                </c:pt>
              </c:numCache>
            </c:numRef>
          </c:xVal>
          <c:yVal>
            <c:numRef>
              <c:f>Sheet1!$B$2:$B$156</c:f>
              <c:numCache>
                <c:formatCode>General</c:formatCode>
                <c:ptCount val="155"/>
                <c:pt idx="0">
                  <c:v>1.0</c:v>
                </c:pt>
                <c:pt idx="1">
                  <c:v>1.0</c:v>
                </c:pt>
                <c:pt idx="2">
                  <c:v>0.9846153846153846</c:v>
                </c:pt>
                <c:pt idx="3">
                  <c:v>0.9846153846153846</c:v>
                </c:pt>
                <c:pt idx="4">
                  <c:v>0.9769230769230771</c:v>
                </c:pt>
                <c:pt idx="5">
                  <c:v>0.9769230769230771</c:v>
                </c:pt>
                <c:pt idx="6">
                  <c:v>0.9615384615384621</c:v>
                </c:pt>
                <c:pt idx="7">
                  <c:v>0.9615384615384621</c:v>
                </c:pt>
                <c:pt idx="8">
                  <c:v>0.9538461538461542</c:v>
                </c:pt>
                <c:pt idx="9">
                  <c:v>0.9538461538461542</c:v>
                </c:pt>
                <c:pt idx="10">
                  <c:v>0.9307692307692312</c:v>
                </c:pt>
                <c:pt idx="11">
                  <c:v>0.9307692307692312</c:v>
                </c:pt>
                <c:pt idx="12">
                  <c:v>0.9153846153846158</c:v>
                </c:pt>
                <c:pt idx="13">
                  <c:v>0.9153846153846158</c:v>
                </c:pt>
                <c:pt idx="14">
                  <c:v>0.9076923076923082</c:v>
                </c:pt>
                <c:pt idx="15">
                  <c:v>0.9076923076923082</c:v>
                </c:pt>
                <c:pt idx="16">
                  <c:v>0.8923076923076924</c:v>
                </c:pt>
                <c:pt idx="17">
                  <c:v>0.8923076923076924</c:v>
                </c:pt>
                <c:pt idx="18">
                  <c:v>0.8769230769230772</c:v>
                </c:pt>
                <c:pt idx="19">
                  <c:v>0.8769230769230772</c:v>
                </c:pt>
                <c:pt idx="20">
                  <c:v>0.8538461538461538</c:v>
                </c:pt>
                <c:pt idx="21">
                  <c:v>0.8538461538461538</c:v>
                </c:pt>
                <c:pt idx="22">
                  <c:v>0.8461538461538466</c:v>
                </c:pt>
                <c:pt idx="23">
                  <c:v>0.8461538461538466</c:v>
                </c:pt>
                <c:pt idx="24">
                  <c:v>0.8384615384615385</c:v>
                </c:pt>
                <c:pt idx="25">
                  <c:v>0.8384615384615385</c:v>
                </c:pt>
                <c:pt idx="26">
                  <c:v>0.8230769230769229</c:v>
                </c:pt>
                <c:pt idx="27">
                  <c:v>0.8230769230769229</c:v>
                </c:pt>
                <c:pt idx="28">
                  <c:v>0.8153846153846154</c:v>
                </c:pt>
                <c:pt idx="29">
                  <c:v>0.8153846153846154</c:v>
                </c:pt>
                <c:pt idx="30">
                  <c:v>0.8</c:v>
                </c:pt>
                <c:pt idx="31">
                  <c:v>0.8</c:v>
                </c:pt>
                <c:pt idx="32">
                  <c:v>0.7923076923076926</c:v>
                </c:pt>
                <c:pt idx="33">
                  <c:v>0.7923076923076926</c:v>
                </c:pt>
                <c:pt idx="34">
                  <c:v>0.7846153846153845</c:v>
                </c:pt>
                <c:pt idx="35">
                  <c:v>0.7846153846153845</c:v>
                </c:pt>
                <c:pt idx="36">
                  <c:v>0.7615384615384616</c:v>
                </c:pt>
                <c:pt idx="37">
                  <c:v>0.7615384615384616</c:v>
                </c:pt>
                <c:pt idx="38">
                  <c:v>0.7538461538461543</c:v>
                </c:pt>
                <c:pt idx="39">
                  <c:v>0.7538461538461543</c:v>
                </c:pt>
                <c:pt idx="40">
                  <c:v>0.7384615384615385</c:v>
                </c:pt>
                <c:pt idx="41">
                  <c:v>0.7384615384615385</c:v>
                </c:pt>
                <c:pt idx="42">
                  <c:v>0.7230769230769232</c:v>
                </c:pt>
                <c:pt idx="43">
                  <c:v>0.7230769230769232</c:v>
                </c:pt>
                <c:pt idx="44">
                  <c:v>0.707692307692308</c:v>
                </c:pt>
                <c:pt idx="45">
                  <c:v>0.707692307692308</c:v>
                </c:pt>
                <c:pt idx="46">
                  <c:v>0.6923076923076924</c:v>
                </c:pt>
                <c:pt idx="47">
                  <c:v>0.6923076923076924</c:v>
                </c:pt>
                <c:pt idx="48">
                  <c:v>0.6846153846153846</c:v>
                </c:pt>
                <c:pt idx="49">
                  <c:v>0.6846153846153846</c:v>
                </c:pt>
                <c:pt idx="50">
                  <c:v>0.6692307692307694</c:v>
                </c:pt>
                <c:pt idx="51">
                  <c:v>0.6692307692307694</c:v>
                </c:pt>
                <c:pt idx="52">
                  <c:v>0.6538461538461542</c:v>
                </c:pt>
                <c:pt idx="53">
                  <c:v>0.6538461538461542</c:v>
                </c:pt>
                <c:pt idx="54">
                  <c:v>0.6461538461538462</c:v>
                </c:pt>
                <c:pt idx="55">
                  <c:v>0.6461538461538462</c:v>
                </c:pt>
                <c:pt idx="56">
                  <c:v>0.6307692307692311</c:v>
                </c:pt>
                <c:pt idx="57">
                  <c:v>0.6307692307692311</c:v>
                </c:pt>
                <c:pt idx="58">
                  <c:v>0.6153846153846153</c:v>
                </c:pt>
                <c:pt idx="59">
                  <c:v>0.6153846153846153</c:v>
                </c:pt>
                <c:pt idx="60">
                  <c:v>0.6076923076923079</c:v>
                </c:pt>
                <c:pt idx="61">
                  <c:v>0.6076923076923079</c:v>
                </c:pt>
                <c:pt idx="62">
                  <c:v>0.5846153846153848</c:v>
                </c:pt>
                <c:pt idx="63">
                  <c:v>0.5846153846153848</c:v>
                </c:pt>
                <c:pt idx="64">
                  <c:v>0.553846153846154</c:v>
                </c:pt>
                <c:pt idx="65">
                  <c:v>0.553846153846154</c:v>
                </c:pt>
                <c:pt idx="66">
                  <c:v>0.5461538461538463</c:v>
                </c:pt>
                <c:pt idx="67">
                  <c:v>0.5461538461538463</c:v>
                </c:pt>
                <c:pt idx="68">
                  <c:v>0.5230769230769233</c:v>
                </c:pt>
                <c:pt idx="69">
                  <c:v>0.5230769230769233</c:v>
                </c:pt>
                <c:pt idx="70">
                  <c:v>0.5076923076923077</c:v>
                </c:pt>
                <c:pt idx="71">
                  <c:v>0.5076923076923077</c:v>
                </c:pt>
                <c:pt idx="72">
                  <c:v>0.4923076923076922</c:v>
                </c:pt>
                <c:pt idx="73">
                  <c:v>0.4923076923076922</c:v>
                </c:pt>
                <c:pt idx="74">
                  <c:v>0.47692307692307706</c:v>
                </c:pt>
                <c:pt idx="75">
                  <c:v>0.47692307692307706</c:v>
                </c:pt>
                <c:pt idx="76">
                  <c:v>0.45384615384615407</c:v>
                </c:pt>
                <c:pt idx="77">
                  <c:v>0.45384615384615407</c:v>
                </c:pt>
                <c:pt idx="78">
                  <c:v>0.4384615384615386</c:v>
                </c:pt>
                <c:pt idx="79">
                  <c:v>0.4384615384615386</c:v>
                </c:pt>
                <c:pt idx="80">
                  <c:v>0.43076923076923107</c:v>
                </c:pt>
                <c:pt idx="81">
                  <c:v>0.43076923076923107</c:v>
                </c:pt>
                <c:pt idx="82">
                  <c:v>0.4230769230769233</c:v>
                </c:pt>
                <c:pt idx="83">
                  <c:v>0.4230769230769233</c:v>
                </c:pt>
                <c:pt idx="84">
                  <c:v>0.4000000000000002</c:v>
                </c:pt>
                <c:pt idx="85">
                  <c:v>0.4000000000000002</c:v>
                </c:pt>
                <c:pt idx="86">
                  <c:v>0.37692307692307697</c:v>
                </c:pt>
                <c:pt idx="87">
                  <c:v>0.37692307692307697</c:v>
                </c:pt>
                <c:pt idx="88">
                  <c:v>0.3692307692307694</c:v>
                </c:pt>
                <c:pt idx="89">
                  <c:v>0.3692307692307694</c:v>
                </c:pt>
                <c:pt idx="90">
                  <c:v>0.3461538461538462</c:v>
                </c:pt>
                <c:pt idx="91">
                  <c:v>0.3461538461538462</c:v>
                </c:pt>
                <c:pt idx="92">
                  <c:v>0.3307692307692308</c:v>
                </c:pt>
                <c:pt idx="93">
                  <c:v>0.3307692307692308</c:v>
                </c:pt>
                <c:pt idx="94">
                  <c:v>0.30769230769230776</c:v>
                </c:pt>
                <c:pt idx="95">
                  <c:v>0.30769230769230776</c:v>
                </c:pt>
                <c:pt idx="96">
                  <c:v>0.2923076923076923</c:v>
                </c:pt>
                <c:pt idx="97">
                  <c:v>0.2923076923076923</c:v>
                </c:pt>
                <c:pt idx="98">
                  <c:v>0.28461538461538466</c:v>
                </c:pt>
                <c:pt idx="99">
                  <c:v>0.28461538461538466</c:v>
                </c:pt>
                <c:pt idx="100">
                  <c:v>0.2692307692307693</c:v>
                </c:pt>
                <c:pt idx="101">
                  <c:v>0.2692307692307693</c:v>
                </c:pt>
                <c:pt idx="102">
                  <c:v>0.2538461538461539</c:v>
                </c:pt>
                <c:pt idx="103">
                  <c:v>0.2538461538461539</c:v>
                </c:pt>
                <c:pt idx="104">
                  <c:v>0.2461538461538462</c:v>
                </c:pt>
                <c:pt idx="105">
                  <c:v>0.2461538461538462</c:v>
                </c:pt>
                <c:pt idx="106">
                  <c:v>0.23846153846153853</c:v>
                </c:pt>
                <c:pt idx="107">
                  <c:v>0.23846153846153853</c:v>
                </c:pt>
                <c:pt idx="108">
                  <c:v>0.23076923076923084</c:v>
                </c:pt>
                <c:pt idx="109">
                  <c:v>0.23076923076923084</c:v>
                </c:pt>
                <c:pt idx="110">
                  <c:v>0.22307692307692314</c:v>
                </c:pt>
                <c:pt idx="111">
                  <c:v>0.22307692307692314</c:v>
                </c:pt>
                <c:pt idx="112">
                  <c:v>0.20769230769230776</c:v>
                </c:pt>
                <c:pt idx="113">
                  <c:v>0.20769230769230776</c:v>
                </c:pt>
                <c:pt idx="114">
                  <c:v>0.18461538461538468</c:v>
                </c:pt>
                <c:pt idx="115">
                  <c:v>0.18461538461538468</c:v>
                </c:pt>
                <c:pt idx="116">
                  <c:v>0.17692307692307696</c:v>
                </c:pt>
                <c:pt idx="117">
                  <c:v>0.17692307692307696</c:v>
                </c:pt>
                <c:pt idx="118">
                  <c:v>0.1692307692307693</c:v>
                </c:pt>
                <c:pt idx="119">
                  <c:v>0.1692307692307693</c:v>
                </c:pt>
                <c:pt idx="120">
                  <c:v>0.15384615384615385</c:v>
                </c:pt>
                <c:pt idx="121">
                  <c:v>0.15384615384615385</c:v>
                </c:pt>
                <c:pt idx="122">
                  <c:v>0.14615384615384616</c:v>
                </c:pt>
                <c:pt idx="123">
                  <c:v>0.14615384615384616</c:v>
                </c:pt>
                <c:pt idx="124">
                  <c:v>0.13846153846153847</c:v>
                </c:pt>
                <c:pt idx="125">
                  <c:v>0.13846153846153847</c:v>
                </c:pt>
                <c:pt idx="126">
                  <c:v>0.1230769230769231</c:v>
                </c:pt>
                <c:pt idx="127">
                  <c:v>0.1230769230769231</c:v>
                </c:pt>
                <c:pt idx="128">
                  <c:v>0.1153846153846154</c:v>
                </c:pt>
                <c:pt idx="129">
                  <c:v>0.1153846153846154</c:v>
                </c:pt>
                <c:pt idx="130">
                  <c:v>0.1076923076923077</c:v>
                </c:pt>
                <c:pt idx="131">
                  <c:v>0.1076923076923077</c:v>
                </c:pt>
                <c:pt idx="132">
                  <c:v>0.10000000000000002</c:v>
                </c:pt>
                <c:pt idx="133">
                  <c:v>0.10000000000000002</c:v>
                </c:pt>
                <c:pt idx="134">
                  <c:v>0.09230769230769233</c:v>
                </c:pt>
                <c:pt idx="135">
                  <c:v>0.09230769230769233</c:v>
                </c:pt>
                <c:pt idx="136">
                  <c:v>0.08461538461538465</c:v>
                </c:pt>
                <c:pt idx="137">
                  <c:v>0.08461538461538465</c:v>
                </c:pt>
                <c:pt idx="138">
                  <c:v>0.07692307692307696</c:v>
                </c:pt>
                <c:pt idx="139">
                  <c:v>0.07692307692307696</c:v>
                </c:pt>
                <c:pt idx="140">
                  <c:v>0.06923076923076926</c:v>
                </c:pt>
                <c:pt idx="141">
                  <c:v>0.06923076923076926</c:v>
                </c:pt>
                <c:pt idx="142">
                  <c:v>0.06153846153846154</c:v>
                </c:pt>
                <c:pt idx="143">
                  <c:v>0.06153846153846154</c:v>
                </c:pt>
                <c:pt idx="144">
                  <c:v>0.05384615384615386</c:v>
                </c:pt>
                <c:pt idx="145">
                  <c:v>0.05384615384615386</c:v>
                </c:pt>
                <c:pt idx="146">
                  <c:v>0.046153846153846184</c:v>
                </c:pt>
                <c:pt idx="147">
                  <c:v>0.046153846153846184</c:v>
                </c:pt>
                <c:pt idx="148">
                  <c:v>0.03846153846153848</c:v>
                </c:pt>
                <c:pt idx="149">
                  <c:v>0.03846153846153848</c:v>
                </c:pt>
                <c:pt idx="150">
                  <c:v>0.03076923076923078</c:v>
                </c:pt>
                <c:pt idx="151">
                  <c:v>0.03076923076923078</c:v>
                </c:pt>
                <c:pt idx="152">
                  <c:v>0.02307692307692309</c:v>
                </c:pt>
                <c:pt idx="153">
                  <c:v>0.02307692307692309</c:v>
                </c:pt>
                <c:pt idx="154">
                  <c:v>0.015384615384615389</c:v>
                </c:pt>
              </c:numCache>
            </c:numRef>
          </c:yVal>
          <c:smooth val="0"/>
        </c:ser>
        <c:ser>
          <c:idx val="1"/>
          <c:order val="1"/>
          <c:tx>
            <c:strRef>
              <c:f>Sheet1!$B$158</c:f>
              <c:strCache>
                <c:ptCount val="1"/>
                <c:pt idx="0">
                  <c:v>Hypofractionated (median 28 wk)</c:v>
                </c:pt>
              </c:strCache>
            </c:strRef>
          </c:tx>
          <c:spPr>
            <a:ln w="31750">
              <a:solidFill>
                <a:srgbClr val="EB6834"/>
              </a:solidFill>
            </a:ln>
          </c:spPr>
          <c:marker>
            <c:symbol val="none"/>
          </c:marker>
          <c:xVal>
            <c:numRef>
              <c:f>Sheet1!$A$159:$A$245</c:f>
              <c:numCache>
                <c:formatCode>General</c:formatCode>
                <c:ptCount val="87"/>
                <c:pt idx="0">
                  <c:v>0.0</c:v>
                </c:pt>
                <c:pt idx="1">
                  <c:v>6.0</c:v>
                </c:pt>
                <c:pt idx="2">
                  <c:v>6.0</c:v>
                </c:pt>
                <c:pt idx="3">
                  <c:v>8.0</c:v>
                </c:pt>
                <c:pt idx="4">
                  <c:v>8.0</c:v>
                </c:pt>
                <c:pt idx="5">
                  <c:v>9.0</c:v>
                </c:pt>
                <c:pt idx="6">
                  <c:v>9.0</c:v>
                </c:pt>
                <c:pt idx="7">
                  <c:v>10.0</c:v>
                </c:pt>
                <c:pt idx="8">
                  <c:v>10.0</c:v>
                </c:pt>
                <c:pt idx="9">
                  <c:v>11.0</c:v>
                </c:pt>
                <c:pt idx="10">
                  <c:v>11.0</c:v>
                </c:pt>
                <c:pt idx="11">
                  <c:v>14.0</c:v>
                </c:pt>
                <c:pt idx="12">
                  <c:v>14.0</c:v>
                </c:pt>
                <c:pt idx="13">
                  <c:v>15.0</c:v>
                </c:pt>
                <c:pt idx="14">
                  <c:v>15.0</c:v>
                </c:pt>
                <c:pt idx="15">
                  <c:v>16.0</c:v>
                </c:pt>
                <c:pt idx="16">
                  <c:v>16.0</c:v>
                </c:pt>
                <c:pt idx="17">
                  <c:v>17.0</c:v>
                </c:pt>
                <c:pt idx="18">
                  <c:v>17.0</c:v>
                </c:pt>
                <c:pt idx="19">
                  <c:v>18.0</c:v>
                </c:pt>
                <c:pt idx="20">
                  <c:v>18.0</c:v>
                </c:pt>
                <c:pt idx="21">
                  <c:v>19.0</c:v>
                </c:pt>
                <c:pt idx="22">
                  <c:v>19.0</c:v>
                </c:pt>
                <c:pt idx="23">
                  <c:v>21.0</c:v>
                </c:pt>
                <c:pt idx="24">
                  <c:v>21.0</c:v>
                </c:pt>
                <c:pt idx="25">
                  <c:v>22.0</c:v>
                </c:pt>
                <c:pt idx="26">
                  <c:v>22.0</c:v>
                </c:pt>
                <c:pt idx="27">
                  <c:v>23.0</c:v>
                </c:pt>
                <c:pt idx="28">
                  <c:v>23.0</c:v>
                </c:pt>
                <c:pt idx="29">
                  <c:v>24.0</c:v>
                </c:pt>
                <c:pt idx="30">
                  <c:v>24.0</c:v>
                </c:pt>
                <c:pt idx="31">
                  <c:v>26.0</c:v>
                </c:pt>
                <c:pt idx="32">
                  <c:v>26.0</c:v>
                </c:pt>
                <c:pt idx="33">
                  <c:v>28.0</c:v>
                </c:pt>
                <c:pt idx="34">
                  <c:v>28.0</c:v>
                </c:pt>
                <c:pt idx="35">
                  <c:v>29.0</c:v>
                </c:pt>
                <c:pt idx="36">
                  <c:v>29.0</c:v>
                </c:pt>
                <c:pt idx="37">
                  <c:v>30.0</c:v>
                </c:pt>
                <c:pt idx="38">
                  <c:v>30.0</c:v>
                </c:pt>
                <c:pt idx="39">
                  <c:v>31.0</c:v>
                </c:pt>
                <c:pt idx="40">
                  <c:v>31.0</c:v>
                </c:pt>
                <c:pt idx="41">
                  <c:v>34.0</c:v>
                </c:pt>
                <c:pt idx="42">
                  <c:v>34.0</c:v>
                </c:pt>
                <c:pt idx="43">
                  <c:v>37.0</c:v>
                </c:pt>
                <c:pt idx="44">
                  <c:v>37.0</c:v>
                </c:pt>
                <c:pt idx="45">
                  <c:v>38.0</c:v>
                </c:pt>
                <c:pt idx="46">
                  <c:v>38.0</c:v>
                </c:pt>
                <c:pt idx="47">
                  <c:v>42.0</c:v>
                </c:pt>
                <c:pt idx="48">
                  <c:v>42.0</c:v>
                </c:pt>
                <c:pt idx="49">
                  <c:v>45.0</c:v>
                </c:pt>
                <c:pt idx="50">
                  <c:v>45.0</c:v>
                </c:pt>
                <c:pt idx="51">
                  <c:v>47.0</c:v>
                </c:pt>
                <c:pt idx="52">
                  <c:v>47.0</c:v>
                </c:pt>
                <c:pt idx="53">
                  <c:v>49.0</c:v>
                </c:pt>
                <c:pt idx="54">
                  <c:v>49.0</c:v>
                </c:pt>
                <c:pt idx="55">
                  <c:v>50.0</c:v>
                </c:pt>
                <c:pt idx="56">
                  <c:v>50.0</c:v>
                </c:pt>
                <c:pt idx="57">
                  <c:v>51.0</c:v>
                </c:pt>
                <c:pt idx="58">
                  <c:v>51.0</c:v>
                </c:pt>
                <c:pt idx="59">
                  <c:v>52.0</c:v>
                </c:pt>
                <c:pt idx="60">
                  <c:v>52.0</c:v>
                </c:pt>
                <c:pt idx="61">
                  <c:v>57.0</c:v>
                </c:pt>
                <c:pt idx="62">
                  <c:v>57.0</c:v>
                </c:pt>
                <c:pt idx="63">
                  <c:v>70.0</c:v>
                </c:pt>
                <c:pt idx="64">
                  <c:v>70.0</c:v>
                </c:pt>
                <c:pt idx="65">
                  <c:v>71.0</c:v>
                </c:pt>
                <c:pt idx="66">
                  <c:v>71.0</c:v>
                </c:pt>
                <c:pt idx="67">
                  <c:v>72.0</c:v>
                </c:pt>
                <c:pt idx="68">
                  <c:v>72.0</c:v>
                </c:pt>
                <c:pt idx="69">
                  <c:v>73.0</c:v>
                </c:pt>
                <c:pt idx="70">
                  <c:v>73.0</c:v>
                </c:pt>
                <c:pt idx="71">
                  <c:v>75.0</c:v>
                </c:pt>
                <c:pt idx="72">
                  <c:v>75.0</c:v>
                </c:pt>
                <c:pt idx="73">
                  <c:v>80.0</c:v>
                </c:pt>
                <c:pt idx="74">
                  <c:v>80.0</c:v>
                </c:pt>
                <c:pt idx="75">
                  <c:v>82.0</c:v>
                </c:pt>
                <c:pt idx="76">
                  <c:v>82.0</c:v>
                </c:pt>
                <c:pt idx="77">
                  <c:v>93.0</c:v>
                </c:pt>
                <c:pt idx="78">
                  <c:v>93.0</c:v>
                </c:pt>
                <c:pt idx="79">
                  <c:v>108.0</c:v>
                </c:pt>
                <c:pt idx="80">
                  <c:v>108.0</c:v>
                </c:pt>
                <c:pt idx="81">
                  <c:v>121.0</c:v>
                </c:pt>
                <c:pt idx="82">
                  <c:v>121.0</c:v>
                </c:pt>
                <c:pt idx="83">
                  <c:v>133.0</c:v>
                </c:pt>
                <c:pt idx="84">
                  <c:v>133.0</c:v>
                </c:pt>
                <c:pt idx="85">
                  <c:v>139.0</c:v>
                </c:pt>
                <c:pt idx="86">
                  <c:v>139.0</c:v>
                </c:pt>
              </c:numCache>
            </c:numRef>
          </c:xVal>
          <c:yVal>
            <c:numRef>
              <c:f>Sheet1!$B$159:$B$245</c:f>
              <c:numCache>
                <c:formatCode>General</c:formatCode>
                <c:ptCount val="87"/>
                <c:pt idx="0">
                  <c:v>1.0</c:v>
                </c:pt>
                <c:pt idx="1">
                  <c:v>1.0</c:v>
                </c:pt>
                <c:pt idx="2">
                  <c:v>0.9531250000000004</c:v>
                </c:pt>
                <c:pt idx="3">
                  <c:v>0.9531250000000004</c:v>
                </c:pt>
                <c:pt idx="4">
                  <c:v>0.9375000000000001</c:v>
                </c:pt>
                <c:pt idx="5">
                  <c:v>0.9375000000000001</c:v>
                </c:pt>
                <c:pt idx="6">
                  <c:v>0.8593750000000006</c:v>
                </c:pt>
                <c:pt idx="7">
                  <c:v>0.8593750000000006</c:v>
                </c:pt>
                <c:pt idx="8">
                  <c:v>0.8437500000000004</c:v>
                </c:pt>
                <c:pt idx="9">
                  <c:v>0.8437500000000004</c:v>
                </c:pt>
                <c:pt idx="10">
                  <c:v>0.8281250000000004</c:v>
                </c:pt>
                <c:pt idx="11">
                  <c:v>0.8281250000000004</c:v>
                </c:pt>
                <c:pt idx="12">
                  <c:v>0.8125000000000004</c:v>
                </c:pt>
                <c:pt idx="13">
                  <c:v>0.8125000000000004</c:v>
                </c:pt>
                <c:pt idx="14">
                  <c:v>0.7656250000000001</c:v>
                </c:pt>
                <c:pt idx="15">
                  <c:v>0.7656250000000001</c:v>
                </c:pt>
                <c:pt idx="16">
                  <c:v>0.7031250000000001</c:v>
                </c:pt>
                <c:pt idx="17">
                  <c:v>0.7031250000000001</c:v>
                </c:pt>
                <c:pt idx="18">
                  <c:v>0.6875000000000001</c:v>
                </c:pt>
                <c:pt idx="19">
                  <c:v>0.6875000000000001</c:v>
                </c:pt>
                <c:pt idx="20">
                  <c:v>0.6250000000000002</c:v>
                </c:pt>
                <c:pt idx="21">
                  <c:v>0.6250000000000002</c:v>
                </c:pt>
                <c:pt idx="22">
                  <c:v>0.6093750000000001</c:v>
                </c:pt>
                <c:pt idx="23">
                  <c:v>0.6093750000000001</c:v>
                </c:pt>
                <c:pt idx="24">
                  <c:v>0.5937500000000001</c:v>
                </c:pt>
                <c:pt idx="25">
                  <c:v>0.5937500000000001</c:v>
                </c:pt>
                <c:pt idx="26">
                  <c:v>0.5781250000000001</c:v>
                </c:pt>
                <c:pt idx="27">
                  <c:v>0.5781250000000001</c:v>
                </c:pt>
                <c:pt idx="28">
                  <c:v>0.5468750000000001</c:v>
                </c:pt>
                <c:pt idx="29">
                  <c:v>0.5468750000000001</c:v>
                </c:pt>
                <c:pt idx="30">
                  <c:v>0.5156250000000002</c:v>
                </c:pt>
                <c:pt idx="31">
                  <c:v>0.5156250000000002</c:v>
                </c:pt>
                <c:pt idx="32">
                  <c:v>0.5000000000000002</c:v>
                </c:pt>
                <c:pt idx="33">
                  <c:v>0.5000000000000002</c:v>
                </c:pt>
                <c:pt idx="34">
                  <c:v>0.4687500000000002</c:v>
                </c:pt>
                <c:pt idx="35">
                  <c:v>0.4687500000000002</c:v>
                </c:pt>
                <c:pt idx="36">
                  <c:v>0.4375000000000001</c:v>
                </c:pt>
                <c:pt idx="37">
                  <c:v>0.4375000000000001</c:v>
                </c:pt>
                <c:pt idx="38">
                  <c:v>0.42187500000000017</c:v>
                </c:pt>
                <c:pt idx="39">
                  <c:v>0.42187500000000017</c:v>
                </c:pt>
                <c:pt idx="40">
                  <c:v>0.40625000000000017</c:v>
                </c:pt>
                <c:pt idx="41">
                  <c:v>0.40625000000000017</c:v>
                </c:pt>
                <c:pt idx="42">
                  <c:v>0.39062500000000006</c:v>
                </c:pt>
                <c:pt idx="43">
                  <c:v>0.39062500000000006</c:v>
                </c:pt>
                <c:pt idx="44">
                  <c:v>0.37500000000000017</c:v>
                </c:pt>
                <c:pt idx="45">
                  <c:v>0.37500000000000017</c:v>
                </c:pt>
                <c:pt idx="46">
                  <c:v>0.3593750000000001</c:v>
                </c:pt>
                <c:pt idx="47">
                  <c:v>0.3593750000000001</c:v>
                </c:pt>
                <c:pt idx="48">
                  <c:v>0.3437500000000002</c:v>
                </c:pt>
                <c:pt idx="49">
                  <c:v>0.3437500000000002</c:v>
                </c:pt>
                <c:pt idx="50">
                  <c:v>0.31250000000000006</c:v>
                </c:pt>
                <c:pt idx="51">
                  <c:v>0.31250000000000006</c:v>
                </c:pt>
                <c:pt idx="52">
                  <c:v>0.28125000000000006</c:v>
                </c:pt>
                <c:pt idx="53">
                  <c:v>0.28125000000000006</c:v>
                </c:pt>
                <c:pt idx="54">
                  <c:v>0.2656250000000001</c:v>
                </c:pt>
                <c:pt idx="55">
                  <c:v>0.2656250000000001</c:v>
                </c:pt>
                <c:pt idx="56">
                  <c:v>0.25000000000000006</c:v>
                </c:pt>
                <c:pt idx="57">
                  <c:v>0.25000000000000006</c:v>
                </c:pt>
                <c:pt idx="58">
                  <c:v>0.23437500000000008</c:v>
                </c:pt>
                <c:pt idx="59">
                  <c:v>0.23437500000000008</c:v>
                </c:pt>
                <c:pt idx="60">
                  <c:v>0.21875000000000003</c:v>
                </c:pt>
                <c:pt idx="61">
                  <c:v>0.21875000000000003</c:v>
                </c:pt>
                <c:pt idx="62">
                  <c:v>0.20312500000000008</c:v>
                </c:pt>
                <c:pt idx="63">
                  <c:v>0.20312500000000008</c:v>
                </c:pt>
                <c:pt idx="64">
                  <c:v>0.17187500000000008</c:v>
                </c:pt>
                <c:pt idx="65">
                  <c:v>0.17187500000000008</c:v>
                </c:pt>
                <c:pt idx="66">
                  <c:v>0.15625000000000008</c:v>
                </c:pt>
                <c:pt idx="67">
                  <c:v>0.15625000000000008</c:v>
                </c:pt>
                <c:pt idx="68">
                  <c:v>0.14062500000000008</c:v>
                </c:pt>
                <c:pt idx="69">
                  <c:v>0.14062500000000008</c:v>
                </c:pt>
                <c:pt idx="70">
                  <c:v>0.12500000000000003</c:v>
                </c:pt>
                <c:pt idx="71">
                  <c:v>0.12500000000000003</c:v>
                </c:pt>
                <c:pt idx="72">
                  <c:v>0.10937500000000006</c:v>
                </c:pt>
                <c:pt idx="73">
                  <c:v>0.10937500000000006</c:v>
                </c:pt>
                <c:pt idx="74">
                  <c:v>0.09375000000000007</c:v>
                </c:pt>
                <c:pt idx="75">
                  <c:v>0.09375000000000007</c:v>
                </c:pt>
                <c:pt idx="76">
                  <c:v>0.07812500000000004</c:v>
                </c:pt>
                <c:pt idx="77">
                  <c:v>0.07812500000000004</c:v>
                </c:pt>
                <c:pt idx="78">
                  <c:v>0.06250000000000003</c:v>
                </c:pt>
                <c:pt idx="79">
                  <c:v>0.06250000000000003</c:v>
                </c:pt>
                <c:pt idx="80">
                  <c:v>0.046875000000000035</c:v>
                </c:pt>
                <c:pt idx="81">
                  <c:v>0.046875000000000035</c:v>
                </c:pt>
                <c:pt idx="82">
                  <c:v>0.031250000000000014</c:v>
                </c:pt>
                <c:pt idx="83">
                  <c:v>0.031250000000000014</c:v>
                </c:pt>
                <c:pt idx="84">
                  <c:v>0.015625000000000007</c:v>
                </c:pt>
                <c:pt idx="85">
                  <c:v>0.015625000000000007</c:v>
                </c:pt>
                <c:pt idx="86">
                  <c:v>0.0</c:v>
                </c:pt>
              </c:numCache>
            </c:numRef>
          </c:yVal>
          <c:smooth val="0"/>
        </c:ser>
        <c:ser>
          <c:idx val="2"/>
          <c:order val="2"/>
          <c:tx>
            <c:strRef>
              <c:f>Sheet1!$B$247</c:f>
              <c:strCache>
                <c:ptCount val="1"/>
                <c:pt idx="0">
                  <c:v>Unknown (median 47 wk)</c:v>
                </c:pt>
              </c:strCache>
            </c:strRef>
          </c:tx>
          <c:spPr>
            <a:ln w="31750">
              <a:solidFill>
                <a:srgbClr val="9CA3AF"/>
              </a:solidFill>
            </a:ln>
          </c:spPr>
          <c:marker>
            <c:symbol val="none"/>
          </c:marker>
          <c:xVal>
            <c:numRef>
              <c:f>Sheet1!$A$248:$A$356</c:f>
              <c:numCache>
                <c:formatCode>General</c:formatCode>
                <c:ptCount val="109"/>
                <c:pt idx="0">
                  <c:v>0.0</c:v>
                </c:pt>
                <c:pt idx="1">
                  <c:v>3.0</c:v>
                </c:pt>
                <c:pt idx="2">
                  <c:v>3.0</c:v>
                </c:pt>
                <c:pt idx="3">
                  <c:v>4.0</c:v>
                </c:pt>
                <c:pt idx="4">
                  <c:v>4.0</c:v>
                </c:pt>
                <c:pt idx="5">
                  <c:v>6.0</c:v>
                </c:pt>
                <c:pt idx="6">
                  <c:v>6.0</c:v>
                </c:pt>
                <c:pt idx="7">
                  <c:v>7.0</c:v>
                </c:pt>
                <c:pt idx="8">
                  <c:v>7.0</c:v>
                </c:pt>
                <c:pt idx="9">
                  <c:v>8.0</c:v>
                </c:pt>
                <c:pt idx="10">
                  <c:v>8.0</c:v>
                </c:pt>
                <c:pt idx="11">
                  <c:v>9.0</c:v>
                </c:pt>
                <c:pt idx="12">
                  <c:v>9.0</c:v>
                </c:pt>
                <c:pt idx="13">
                  <c:v>10.0</c:v>
                </c:pt>
                <c:pt idx="14">
                  <c:v>10.0</c:v>
                </c:pt>
                <c:pt idx="15">
                  <c:v>11.0</c:v>
                </c:pt>
                <c:pt idx="16">
                  <c:v>11.0</c:v>
                </c:pt>
                <c:pt idx="17">
                  <c:v>12.0</c:v>
                </c:pt>
                <c:pt idx="18">
                  <c:v>12.0</c:v>
                </c:pt>
                <c:pt idx="19">
                  <c:v>15.0</c:v>
                </c:pt>
                <c:pt idx="20">
                  <c:v>15.0</c:v>
                </c:pt>
                <c:pt idx="21">
                  <c:v>16.0</c:v>
                </c:pt>
                <c:pt idx="22">
                  <c:v>16.0</c:v>
                </c:pt>
                <c:pt idx="23">
                  <c:v>17.0</c:v>
                </c:pt>
                <c:pt idx="24">
                  <c:v>17.0</c:v>
                </c:pt>
                <c:pt idx="25">
                  <c:v>19.0</c:v>
                </c:pt>
                <c:pt idx="26">
                  <c:v>19.0</c:v>
                </c:pt>
                <c:pt idx="27">
                  <c:v>22.0</c:v>
                </c:pt>
                <c:pt idx="28">
                  <c:v>22.0</c:v>
                </c:pt>
                <c:pt idx="29">
                  <c:v>23.0</c:v>
                </c:pt>
                <c:pt idx="30">
                  <c:v>23.0</c:v>
                </c:pt>
                <c:pt idx="31">
                  <c:v>24.0</c:v>
                </c:pt>
                <c:pt idx="32">
                  <c:v>24.0</c:v>
                </c:pt>
                <c:pt idx="33">
                  <c:v>25.0</c:v>
                </c:pt>
                <c:pt idx="34">
                  <c:v>25.0</c:v>
                </c:pt>
                <c:pt idx="35">
                  <c:v>26.0</c:v>
                </c:pt>
                <c:pt idx="36">
                  <c:v>26.0</c:v>
                </c:pt>
                <c:pt idx="37">
                  <c:v>30.0</c:v>
                </c:pt>
                <c:pt idx="38">
                  <c:v>30.0</c:v>
                </c:pt>
                <c:pt idx="39">
                  <c:v>34.0</c:v>
                </c:pt>
                <c:pt idx="40">
                  <c:v>34.0</c:v>
                </c:pt>
                <c:pt idx="41">
                  <c:v>36.0</c:v>
                </c:pt>
                <c:pt idx="42">
                  <c:v>36.0</c:v>
                </c:pt>
                <c:pt idx="43">
                  <c:v>41.0</c:v>
                </c:pt>
                <c:pt idx="44">
                  <c:v>41.0</c:v>
                </c:pt>
                <c:pt idx="45">
                  <c:v>44.0</c:v>
                </c:pt>
                <c:pt idx="46">
                  <c:v>44.0</c:v>
                </c:pt>
                <c:pt idx="47">
                  <c:v>45.0</c:v>
                </c:pt>
                <c:pt idx="48">
                  <c:v>45.0</c:v>
                </c:pt>
                <c:pt idx="49">
                  <c:v>47.0</c:v>
                </c:pt>
                <c:pt idx="50">
                  <c:v>47.0</c:v>
                </c:pt>
                <c:pt idx="51">
                  <c:v>50.0</c:v>
                </c:pt>
                <c:pt idx="52">
                  <c:v>50.0</c:v>
                </c:pt>
                <c:pt idx="53">
                  <c:v>52.0</c:v>
                </c:pt>
                <c:pt idx="54">
                  <c:v>52.0</c:v>
                </c:pt>
                <c:pt idx="55">
                  <c:v>55.0</c:v>
                </c:pt>
                <c:pt idx="56">
                  <c:v>55.0</c:v>
                </c:pt>
                <c:pt idx="57">
                  <c:v>56.0</c:v>
                </c:pt>
                <c:pt idx="58">
                  <c:v>56.0</c:v>
                </c:pt>
                <c:pt idx="59">
                  <c:v>57.0</c:v>
                </c:pt>
                <c:pt idx="60">
                  <c:v>57.0</c:v>
                </c:pt>
                <c:pt idx="61">
                  <c:v>60.0</c:v>
                </c:pt>
                <c:pt idx="62">
                  <c:v>60.0</c:v>
                </c:pt>
                <c:pt idx="63">
                  <c:v>62.0</c:v>
                </c:pt>
                <c:pt idx="64">
                  <c:v>62.0</c:v>
                </c:pt>
                <c:pt idx="65">
                  <c:v>64.0</c:v>
                </c:pt>
                <c:pt idx="66">
                  <c:v>64.0</c:v>
                </c:pt>
                <c:pt idx="67">
                  <c:v>69.0</c:v>
                </c:pt>
                <c:pt idx="68">
                  <c:v>69.0</c:v>
                </c:pt>
                <c:pt idx="69">
                  <c:v>71.0</c:v>
                </c:pt>
                <c:pt idx="70">
                  <c:v>71.0</c:v>
                </c:pt>
                <c:pt idx="71">
                  <c:v>78.0</c:v>
                </c:pt>
                <c:pt idx="72">
                  <c:v>78.0</c:v>
                </c:pt>
                <c:pt idx="73">
                  <c:v>79.0</c:v>
                </c:pt>
                <c:pt idx="74">
                  <c:v>79.0</c:v>
                </c:pt>
                <c:pt idx="75">
                  <c:v>80.0</c:v>
                </c:pt>
                <c:pt idx="76">
                  <c:v>80.0</c:v>
                </c:pt>
                <c:pt idx="77">
                  <c:v>81.0</c:v>
                </c:pt>
                <c:pt idx="78">
                  <c:v>81.0</c:v>
                </c:pt>
                <c:pt idx="79">
                  <c:v>82.0</c:v>
                </c:pt>
                <c:pt idx="80">
                  <c:v>82.0</c:v>
                </c:pt>
                <c:pt idx="81">
                  <c:v>93.0</c:v>
                </c:pt>
                <c:pt idx="82">
                  <c:v>93.0</c:v>
                </c:pt>
                <c:pt idx="83">
                  <c:v>95.0</c:v>
                </c:pt>
                <c:pt idx="84">
                  <c:v>95.0</c:v>
                </c:pt>
                <c:pt idx="85">
                  <c:v>96.0</c:v>
                </c:pt>
                <c:pt idx="86">
                  <c:v>96.0</c:v>
                </c:pt>
                <c:pt idx="87">
                  <c:v>98.0</c:v>
                </c:pt>
                <c:pt idx="88">
                  <c:v>98.0</c:v>
                </c:pt>
                <c:pt idx="89">
                  <c:v>101.0</c:v>
                </c:pt>
                <c:pt idx="90">
                  <c:v>101.0</c:v>
                </c:pt>
                <c:pt idx="91">
                  <c:v>102.0</c:v>
                </c:pt>
                <c:pt idx="92">
                  <c:v>102.0</c:v>
                </c:pt>
                <c:pt idx="93">
                  <c:v>104.0</c:v>
                </c:pt>
                <c:pt idx="94">
                  <c:v>104.0</c:v>
                </c:pt>
                <c:pt idx="95">
                  <c:v>110.0</c:v>
                </c:pt>
                <c:pt idx="96">
                  <c:v>110.0</c:v>
                </c:pt>
                <c:pt idx="97">
                  <c:v>120.0</c:v>
                </c:pt>
                <c:pt idx="98">
                  <c:v>120.0</c:v>
                </c:pt>
                <c:pt idx="99">
                  <c:v>121.0</c:v>
                </c:pt>
                <c:pt idx="100">
                  <c:v>121.0</c:v>
                </c:pt>
                <c:pt idx="101">
                  <c:v>127.0</c:v>
                </c:pt>
                <c:pt idx="102">
                  <c:v>127.0</c:v>
                </c:pt>
                <c:pt idx="103">
                  <c:v>140.0</c:v>
                </c:pt>
                <c:pt idx="104">
                  <c:v>140.0</c:v>
                </c:pt>
                <c:pt idx="105">
                  <c:v>191.0</c:v>
                </c:pt>
                <c:pt idx="106">
                  <c:v>191.0</c:v>
                </c:pt>
                <c:pt idx="107">
                  <c:v>196.0</c:v>
                </c:pt>
                <c:pt idx="108">
                  <c:v>196.0</c:v>
                </c:pt>
              </c:numCache>
            </c:numRef>
          </c:xVal>
          <c:yVal>
            <c:numRef>
              <c:f>Sheet1!$B$248:$B$356</c:f>
              <c:numCache>
                <c:formatCode>General</c:formatCode>
                <c:ptCount val="109"/>
                <c:pt idx="0">
                  <c:v>1.0</c:v>
                </c:pt>
                <c:pt idx="1">
                  <c:v>1.0</c:v>
                </c:pt>
                <c:pt idx="2">
                  <c:v>0.9428571428571422</c:v>
                </c:pt>
                <c:pt idx="3">
                  <c:v>0.9428571428571422</c:v>
                </c:pt>
                <c:pt idx="4">
                  <c:v>0.9285714285714279</c:v>
                </c:pt>
                <c:pt idx="5">
                  <c:v>0.9285714285714279</c:v>
                </c:pt>
                <c:pt idx="6">
                  <c:v>0.9142857142857136</c:v>
                </c:pt>
                <c:pt idx="7">
                  <c:v>0.9142857142857136</c:v>
                </c:pt>
                <c:pt idx="8">
                  <c:v>0.8714285714285712</c:v>
                </c:pt>
                <c:pt idx="9">
                  <c:v>0.8714285714285712</c:v>
                </c:pt>
                <c:pt idx="10">
                  <c:v>0.8428571428571427</c:v>
                </c:pt>
                <c:pt idx="11">
                  <c:v>0.8428571428571427</c:v>
                </c:pt>
                <c:pt idx="12">
                  <c:v>0.8285714285714281</c:v>
                </c:pt>
                <c:pt idx="13">
                  <c:v>0.8285714285714281</c:v>
                </c:pt>
                <c:pt idx="14">
                  <c:v>0.8142857142857141</c:v>
                </c:pt>
                <c:pt idx="15">
                  <c:v>0.8142857142857141</c:v>
                </c:pt>
                <c:pt idx="16">
                  <c:v>0.8</c:v>
                </c:pt>
                <c:pt idx="17">
                  <c:v>0.8</c:v>
                </c:pt>
                <c:pt idx="18">
                  <c:v>0.7857142857142856</c:v>
                </c:pt>
                <c:pt idx="19">
                  <c:v>0.7857142857142856</c:v>
                </c:pt>
                <c:pt idx="20">
                  <c:v>0.757142857142857</c:v>
                </c:pt>
                <c:pt idx="21">
                  <c:v>0.757142857142857</c:v>
                </c:pt>
                <c:pt idx="22">
                  <c:v>0.7428571428571428</c:v>
                </c:pt>
                <c:pt idx="23">
                  <c:v>0.7428571428571428</c:v>
                </c:pt>
                <c:pt idx="24">
                  <c:v>0.7285714285714283</c:v>
                </c:pt>
                <c:pt idx="25">
                  <c:v>0.7285714285714283</c:v>
                </c:pt>
                <c:pt idx="26">
                  <c:v>0.714285714285714</c:v>
                </c:pt>
                <c:pt idx="27">
                  <c:v>0.714285714285714</c:v>
                </c:pt>
                <c:pt idx="28">
                  <c:v>0.6999999999999996</c:v>
                </c:pt>
                <c:pt idx="29">
                  <c:v>0.6999999999999996</c:v>
                </c:pt>
                <c:pt idx="30">
                  <c:v>0.6857142857142856</c:v>
                </c:pt>
                <c:pt idx="31">
                  <c:v>0.6857142857142856</c:v>
                </c:pt>
                <c:pt idx="32">
                  <c:v>0.671428571428571</c:v>
                </c:pt>
                <c:pt idx="33">
                  <c:v>0.671428571428571</c:v>
                </c:pt>
                <c:pt idx="34">
                  <c:v>0.6571428571428569</c:v>
                </c:pt>
                <c:pt idx="35">
                  <c:v>0.6571428571428569</c:v>
                </c:pt>
                <c:pt idx="36">
                  <c:v>0.6428571428571426</c:v>
                </c:pt>
                <c:pt idx="37">
                  <c:v>0.6428571428571426</c:v>
                </c:pt>
                <c:pt idx="38">
                  <c:v>0.5999999999999999</c:v>
                </c:pt>
                <c:pt idx="39">
                  <c:v>0.5999999999999999</c:v>
                </c:pt>
                <c:pt idx="40">
                  <c:v>0.5857142857142856</c:v>
                </c:pt>
                <c:pt idx="41">
                  <c:v>0.5857142857142856</c:v>
                </c:pt>
                <c:pt idx="42">
                  <c:v>0.5571428571428568</c:v>
                </c:pt>
                <c:pt idx="43">
                  <c:v>0.5571428571428568</c:v>
                </c:pt>
                <c:pt idx="44">
                  <c:v>0.5428571428571426</c:v>
                </c:pt>
                <c:pt idx="45">
                  <c:v>0.5428571428571426</c:v>
                </c:pt>
                <c:pt idx="46">
                  <c:v>0.5285714285714284</c:v>
                </c:pt>
                <c:pt idx="47">
                  <c:v>0.5285714285714284</c:v>
                </c:pt>
                <c:pt idx="48">
                  <c:v>0.514285714285714</c:v>
                </c:pt>
                <c:pt idx="49">
                  <c:v>0.514285714285714</c:v>
                </c:pt>
                <c:pt idx="50">
                  <c:v>0.4999999999999997</c:v>
                </c:pt>
                <c:pt idx="51">
                  <c:v>0.4999999999999997</c:v>
                </c:pt>
                <c:pt idx="52">
                  <c:v>0.4857142857142856</c:v>
                </c:pt>
                <c:pt idx="53">
                  <c:v>0.4857142857142856</c:v>
                </c:pt>
                <c:pt idx="54">
                  <c:v>0.47142857142857125</c:v>
                </c:pt>
                <c:pt idx="55">
                  <c:v>0.47142857142857125</c:v>
                </c:pt>
                <c:pt idx="56">
                  <c:v>0.4428571428571427</c:v>
                </c:pt>
                <c:pt idx="57">
                  <c:v>0.4428571428571427</c:v>
                </c:pt>
                <c:pt idx="58">
                  <c:v>0.42857142857142844</c:v>
                </c:pt>
                <c:pt idx="59">
                  <c:v>0.42857142857142844</c:v>
                </c:pt>
                <c:pt idx="60">
                  <c:v>0.4142857142857142</c:v>
                </c:pt>
                <c:pt idx="61">
                  <c:v>0.4142857142857142</c:v>
                </c:pt>
                <c:pt idx="62">
                  <c:v>0.3999999999999998</c:v>
                </c:pt>
                <c:pt idx="63">
                  <c:v>0.3999999999999998</c:v>
                </c:pt>
                <c:pt idx="64">
                  <c:v>0.38571428571428557</c:v>
                </c:pt>
                <c:pt idx="65">
                  <c:v>0.38571428571428557</c:v>
                </c:pt>
                <c:pt idx="66">
                  <c:v>0.37142857142857133</c:v>
                </c:pt>
                <c:pt idx="67">
                  <c:v>0.37142857142857133</c:v>
                </c:pt>
                <c:pt idx="68">
                  <c:v>0.35714285714285693</c:v>
                </c:pt>
                <c:pt idx="69">
                  <c:v>0.35714285714285693</c:v>
                </c:pt>
                <c:pt idx="70">
                  <c:v>0.34285714285714275</c:v>
                </c:pt>
                <c:pt idx="71">
                  <c:v>0.34285714285714275</c:v>
                </c:pt>
                <c:pt idx="72">
                  <c:v>0.2999999999999999</c:v>
                </c:pt>
                <c:pt idx="73">
                  <c:v>0.2999999999999999</c:v>
                </c:pt>
                <c:pt idx="74">
                  <c:v>0.2857142857142856</c:v>
                </c:pt>
                <c:pt idx="75">
                  <c:v>0.2857142857142856</c:v>
                </c:pt>
                <c:pt idx="76">
                  <c:v>0.2714285714285713</c:v>
                </c:pt>
                <c:pt idx="77">
                  <c:v>0.2714285714285713</c:v>
                </c:pt>
                <c:pt idx="78">
                  <c:v>0.2428571428571428</c:v>
                </c:pt>
                <c:pt idx="79">
                  <c:v>0.2428571428571428</c:v>
                </c:pt>
                <c:pt idx="80">
                  <c:v>0.22857142857142845</c:v>
                </c:pt>
                <c:pt idx="81">
                  <c:v>0.22857142857142845</c:v>
                </c:pt>
                <c:pt idx="82">
                  <c:v>0.21428571428571422</c:v>
                </c:pt>
                <c:pt idx="83">
                  <c:v>0.21428571428571422</c:v>
                </c:pt>
                <c:pt idx="84">
                  <c:v>0.19999999999999987</c:v>
                </c:pt>
                <c:pt idx="85">
                  <c:v>0.19999999999999987</c:v>
                </c:pt>
                <c:pt idx="86">
                  <c:v>0.18571428571428564</c:v>
                </c:pt>
                <c:pt idx="87">
                  <c:v>0.18571428571428564</c:v>
                </c:pt>
                <c:pt idx="88">
                  <c:v>0.17142857142857137</c:v>
                </c:pt>
                <c:pt idx="89">
                  <c:v>0.17142857142857137</c:v>
                </c:pt>
                <c:pt idx="90">
                  <c:v>0.1571428571428571</c:v>
                </c:pt>
                <c:pt idx="91">
                  <c:v>0.1571428571428571</c:v>
                </c:pt>
                <c:pt idx="92">
                  <c:v>0.14285714285714285</c:v>
                </c:pt>
                <c:pt idx="93">
                  <c:v>0.14285714285714285</c:v>
                </c:pt>
                <c:pt idx="94">
                  <c:v>0.12857142857142856</c:v>
                </c:pt>
                <c:pt idx="95">
                  <c:v>0.12857142857142856</c:v>
                </c:pt>
                <c:pt idx="96">
                  <c:v>0.11428571428571423</c:v>
                </c:pt>
                <c:pt idx="97">
                  <c:v>0.11428571428571423</c:v>
                </c:pt>
                <c:pt idx="98">
                  <c:v>0.09999999999999998</c:v>
                </c:pt>
                <c:pt idx="99">
                  <c:v>0.09999999999999998</c:v>
                </c:pt>
                <c:pt idx="100">
                  <c:v>0.08571428571428572</c:v>
                </c:pt>
                <c:pt idx="101">
                  <c:v>0.08571428571428572</c:v>
                </c:pt>
                <c:pt idx="102">
                  <c:v>0.07142857142857141</c:v>
                </c:pt>
                <c:pt idx="103">
                  <c:v>0.07142857142857141</c:v>
                </c:pt>
                <c:pt idx="104">
                  <c:v>0.04285714285714286</c:v>
                </c:pt>
                <c:pt idx="105">
                  <c:v>0.04285714285714286</c:v>
                </c:pt>
                <c:pt idx="106">
                  <c:v>0.028571428571428564</c:v>
                </c:pt>
                <c:pt idx="107">
                  <c:v>0.028571428571428564</c:v>
                </c:pt>
                <c:pt idx="108">
                  <c:v>0.01428571428571428</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legend>
      <c:legendPos val="t"/>
      <c:layout/>
      <c:overlay val="0"/>
      <c:txPr>
        <a:bodyPr/>
        <a:lstStyle/>
        <a:p>
          <a:pPr>
            <a:defRPr sz="1300">
              <a:solidFill>
                <a:srgbClr val="17203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1–22 cm³ (median 55 wk)</c:v>
                </c:pt>
              </c:strCache>
            </c:strRef>
          </c:tx>
          <c:spPr>
            <a:ln w="31750">
              <a:solidFill>
                <a:srgbClr val="9EC5F4"/>
              </a:solidFill>
            </a:ln>
          </c:spPr>
          <c:marker>
            <c:symbol val="none"/>
          </c:marker>
          <c:xVal>
            <c:numRef>
              <c:f>Sheet1!$A$2:$A$112</c:f>
              <c:numCache>
                <c:formatCode>General</c:formatCode>
                <c:ptCount val="111"/>
                <c:pt idx="0">
                  <c:v>0.0</c:v>
                </c:pt>
                <c:pt idx="1">
                  <c:v>3.0</c:v>
                </c:pt>
                <c:pt idx="2">
                  <c:v>3.0</c:v>
                </c:pt>
                <c:pt idx="3">
                  <c:v>9.0</c:v>
                </c:pt>
                <c:pt idx="4">
                  <c:v>9.0</c:v>
                </c:pt>
                <c:pt idx="5">
                  <c:v>10.0</c:v>
                </c:pt>
                <c:pt idx="6">
                  <c:v>10.0</c:v>
                </c:pt>
                <c:pt idx="7">
                  <c:v>11.0</c:v>
                </c:pt>
                <c:pt idx="8">
                  <c:v>11.0</c:v>
                </c:pt>
                <c:pt idx="9">
                  <c:v>15.0</c:v>
                </c:pt>
                <c:pt idx="10">
                  <c:v>15.0</c:v>
                </c:pt>
                <c:pt idx="11">
                  <c:v>18.0</c:v>
                </c:pt>
                <c:pt idx="12">
                  <c:v>18.0</c:v>
                </c:pt>
                <c:pt idx="13">
                  <c:v>21.0</c:v>
                </c:pt>
                <c:pt idx="14">
                  <c:v>21.0</c:v>
                </c:pt>
                <c:pt idx="15">
                  <c:v>23.0</c:v>
                </c:pt>
                <c:pt idx="16">
                  <c:v>23.0</c:v>
                </c:pt>
                <c:pt idx="17">
                  <c:v>24.0</c:v>
                </c:pt>
                <c:pt idx="18">
                  <c:v>24.0</c:v>
                </c:pt>
                <c:pt idx="19">
                  <c:v>25.0</c:v>
                </c:pt>
                <c:pt idx="20">
                  <c:v>25.0</c:v>
                </c:pt>
                <c:pt idx="21">
                  <c:v>29.0</c:v>
                </c:pt>
                <c:pt idx="22">
                  <c:v>29.0</c:v>
                </c:pt>
                <c:pt idx="23">
                  <c:v>30.0</c:v>
                </c:pt>
                <c:pt idx="24">
                  <c:v>30.0</c:v>
                </c:pt>
                <c:pt idx="25">
                  <c:v>32.0</c:v>
                </c:pt>
                <c:pt idx="26">
                  <c:v>32.0</c:v>
                </c:pt>
                <c:pt idx="27">
                  <c:v>35.0</c:v>
                </c:pt>
                <c:pt idx="28">
                  <c:v>35.0</c:v>
                </c:pt>
                <c:pt idx="29">
                  <c:v>36.0</c:v>
                </c:pt>
                <c:pt idx="30">
                  <c:v>36.0</c:v>
                </c:pt>
                <c:pt idx="31">
                  <c:v>41.0</c:v>
                </c:pt>
                <c:pt idx="32">
                  <c:v>41.0</c:v>
                </c:pt>
                <c:pt idx="33">
                  <c:v>42.0</c:v>
                </c:pt>
                <c:pt idx="34">
                  <c:v>42.0</c:v>
                </c:pt>
                <c:pt idx="35">
                  <c:v>45.0</c:v>
                </c:pt>
                <c:pt idx="36">
                  <c:v>45.0</c:v>
                </c:pt>
                <c:pt idx="37">
                  <c:v>46.0</c:v>
                </c:pt>
                <c:pt idx="38">
                  <c:v>46.0</c:v>
                </c:pt>
                <c:pt idx="39">
                  <c:v>47.0</c:v>
                </c:pt>
                <c:pt idx="40">
                  <c:v>47.0</c:v>
                </c:pt>
                <c:pt idx="41">
                  <c:v>48.0</c:v>
                </c:pt>
                <c:pt idx="42">
                  <c:v>48.0</c:v>
                </c:pt>
                <c:pt idx="43">
                  <c:v>49.0</c:v>
                </c:pt>
                <c:pt idx="44">
                  <c:v>49.0</c:v>
                </c:pt>
                <c:pt idx="45">
                  <c:v>50.0</c:v>
                </c:pt>
                <c:pt idx="46">
                  <c:v>50.0</c:v>
                </c:pt>
                <c:pt idx="47">
                  <c:v>52.0</c:v>
                </c:pt>
                <c:pt idx="48">
                  <c:v>52.0</c:v>
                </c:pt>
                <c:pt idx="49">
                  <c:v>53.0</c:v>
                </c:pt>
                <c:pt idx="50">
                  <c:v>53.0</c:v>
                </c:pt>
                <c:pt idx="51">
                  <c:v>54.0</c:v>
                </c:pt>
                <c:pt idx="52">
                  <c:v>54.0</c:v>
                </c:pt>
                <c:pt idx="53">
                  <c:v>55.0</c:v>
                </c:pt>
                <c:pt idx="54">
                  <c:v>55.0</c:v>
                </c:pt>
                <c:pt idx="55">
                  <c:v>56.0</c:v>
                </c:pt>
                <c:pt idx="56">
                  <c:v>56.0</c:v>
                </c:pt>
                <c:pt idx="57">
                  <c:v>57.0</c:v>
                </c:pt>
                <c:pt idx="58">
                  <c:v>57.0</c:v>
                </c:pt>
                <c:pt idx="59">
                  <c:v>62.0</c:v>
                </c:pt>
                <c:pt idx="60">
                  <c:v>62.0</c:v>
                </c:pt>
                <c:pt idx="61">
                  <c:v>64.0</c:v>
                </c:pt>
                <c:pt idx="62">
                  <c:v>64.0</c:v>
                </c:pt>
                <c:pt idx="63">
                  <c:v>70.0</c:v>
                </c:pt>
                <c:pt idx="64">
                  <c:v>70.0</c:v>
                </c:pt>
                <c:pt idx="65">
                  <c:v>71.0</c:v>
                </c:pt>
                <c:pt idx="66">
                  <c:v>71.0</c:v>
                </c:pt>
                <c:pt idx="67">
                  <c:v>72.0</c:v>
                </c:pt>
                <c:pt idx="68">
                  <c:v>72.0</c:v>
                </c:pt>
                <c:pt idx="69">
                  <c:v>73.0</c:v>
                </c:pt>
                <c:pt idx="70">
                  <c:v>73.0</c:v>
                </c:pt>
                <c:pt idx="71">
                  <c:v>74.0</c:v>
                </c:pt>
                <c:pt idx="72">
                  <c:v>74.0</c:v>
                </c:pt>
                <c:pt idx="73">
                  <c:v>76.0</c:v>
                </c:pt>
                <c:pt idx="74">
                  <c:v>76.0</c:v>
                </c:pt>
                <c:pt idx="75">
                  <c:v>78.0</c:v>
                </c:pt>
                <c:pt idx="76">
                  <c:v>78.0</c:v>
                </c:pt>
                <c:pt idx="77">
                  <c:v>80.0</c:v>
                </c:pt>
                <c:pt idx="78">
                  <c:v>80.0</c:v>
                </c:pt>
                <c:pt idx="79">
                  <c:v>82.0</c:v>
                </c:pt>
                <c:pt idx="80">
                  <c:v>82.0</c:v>
                </c:pt>
                <c:pt idx="81">
                  <c:v>93.0</c:v>
                </c:pt>
                <c:pt idx="82">
                  <c:v>93.0</c:v>
                </c:pt>
                <c:pt idx="83">
                  <c:v>94.0</c:v>
                </c:pt>
                <c:pt idx="84">
                  <c:v>94.0</c:v>
                </c:pt>
                <c:pt idx="85">
                  <c:v>97.0</c:v>
                </c:pt>
                <c:pt idx="86">
                  <c:v>97.0</c:v>
                </c:pt>
                <c:pt idx="87">
                  <c:v>101.0</c:v>
                </c:pt>
                <c:pt idx="88">
                  <c:v>101.0</c:v>
                </c:pt>
                <c:pt idx="89">
                  <c:v>102.0</c:v>
                </c:pt>
                <c:pt idx="90">
                  <c:v>102.0</c:v>
                </c:pt>
                <c:pt idx="91">
                  <c:v>103.0</c:v>
                </c:pt>
                <c:pt idx="92">
                  <c:v>103.0</c:v>
                </c:pt>
                <c:pt idx="93">
                  <c:v>111.0</c:v>
                </c:pt>
                <c:pt idx="94">
                  <c:v>111.0</c:v>
                </c:pt>
                <c:pt idx="95">
                  <c:v>114.0</c:v>
                </c:pt>
                <c:pt idx="96">
                  <c:v>114.0</c:v>
                </c:pt>
                <c:pt idx="97">
                  <c:v>118.0</c:v>
                </c:pt>
                <c:pt idx="98">
                  <c:v>118.0</c:v>
                </c:pt>
                <c:pt idx="99">
                  <c:v>120.0</c:v>
                </c:pt>
                <c:pt idx="100">
                  <c:v>120.0</c:v>
                </c:pt>
                <c:pt idx="101">
                  <c:v>121.0</c:v>
                </c:pt>
                <c:pt idx="102">
                  <c:v>121.0</c:v>
                </c:pt>
                <c:pt idx="103">
                  <c:v>127.0</c:v>
                </c:pt>
                <c:pt idx="104">
                  <c:v>127.0</c:v>
                </c:pt>
                <c:pt idx="105">
                  <c:v>133.0</c:v>
                </c:pt>
                <c:pt idx="106">
                  <c:v>133.0</c:v>
                </c:pt>
                <c:pt idx="107">
                  <c:v>155.0</c:v>
                </c:pt>
                <c:pt idx="108">
                  <c:v>155.0</c:v>
                </c:pt>
                <c:pt idx="109">
                  <c:v>191.0</c:v>
                </c:pt>
                <c:pt idx="110">
                  <c:v>191.0</c:v>
                </c:pt>
              </c:numCache>
            </c:numRef>
          </c:xVal>
          <c:yVal>
            <c:numRef>
              <c:f>Sheet1!$B$2:$B$112</c:f>
              <c:numCache>
                <c:formatCode>General</c:formatCode>
                <c:ptCount val="111"/>
                <c:pt idx="0">
                  <c:v>1.0</c:v>
                </c:pt>
                <c:pt idx="1">
                  <c:v>1.0</c:v>
                </c:pt>
                <c:pt idx="2">
                  <c:v>0.9848484848484849</c:v>
                </c:pt>
                <c:pt idx="3">
                  <c:v>0.9848484848484849</c:v>
                </c:pt>
                <c:pt idx="4">
                  <c:v>0.9545454545454548</c:v>
                </c:pt>
                <c:pt idx="5">
                  <c:v>0.9545454545454548</c:v>
                </c:pt>
                <c:pt idx="6">
                  <c:v>0.9393939393939399</c:v>
                </c:pt>
                <c:pt idx="7">
                  <c:v>0.9393939393939399</c:v>
                </c:pt>
                <c:pt idx="8">
                  <c:v>0.9090909090909092</c:v>
                </c:pt>
                <c:pt idx="9">
                  <c:v>0.9090909090909092</c:v>
                </c:pt>
                <c:pt idx="10">
                  <c:v>0.8939393939393945</c:v>
                </c:pt>
                <c:pt idx="11">
                  <c:v>0.8939393939393945</c:v>
                </c:pt>
                <c:pt idx="12">
                  <c:v>0.8636363636363641</c:v>
                </c:pt>
                <c:pt idx="13">
                  <c:v>0.8636363636363641</c:v>
                </c:pt>
                <c:pt idx="14">
                  <c:v>0.8484848484848492</c:v>
                </c:pt>
                <c:pt idx="15">
                  <c:v>0.8484848484848492</c:v>
                </c:pt>
                <c:pt idx="16">
                  <c:v>0.8333333333333338</c:v>
                </c:pt>
                <c:pt idx="17">
                  <c:v>0.8333333333333338</c:v>
                </c:pt>
                <c:pt idx="18">
                  <c:v>0.8181818181818186</c:v>
                </c:pt>
                <c:pt idx="19">
                  <c:v>0.8181818181818186</c:v>
                </c:pt>
                <c:pt idx="20">
                  <c:v>0.8030303030303034</c:v>
                </c:pt>
                <c:pt idx="21">
                  <c:v>0.8030303030303034</c:v>
                </c:pt>
                <c:pt idx="22">
                  <c:v>0.7878787878787883</c:v>
                </c:pt>
                <c:pt idx="23">
                  <c:v>0.7878787878787883</c:v>
                </c:pt>
                <c:pt idx="24">
                  <c:v>0.7575757575757578</c:v>
                </c:pt>
                <c:pt idx="25">
                  <c:v>0.7575757575757578</c:v>
                </c:pt>
                <c:pt idx="26">
                  <c:v>0.7424242424242425</c:v>
                </c:pt>
                <c:pt idx="27">
                  <c:v>0.7424242424242425</c:v>
                </c:pt>
                <c:pt idx="28">
                  <c:v>0.7272727272727277</c:v>
                </c:pt>
                <c:pt idx="29">
                  <c:v>0.7272727272727277</c:v>
                </c:pt>
                <c:pt idx="30">
                  <c:v>0.7121212121212123</c:v>
                </c:pt>
                <c:pt idx="31">
                  <c:v>0.7121212121212123</c:v>
                </c:pt>
                <c:pt idx="32">
                  <c:v>0.6969696969696972</c:v>
                </c:pt>
                <c:pt idx="33">
                  <c:v>0.6969696969696972</c:v>
                </c:pt>
                <c:pt idx="34">
                  <c:v>0.681818181818182</c:v>
                </c:pt>
                <c:pt idx="35">
                  <c:v>0.681818181818182</c:v>
                </c:pt>
                <c:pt idx="36">
                  <c:v>0.6515151515151517</c:v>
                </c:pt>
                <c:pt idx="37">
                  <c:v>0.6515151515151517</c:v>
                </c:pt>
                <c:pt idx="38">
                  <c:v>0.6363636363636367</c:v>
                </c:pt>
                <c:pt idx="39">
                  <c:v>0.6363636363636367</c:v>
                </c:pt>
                <c:pt idx="40">
                  <c:v>0.6212121212121215</c:v>
                </c:pt>
                <c:pt idx="41">
                  <c:v>0.6212121212121215</c:v>
                </c:pt>
                <c:pt idx="42">
                  <c:v>0.6060606060606063</c:v>
                </c:pt>
                <c:pt idx="43">
                  <c:v>0.6060606060606063</c:v>
                </c:pt>
                <c:pt idx="44">
                  <c:v>0.590909090909091</c:v>
                </c:pt>
                <c:pt idx="45">
                  <c:v>0.590909090909091</c:v>
                </c:pt>
                <c:pt idx="46">
                  <c:v>0.5757575757575759</c:v>
                </c:pt>
                <c:pt idx="47">
                  <c:v>0.5757575757575759</c:v>
                </c:pt>
                <c:pt idx="48">
                  <c:v>0.5454545454545456</c:v>
                </c:pt>
                <c:pt idx="49">
                  <c:v>0.5454545454545456</c:v>
                </c:pt>
                <c:pt idx="50">
                  <c:v>0.5151515151515155</c:v>
                </c:pt>
                <c:pt idx="51">
                  <c:v>0.5151515151515155</c:v>
                </c:pt>
                <c:pt idx="52">
                  <c:v>0.5000000000000002</c:v>
                </c:pt>
                <c:pt idx="53">
                  <c:v>0.5000000000000002</c:v>
                </c:pt>
                <c:pt idx="54">
                  <c:v>0.4696969696969699</c:v>
                </c:pt>
                <c:pt idx="55">
                  <c:v>0.4696969696969699</c:v>
                </c:pt>
                <c:pt idx="56">
                  <c:v>0.45454545454545475</c:v>
                </c:pt>
                <c:pt idx="57">
                  <c:v>0.45454545454545475</c:v>
                </c:pt>
                <c:pt idx="58">
                  <c:v>0.4393939393939396</c:v>
                </c:pt>
                <c:pt idx="59">
                  <c:v>0.4393939393939396</c:v>
                </c:pt>
                <c:pt idx="60">
                  <c:v>0.42424242424242437</c:v>
                </c:pt>
                <c:pt idx="61">
                  <c:v>0.42424242424242437</c:v>
                </c:pt>
                <c:pt idx="62">
                  <c:v>0.4090909090909093</c:v>
                </c:pt>
                <c:pt idx="63">
                  <c:v>0.4090909090909093</c:v>
                </c:pt>
                <c:pt idx="64">
                  <c:v>0.39393939393939414</c:v>
                </c:pt>
                <c:pt idx="65">
                  <c:v>0.39393939393939414</c:v>
                </c:pt>
                <c:pt idx="66">
                  <c:v>0.37878787878787884</c:v>
                </c:pt>
                <c:pt idx="67">
                  <c:v>0.37878787878787884</c:v>
                </c:pt>
                <c:pt idx="68">
                  <c:v>0.3636363636363638</c:v>
                </c:pt>
                <c:pt idx="69">
                  <c:v>0.3636363636363638</c:v>
                </c:pt>
                <c:pt idx="70">
                  <c:v>0.3484848484848486</c:v>
                </c:pt>
                <c:pt idx="71">
                  <c:v>0.3484848484848486</c:v>
                </c:pt>
                <c:pt idx="72">
                  <c:v>0.33333333333333354</c:v>
                </c:pt>
                <c:pt idx="73">
                  <c:v>0.33333333333333354</c:v>
                </c:pt>
                <c:pt idx="74">
                  <c:v>0.3181818181818183</c:v>
                </c:pt>
                <c:pt idx="75">
                  <c:v>0.3181818181818183</c:v>
                </c:pt>
                <c:pt idx="76">
                  <c:v>0.3030303030303031</c:v>
                </c:pt>
                <c:pt idx="77">
                  <c:v>0.3030303030303031</c:v>
                </c:pt>
                <c:pt idx="78">
                  <c:v>0.2878787878787879</c:v>
                </c:pt>
                <c:pt idx="79">
                  <c:v>0.2878787878787879</c:v>
                </c:pt>
                <c:pt idx="80">
                  <c:v>0.27272727272727276</c:v>
                </c:pt>
                <c:pt idx="81">
                  <c:v>0.27272727272727276</c:v>
                </c:pt>
                <c:pt idx="82">
                  <c:v>0.2575757575757577</c:v>
                </c:pt>
                <c:pt idx="83">
                  <c:v>0.2575757575757577</c:v>
                </c:pt>
                <c:pt idx="84">
                  <c:v>0.2424242424242425</c:v>
                </c:pt>
                <c:pt idx="85">
                  <c:v>0.2424242424242425</c:v>
                </c:pt>
                <c:pt idx="86">
                  <c:v>0.22727272727272735</c:v>
                </c:pt>
                <c:pt idx="87">
                  <c:v>0.22727272727272735</c:v>
                </c:pt>
                <c:pt idx="88">
                  <c:v>0.21212121212121215</c:v>
                </c:pt>
                <c:pt idx="89">
                  <c:v>0.21212121212121215</c:v>
                </c:pt>
                <c:pt idx="90">
                  <c:v>0.19696969696969704</c:v>
                </c:pt>
                <c:pt idx="91">
                  <c:v>0.19696969696969704</c:v>
                </c:pt>
                <c:pt idx="92">
                  <c:v>0.18181818181818188</c:v>
                </c:pt>
                <c:pt idx="93">
                  <c:v>0.18181818181818188</c:v>
                </c:pt>
                <c:pt idx="94">
                  <c:v>0.16666666666666674</c:v>
                </c:pt>
                <c:pt idx="95">
                  <c:v>0.16666666666666674</c:v>
                </c:pt>
                <c:pt idx="96">
                  <c:v>0.1515151515151516</c:v>
                </c:pt>
                <c:pt idx="97">
                  <c:v>0.1515151515151516</c:v>
                </c:pt>
                <c:pt idx="98">
                  <c:v>0.13636363636363644</c:v>
                </c:pt>
                <c:pt idx="99">
                  <c:v>0.13636363636363644</c:v>
                </c:pt>
                <c:pt idx="100">
                  <c:v>0.12121212121212123</c:v>
                </c:pt>
                <c:pt idx="101">
                  <c:v>0.12121212121212123</c:v>
                </c:pt>
                <c:pt idx="102">
                  <c:v>0.09090909090909094</c:v>
                </c:pt>
                <c:pt idx="103">
                  <c:v>0.09090909090909094</c:v>
                </c:pt>
                <c:pt idx="104">
                  <c:v>0.0757575757575758</c:v>
                </c:pt>
                <c:pt idx="105">
                  <c:v>0.0757575757575758</c:v>
                </c:pt>
                <c:pt idx="106">
                  <c:v>0.060606060606060635</c:v>
                </c:pt>
                <c:pt idx="107">
                  <c:v>0.060606060606060635</c:v>
                </c:pt>
                <c:pt idx="108">
                  <c:v>0.045454545454545484</c:v>
                </c:pt>
                <c:pt idx="109">
                  <c:v>0.045454545454545484</c:v>
                </c:pt>
                <c:pt idx="110">
                  <c:v>0.030303030303030318</c:v>
                </c:pt>
              </c:numCache>
            </c:numRef>
          </c:yVal>
          <c:smooth val="0"/>
        </c:ser>
        <c:ser>
          <c:idx val="1"/>
          <c:order val="1"/>
          <c:tx>
            <c:strRef>
              <c:f>Sheet1!$B$114</c:f>
              <c:strCache>
                <c:ptCount val="1"/>
                <c:pt idx="0">
                  <c:v>22–37 cm³ (median 56 wk)</c:v>
                </c:pt>
              </c:strCache>
            </c:strRef>
          </c:tx>
          <c:spPr>
            <a:ln w="31750">
              <a:solidFill>
                <a:srgbClr val="6DA7EC"/>
              </a:solidFill>
            </a:ln>
          </c:spPr>
          <c:marker>
            <c:symbol val="none"/>
          </c:marker>
          <c:xVal>
            <c:numRef>
              <c:f>Sheet1!$A$115:$A$211</c:f>
              <c:numCache>
                <c:formatCode>General</c:formatCode>
                <c:ptCount val="97"/>
                <c:pt idx="0">
                  <c:v>0.0</c:v>
                </c:pt>
                <c:pt idx="1">
                  <c:v>8.0</c:v>
                </c:pt>
                <c:pt idx="2">
                  <c:v>8.0</c:v>
                </c:pt>
                <c:pt idx="3">
                  <c:v>9.0</c:v>
                </c:pt>
                <c:pt idx="4">
                  <c:v>9.0</c:v>
                </c:pt>
                <c:pt idx="5">
                  <c:v>10.0</c:v>
                </c:pt>
                <c:pt idx="6">
                  <c:v>10.0</c:v>
                </c:pt>
                <c:pt idx="7">
                  <c:v>13.0</c:v>
                </c:pt>
                <c:pt idx="8">
                  <c:v>13.0</c:v>
                </c:pt>
                <c:pt idx="9">
                  <c:v>15.0</c:v>
                </c:pt>
                <c:pt idx="10">
                  <c:v>15.0</c:v>
                </c:pt>
                <c:pt idx="11">
                  <c:v>16.0</c:v>
                </c:pt>
                <c:pt idx="12">
                  <c:v>16.0</c:v>
                </c:pt>
                <c:pt idx="13">
                  <c:v>17.0</c:v>
                </c:pt>
                <c:pt idx="14">
                  <c:v>17.0</c:v>
                </c:pt>
                <c:pt idx="15">
                  <c:v>21.0</c:v>
                </c:pt>
                <c:pt idx="16">
                  <c:v>21.0</c:v>
                </c:pt>
                <c:pt idx="17">
                  <c:v>22.0</c:v>
                </c:pt>
                <c:pt idx="18">
                  <c:v>22.0</c:v>
                </c:pt>
                <c:pt idx="19">
                  <c:v>24.0</c:v>
                </c:pt>
                <c:pt idx="20">
                  <c:v>24.0</c:v>
                </c:pt>
                <c:pt idx="21">
                  <c:v>28.0</c:v>
                </c:pt>
                <c:pt idx="22">
                  <c:v>28.0</c:v>
                </c:pt>
                <c:pt idx="23">
                  <c:v>29.0</c:v>
                </c:pt>
                <c:pt idx="24">
                  <c:v>29.0</c:v>
                </c:pt>
                <c:pt idx="25">
                  <c:v>30.0</c:v>
                </c:pt>
                <c:pt idx="26">
                  <c:v>30.0</c:v>
                </c:pt>
                <c:pt idx="27">
                  <c:v>34.0</c:v>
                </c:pt>
                <c:pt idx="28">
                  <c:v>34.0</c:v>
                </c:pt>
                <c:pt idx="29">
                  <c:v>36.0</c:v>
                </c:pt>
                <c:pt idx="30">
                  <c:v>36.0</c:v>
                </c:pt>
                <c:pt idx="31">
                  <c:v>40.0</c:v>
                </c:pt>
                <c:pt idx="32">
                  <c:v>40.0</c:v>
                </c:pt>
                <c:pt idx="33">
                  <c:v>41.0</c:v>
                </c:pt>
                <c:pt idx="34">
                  <c:v>41.0</c:v>
                </c:pt>
                <c:pt idx="35">
                  <c:v>43.0</c:v>
                </c:pt>
                <c:pt idx="36">
                  <c:v>43.0</c:v>
                </c:pt>
                <c:pt idx="37">
                  <c:v>44.0</c:v>
                </c:pt>
                <c:pt idx="38">
                  <c:v>44.0</c:v>
                </c:pt>
                <c:pt idx="39">
                  <c:v>45.0</c:v>
                </c:pt>
                <c:pt idx="40">
                  <c:v>45.0</c:v>
                </c:pt>
                <c:pt idx="41">
                  <c:v>47.0</c:v>
                </c:pt>
                <c:pt idx="42">
                  <c:v>47.0</c:v>
                </c:pt>
                <c:pt idx="43">
                  <c:v>50.0</c:v>
                </c:pt>
                <c:pt idx="44">
                  <c:v>50.0</c:v>
                </c:pt>
                <c:pt idx="45">
                  <c:v>51.0</c:v>
                </c:pt>
                <c:pt idx="46">
                  <c:v>51.0</c:v>
                </c:pt>
                <c:pt idx="47">
                  <c:v>54.0</c:v>
                </c:pt>
                <c:pt idx="48">
                  <c:v>54.0</c:v>
                </c:pt>
                <c:pt idx="49">
                  <c:v>56.0</c:v>
                </c:pt>
                <c:pt idx="50">
                  <c:v>56.0</c:v>
                </c:pt>
                <c:pt idx="51">
                  <c:v>57.0</c:v>
                </c:pt>
                <c:pt idx="52">
                  <c:v>57.0</c:v>
                </c:pt>
                <c:pt idx="53">
                  <c:v>60.0</c:v>
                </c:pt>
                <c:pt idx="54">
                  <c:v>60.0</c:v>
                </c:pt>
                <c:pt idx="55">
                  <c:v>61.0</c:v>
                </c:pt>
                <c:pt idx="56">
                  <c:v>61.0</c:v>
                </c:pt>
                <c:pt idx="57">
                  <c:v>63.0</c:v>
                </c:pt>
                <c:pt idx="58">
                  <c:v>63.0</c:v>
                </c:pt>
                <c:pt idx="59">
                  <c:v>66.0</c:v>
                </c:pt>
                <c:pt idx="60">
                  <c:v>66.0</c:v>
                </c:pt>
                <c:pt idx="61">
                  <c:v>71.0</c:v>
                </c:pt>
                <c:pt idx="62">
                  <c:v>71.0</c:v>
                </c:pt>
                <c:pt idx="63">
                  <c:v>72.0</c:v>
                </c:pt>
                <c:pt idx="64">
                  <c:v>72.0</c:v>
                </c:pt>
                <c:pt idx="65">
                  <c:v>73.0</c:v>
                </c:pt>
                <c:pt idx="66">
                  <c:v>73.0</c:v>
                </c:pt>
                <c:pt idx="67">
                  <c:v>75.0</c:v>
                </c:pt>
                <c:pt idx="68">
                  <c:v>75.0</c:v>
                </c:pt>
                <c:pt idx="69">
                  <c:v>76.0</c:v>
                </c:pt>
                <c:pt idx="70">
                  <c:v>76.0</c:v>
                </c:pt>
                <c:pt idx="71">
                  <c:v>77.0</c:v>
                </c:pt>
                <c:pt idx="72">
                  <c:v>77.0</c:v>
                </c:pt>
                <c:pt idx="73">
                  <c:v>78.0</c:v>
                </c:pt>
                <c:pt idx="74">
                  <c:v>78.0</c:v>
                </c:pt>
                <c:pt idx="75">
                  <c:v>79.0</c:v>
                </c:pt>
                <c:pt idx="76">
                  <c:v>79.0</c:v>
                </c:pt>
                <c:pt idx="77">
                  <c:v>80.0</c:v>
                </c:pt>
                <c:pt idx="78">
                  <c:v>80.0</c:v>
                </c:pt>
                <c:pt idx="79">
                  <c:v>81.0</c:v>
                </c:pt>
                <c:pt idx="80">
                  <c:v>81.0</c:v>
                </c:pt>
                <c:pt idx="81">
                  <c:v>87.0</c:v>
                </c:pt>
                <c:pt idx="82">
                  <c:v>87.0</c:v>
                </c:pt>
                <c:pt idx="83">
                  <c:v>90.0</c:v>
                </c:pt>
                <c:pt idx="84">
                  <c:v>90.0</c:v>
                </c:pt>
                <c:pt idx="85">
                  <c:v>94.0</c:v>
                </c:pt>
                <c:pt idx="86">
                  <c:v>94.0</c:v>
                </c:pt>
                <c:pt idx="87">
                  <c:v>95.0</c:v>
                </c:pt>
                <c:pt idx="88">
                  <c:v>95.0</c:v>
                </c:pt>
                <c:pt idx="89">
                  <c:v>114.0</c:v>
                </c:pt>
                <c:pt idx="90">
                  <c:v>114.0</c:v>
                </c:pt>
                <c:pt idx="91">
                  <c:v>137.0</c:v>
                </c:pt>
                <c:pt idx="92">
                  <c:v>137.0</c:v>
                </c:pt>
                <c:pt idx="93">
                  <c:v>139.0</c:v>
                </c:pt>
                <c:pt idx="94">
                  <c:v>139.0</c:v>
                </c:pt>
                <c:pt idx="95">
                  <c:v>149.0</c:v>
                </c:pt>
                <c:pt idx="96">
                  <c:v>149.0</c:v>
                </c:pt>
              </c:numCache>
            </c:numRef>
          </c:xVal>
          <c:yVal>
            <c:numRef>
              <c:f>Sheet1!$B$115:$B$211</c:f>
              <c:numCache>
                <c:formatCode>General</c:formatCode>
                <c:ptCount val="97"/>
                <c:pt idx="0">
                  <c:v>1.0</c:v>
                </c:pt>
                <c:pt idx="1">
                  <c:v>1.0</c:v>
                </c:pt>
                <c:pt idx="2">
                  <c:v>0.9846153846153846</c:v>
                </c:pt>
                <c:pt idx="3">
                  <c:v>0.9846153846153846</c:v>
                </c:pt>
                <c:pt idx="4">
                  <c:v>0.9538461538461542</c:v>
                </c:pt>
                <c:pt idx="5">
                  <c:v>0.9538461538461542</c:v>
                </c:pt>
                <c:pt idx="6">
                  <c:v>0.9384615384615389</c:v>
                </c:pt>
                <c:pt idx="7">
                  <c:v>0.9384615384615389</c:v>
                </c:pt>
                <c:pt idx="8">
                  <c:v>0.9230769230769231</c:v>
                </c:pt>
                <c:pt idx="9">
                  <c:v>0.9230769230769231</c:v>
                </c:pt>
                <c:pt idx="10">
                  <c:v>0.9076923076923082</c:v>
                </c:pt>
                <c:pt idx="11">
                  <c:v>0.9076923076923082</c:v>
                </c:pt>
                <c:pt idx="12">
                  <c:v>0.8923076923076924</c:v>
                </c:pt>
                <c:pt idx="13">
                  <c:v>0.8923076923076924</c:v>
                </c:pt>
                <c:pt idx="14">
                  <c:v>0.8615384615384621</c:v>
                </c:pt>
                <c:pt idx="15">
                  <c:v>0.8615384615384621</c:v>
                </c:pt>
                <c:pt idx="16">
                  <c:v>0.8461538461538466</c:v>
                </c:pt>
                <c:pt idx="17">
                  <c:v>0.8461538461538466</c:v>
                </c:pt>
                <c:pt idx="18">
                  <c:v>0.8153846153846157</c:v>
                </c:pt>
                <c:pt idx="19">
                  <c:v>0.8153846153846157</c:v>
                </c:pt>
                <c:pt idx="20">
                  <c:v>0.8000000000000004</c:v>
                </c:pt>
                <c:pt idx="21">
                  <c:v>0.8000000000000004</c:v>
                </c:pt>
                <c:pt idx="22">
                  <c:v>0.7846153846153848</c:v>
                </c:pt>
                <c:pt idx="23">
                  <c:v>0.7846153846153848</c:v>
                </c:pt>
                <c:pt idx="24">
                  <c:v>0.7692307692307694</c:v>
                </c:pt>
                <c:pt idx="25">
                  <c:v>0.7692307692307694</c:v>
                </c:pt>
                <c:pt idx="26">
                  <c:v>0.7384615384615388</c:v>
                </c:pt>
                <c:pt idx="27">
                  <c:v>0.7384615384615388</c:v>
                </c:pt>
                <c:pt idx="28">
                  <c:v>0.707692307692308</c:v>
                </c:pt>
                <c:pt idx="29">
                  <c:v>0.707692307692308</c:v>
                </c:pt>
                <c:pt idx="30">
                  <c:v>0.6923076923076924</c:v>
                </c:pt>
                <c:pt idx="31">
                  <c:v>0.6923076923076924</c:v>
                </c:pt>
                <c:pt idx="32">
                  <c:v>0.6769230769230771</c:v>
                </c:pt>
                <c:pt idx="33">
                  <c:v>0.6769230769230771</c:v>
                </c:pt>
                <c:pt idx="34">
                  <c:v>0.6615384615384617</c:v>
                </c:pt>
                <c:pt idx="35">
                  <c:v>0.6615384615384617</c:v>
                </c:pt>
                <c:pt idx="36">
                  <c:v>0.6461538461538464</c:v>
                </c:pt>
                <c:pt idx="37">
                  <c:v>0.6461538461538464</c:v>
                </c:pt>
                <c:pt idx="38">
                  <c:v>0.6307692307692311</c:v>
                </c:pt>
                <c:pt idx="39">
                  <c:v>0.6307692307692311</c:v>
                </c:pt>
                <c:pt idx="40">
                  <c:v>0.6153846153846155</c:v>
                </c:pt>
                <c:pt idx="41">
                  <c:v>0.6153846153846155</c:v>
                </c:pt>
                <c:pt idx="42">
                  <c:v>0.6000000000000001</c:v>
                </c:pt>
                <c:pt idx="43">
                  <c:v>0.6000000000000001</c:v>
                </c:pt>
                <c:pt idx="44">
                  <c:v>0.5846153846153848</c:v>
                </c:pt>
                <c:pt idx="45">
                  <c:v>0.5846153846153848</c:v>
                </c:pt>
                <c:pt idx="46">
                  <c:v>0.5384615384615385</c:v>
                </c:pt>
                <c:pt idx="47">
                  <c:v>0.5384615384615385</c:v>
                </c:pt>
                <c:pt idx="48">
                  <c:v>0.5076923076923079</c:v>
                </c:pt>
                <c:pt idx="49">
                  <c:v>0.5076923076923079</c:v>
                </c:pt>
                <c:pt idx="50">
                  <c:v>0.47692307692307706</c:v>
                </c:pt>
                <c:pt idx="51">
                  <c:v>0.47692307692307706</c:v>
                </c:pt>
                <c:pt idx="52">
                  <c:v>0.44615384615384635</c:v>
                </c:pt>
                <c:pt idx="53">
                  <c:v>0.44615384615384635</c:v>
                </c:pt>
                <c:pt idx="54">
                  <c:v>0.4000000000000002</c:v>
                </c:pt>
                <c:pt idx="55">
                  <c:v>0.4000000000000002</c:v>
                </c:pt>
                <c:pt idx="56">
                  <c:v>0.3692307692307694</c:v>
                </c:pt>
                <c:pt idx="57">
                  <c:v>0.3692307692307694</c:v>
                </c:pt>
                <c:pt idx="58">
                  <c:v>0.353846153846154</c:v>
                </c:pt>
                <c:pt idx="59">
                  <c:v>0.353846153846154</c:v>
                </c:pt>
                <c:pt idx="60">
                  <c:v>0.3230769230769232</c:v>
                </c:pt>
                <c:pt idx="61">
                  <c:v>0.3230769230769232</c:v>
                </c:pt>
                <c:pt idx="62">
                  <c:v>0.30769230769230776</c:v>
                </c:pt>
                <c:pt idx="63">
                  <c:v>0.30769230769230776</c:v>
                </c:pt>
                <c:pt idx="64">
                  <c:v>0.27692307692307694</c:v>
                </c:pt>
                <c:pt idx="65">
                  <c:v>0.27692307692307694</c:v>
                </c:pt>
                <c:pt idx="66">
                  <c:v>0.26153846153846166</c:v>
                </c:pt>
                <c:pt idx="67">
                  <c:v>0.26153846153846166</c:v>
                </c:pt>
                <c:pt idx="68">
                  <c:v>0.2461538461538462</c:v>
                </c:pt>
                <c:pt idx="69">
                  <c:v>0.2461538461538462</c:v>
                </c:pt>
                <c:pt idx="70">
                  <c:v>0.23076923076923084</c:v>
                </c:pt>
                <c:pt idx="71">
                  <c:v>0.23076923076923084</c:v>
                </c:pt>
                <c:pt idx="72">
                  <c:v>0.2153846153846154</c:v>
                </c:pt>
                <c:pt idx="73">
                  <c:v>0.2153846153846154</c:v>
                </c:pt>
                <c:pt idx="74">
                  <c:v>0.20000000000000007</c:v>
                </c:pt>
                <c:pt idx="75">
                  <c:v>0.20000000000000007</c:v>
                </c:pt>
                <c:pt idx="76">
                  <c:v>0.18461538461538468</c:v>
                </c:pt>
                <c:pt idx="77">
                  <c:v>0.18461538461538468</c:v>
                </c:pt>
                <c:pt idx="78">
                  <c:v>0.1692307692307693</c:v>
                </c:pt>
                <c:pt idx="79">
                  <c:v>0.1692307692307693</c:v>
                </c:pt>
                <c:pt idx="80">
                  <c:v>0.15384615384615394</c:v>
                </c:pt>
                <c:pt idx="81">
                  <c:v>0.15384615384615394</c:v>
                </c:pt>
                <c:pt idx="82">
                  <c:v>0.13846153846153852</c:v>
                </c:pt>
                <c:pt idx="83">
                  <c:v>0.13846153846153852</c:v>
                </c:pt>
                <c:pt idx="84">
                  <c:v>0.1230769230769231</c:v>
                </c:pt>
                <c:pt idx="85">
                  <c:v>0.1230769230769231</c:v>
                </c:pt>
                <c:pt idx="86">
                  <c:v>0.10769230769230774</c:v>
                </c:pt>
                <c:pt idx="87">
                  <c:v>0.10769230769230774</c:v>
                </c:pt>
                <c:pt idx="88">
                  <c:v>0.07692307692307696</c:v>
                </c:pt>
                <c:pt idx="89">
                  <c:v>0.07692307692307696</c:v>
                </c:pt>
                <c:pt idx="90">
                  <c:v>0.06153846153846157</c:v>
                </c:pt>
                <c:pt idx="91">
                  <c:v>0.06153846153846157</c:v>
                </c:pt>
                <c:pt idx="92">
                  <c:v>0.046153846153846184</c:v>
                </c:pt>
                <c:pt idx="93">
                  <c:v>0.046153846153846184</c:v>
                </c:pt>
                <c:pt idx="94">
                  <c:v>0.015384615384615389</c:v>
                </c:pt>
                <c:pt idx="95">
                  <c:v>0.015384615384615389</c:v>
                </c:pt>
                <c:pt idx="96">
                  <c:v>0.0</c:v>
                </c:pt>
              </c:numCache>
            </c:numRef>
          </c:yVal>
          <c:smooth val="0"/>
        </c:ser>
        <c:ser>
          <c:idx val="2"/>
          <c:order val="2"/>
          <c:tx>
            <c:strRef>
              <c:f>Sheet1!$B$213</c:f>
              <c:strCache>
                <c:ptCount val="1"/>
                <c:pt idx="0">
                  <c:v>37–65 cm³ (median 50 wk)</c:v>
                </c:pt>
              </c:strCache>
            </c:strRef>
          </c:tx>
          <c:spPr>
            <a:ln w="31750">
              <a:solidFill>
                <a:srgbClr val="2A78D6"/>
              </a:solidFill>
            </a:ln>
          </c:spPr>
          <c:marker>
            <c:symbol val="none"/>
          </c:marker>
          <c:xVal>
            <c:numRef>
              <c:f>Sheet1!$A$214:$A$318</c:f>
              <c:numCache>
                <c:formatCode>General</c:formatCode>
                <c:ptCount val="105"/>
                <c:pt idx="0">
                  <c:v>0.0</c:v>
                </c:pt>
                <c:pt idx="1">
                  <c:v>3.0</c:v>
                </c:pt>
                <c:pt idx="2">
                  <c:v>3.0</c:v>
                </c:pt>
                <c:pt idx="3">
                  <c:v>4.0</c:v>
                </c:pt>
                <c:pt idx="4">
                  <c:v>4.0</c:v>
                </c:pt>
                <c:pt idx="5">
                  <c:v>6.0</c:v>
                </c:pt>
                <c:pt idx="6">
                  <c:v>6.0</c:v>
                </c:pt>
                <c:pt idx="7">
                  <c:v>7.0</c:v>
                </c:pt>
                <c:pt idx="8">
                  <c:v>7.0</c:v>
                </c:pt>
                <c:pt idx="9">
                  <c:v>9.0</c:v>
                </c:pt>
                <c:pt idx="10">
                  <c:v>9.0</c:v>
                </c:pt>
                <c:pt idx="11">
                  <c:v>10.0</c:v>
                </c:pt>
                <c:pt idx="12">
                  <c:v>10.0</c:v>
                </c:pt>
                <c:pt idx="13">
                  <c:v>12.0</c:v>
                </c:pt>
                <c:pt idx="14">
                  <c:v>12.0</c:v>
                </c:pt>
                <c:pt idx="15">
                  <c:v>15.0</c:v>
                </c:pt>
                <c:pt idx="16">
                  <c:v>15.0</c:v>
                </c:pt>
                <c:pt idx="17">
                  <c:v>16.0</c:v>
                </c:pt>
                <c:pt idx="18">
                  <c:v>16.0</c:v>
                </c:pt>
                <c:pt idx="19">
                  <c:v>18.0</c:v>
                </c:pt>
                <c:pt idx="20">
                  <c:v>18.0</c:v>
                </c:pt>
                <c:pt idx="21">
                  <c:v>19.0</c:v>
                </c:pt>
                <c:pt idx="22">
                  <c:v>19.0</c:v>
                </c:pt>
                <c:pt idx="23">
                  <c:v>23.0</c:v>
                </c:pt>
                <c:pt idx="24">
                  <c:v>23.0</c:v>
                </c:pt>
                <c:pt idx="25">
                  <c:v>26.0</c:v>
                </c:pt>
                <c:pt idx="26">
                  <c:v>26.0</c:v>
                </c:pt>
                <c:pt idx="27">
                  <c:v>29.0</c:v>
                </c:pt>
                <c:pt idx="28">
                  <c:v>29.0</c:v>
                </c:pt>
                <c:pt idx="29">
                  <c:v>34.0</c:v>
                </c:pt>
                <c:pt idx="30">
                  <c:v>34.0</c:v>
                </c:pt>
                <c:pt idx="31">
                  <c:v>36.0</c:v>
                </c:pt>
                <c:pt idx="32">
                  <c:v>36.0</c:v>
                </c:pt>
                <c:pt idx="33">
                  <c:v>38.0</c:v>
                </c:pt>
                <c:pt idx="34">
                  <c:v>38.0</c:v>
                </c:pt>
                <c:pt idx="35">
                  <c:v>40.0</c:v>
                </c:pt>
                <c:pt idx="36">
                  <c:v>40.0</c:v>
                </c:pt>
                <c:pt idx="37">
                  <c:v>42.0</c:v>
                </c:pt>
                <c:pt idx="38">
                  <c:v>42.0</c:v>
                </c:pt>
                <c:pt idx="39">
                  <c:v>43.0</c:v>
                </c:pt>
                <c:pt idx="40">
                  <c:v>43.0</c:v>
                </c:pt>
                <c:pt idx="41">
                  <c:v>44.0</c:v>
                </c:pt>
                <c:pt idx="42">
                  <c:v>44.0</c:v>
                </c:pt>
                <c:pt idx="43">
                  <c:v>45.0</c:v>
                </c:pt>
                <c:pt idx="44">
                  <c:v>45.0</c:v>
                </c:pt>
                <c:pt idx="45">
                  <c:v>47.0</c:v>
                </c:pt>
                <c:pt idx="46">
                  <c:v>47.0</c:v>
                </c:pt>
                <c:pt idx="47">
                  <c:v>50.0</c:v>
                </c:pt>
                <c:pt idx="48">
                  <c:v>50.0</c:v>
                </c:pt>
                <c:pt idx="49">
                  <c:v>53.0</c:v>
                </c:pt>
                <c:pt idx="50">
                  <c:v>53.0</c:v>
                </c:pt>
                <c:pt idx="51">
                  <c:v>56.0</c:v>
                </c:pt>
                <c:pt idx="52">
                  <c:v>56.0</c:v>
                </c:pt>
                <c:pt idx="53">
                  <c:v>57.0</c:v>
                </c:pt>
                <c:pt idx="54">
                  <c:v>57.0</c:v>
                </c:pt>
                <c:pt idx="55">
                  <c:v>58.0</c:v>
                </c:pt>
                <c:pt idx="56">
                  <c:v>58.0</c:v>
                </c:pt>
                <c:pt idx="57">
                  <c:v>63.0</c:v>
                </c:pt>
                <c:pt idx="58">
                  <c:v>63.0</c:v>
                </c:pt>
                <c:pt idx="59">
                  <c:v>64.0</c:v>
                </c:pt>
                <c:pt idx="60">
                  <c:v>64.0</c:v>
                </c:pt>
                <c:pt idx="61">
                  <c:v>67.0</c:v>
                </c:pt>
                <c:pt idx="62">
                  <c:v>67.0</c:v>
                </c:pt>
                <c:pt idx="63">
                  <c:v>69.0</c:v>
                </c:pt>
                <c:pt idx="64">
                  <c:v>69.0</c:v>
                </c:pt>
                <c:pt idx="65">
                  <c:v>70.0</c:v>
                </c:pt>
                <c:pt idx="66">
                  <c:v>70.0</c:v>
                </c:pt>
                <c:pt idx="67">
                  <c:v>71.0</c:v>
                </c:pt>
                <c:pt idx="68">
                  <c:v>71.0</c:v>
                </c:pt>
                <c:pt idx="69">
                  <c:v>73.0</c:v>
                </c:pt>
                <c:pt idx="70">
                  <c:v>73.0</c:v>
                </c:pt>
                <c:pt idx="71">
                  <c:v>78.0</c:v>
                </c:pt>
                <c:pt idx="72">
                  <c:v>78.0</c:v>
                </c:pt>
                <c:pt idx="73">
                  <c:v>79.0</c:v>
                </c:pt>
                <c:pt idx="74">
                  <c:v>79.0</c:v>
                </c:pt>
                <c:pt idx="75">
                  <c:v>80.0</c:v>
                </c:pt>
                <c:pt idx="76">
                  <c:v>80.0</c:v>
                </c:pt>
                <c:pt idx="77">
                  <c:v>81.0</c:v>
                </c:pt>
                <c:pt idx="78">
                  <c:v>81.0</c:v>
                </c:pt>
                <c:pt idx="79">
                  <c:v>93.0</c:v>
                </c:pt>
                <c:pt idx="80">
                  <c:v>93.0</c:v>
                </c:pt>
                <c:pt idx="81">
                  <c:v>100.0</c:v>
                </c:pt>
                <c:pt idx="82">
                  <c:v>100.0</c:v>
                </c:pt>
                <c:pt idx="83">
                  <c:v>103.0</c:v>
                </c:pt>
                <c:pt idx="84">
                  <c:v>103.0</c:v>
                </c:pt>
                <c:pt idx="85">
                  <c:v>104.0</c:v>
                </c:pt>
                <c:pt idx="86">
                  <c:v>104.0</c:v>
                </c:pt>
                <c:pt idx="87">
                  <c:v>108.0</c:v>
                </c:pt>
                <c:pt idx="88">
                  <c:v>108.0</c:v>
                </c:pt>
                <c:pt idx="89">
                  <c:v>109.0</c:v>
                </c:pt>
                <c:pt idx="90">
                  <c:v>109.0</c:v>
                </c:pt>
                <c:pt idx="91">
                  <c:v>127.0</c:v>
                </c:pt>
                <c:pt idx="92">
                  <c:v>127.0</c:v>
                </c:pt>
                <c:pt idx="93">
                  <c:v>140.0</c:v>
                </c:pt>
                <c:pt idx="94">
                  <c:v>140.0</c:v>
                </c:pt>
                <c:pt idx="95">
                  <c:v>150.0</c:v>
                </c:pt>
                <c:pt idx="96">
                  <c:v>150.0</c:v>
                </c:pt>
                <c:pt idx="97">
                  <c:v>158.0</c:v>
                </c:pt>
                <c:pt idx="98">
                  <c:v>158.0</c:v>
                </c:pt>
                <c:pt idx="99">
                  <c:v>159.0</c:v>
                </c:pt>
                <c:pt idx="100">
                  <c:v>159.0</c:v>
                </c:pt>
                <c:pt idx="101">
                  <c:v>170.0</c:v>
                </c:pt>
                <c:pt idx="102">
                  <c:v>170.0</c:v>
                </c:pt>
                <c:pt idx="103">
                  <c:v>196.0</c:v>
                </c:pt>
                <c:pt idx="104">
                  <c:v>196.0</c:v>
                </c:pt>
              </c:numCache>
            </c:numRef>
          </c:xVal>
          <c:yVal>
            <c:numRef>
              <c:f>Sheet1!$B$214:$B$318</c:f>
              <c:numCache>
                <c:formatCode>General</c:formatCode>
                <c:ptCount val="105"/>
                <c:pt idx="0">
                  <c:v>1.0</c:v>
                </c:pt>
                <c:pt idx="1">
                  <c:v>1.0</c:v>
                </c:pt>
                <c:pt idx="2">
                  <c:v>0.9846153846153846</c:v>
                </c:pt>
                <c:pt idx="3">
                  <c:v>0.9846153846153846</c:v>
                </c:pt>
                <c:pt idx="4">
                  <c:v>0.9692307692307695</c:v>
                </c:pt>
                <c:pt idx="5">
                  <c:v>0.9692307692307695</c:v>
                </c:pt>
                <c:pt idx="6">
                  <c:v>0.9076923076923082</c:v>
                </c:pt>
                <c:pt idx="7">
                  <c:v>0.9076923076923082</c:v>
                </c:pt>
                <c:pt idx="8">
                  <c:v>0.8923076923076924</c:v>
                </c:pt>
                <c:pt idx="9">
                  <c:v>0.8923076923076924</c:v>
                </c:pt>
                <c:pt idx="10">
                  <c:v>0.8769230769230772</c:v>
                </c:pt>
                <c:pt idx="11">
                  <c:v>0.8769230769230772</c:v>
                </c:pt>
                <c:pt idx="12">
                  <c:v>0.8615384615384621</c:v>
                </c:pt>
                <c:pt idx="13">
                  <c:v>0.8615384615384621</c:v>
                </c:pt>
                <c:pt idx="14">
                  <c:v>0.8461538461538466</c:v>
                </c:pt>
                <c:pt idx="15">
                  <c:v>0.8461538461538466</c:v>
                </c:pt>
                <c:pt idx="16">
                  <c:v>0.8153846153846157</c:v>
                </c:pt>
                <c:pt idx="17">
                  <c:v>0.8153846153846157</c:v>
                </c:pt>
                <c:pt idx="18">
                  <c:v>0.8000000000000004</c:v>
                </c:pt>
                <c:pt idx="19">
                  <c:v>0.8000000000000004</c:v>
                </c:pt>
                <c:pt idx="20">
                  <c:v>0.7692307692307694</c:v>
                </c:pt>
                <c:pt idx="21">
                  <c:v>0.7692307692307694</c:v>
                </c:pt>
                <c:pt idx="22">
                  <c:v>0.7384615384615388</c:v>
                </c:pt>
                <c:pt idx="23">
                  <c:v>0.7384615384615388</c:v>
                </c:pt>
                <c:pt idx="24">
                  <c:v>0.7230769230769232</c:v>
                </c:pt>
                <c:pt idx="25">
                  <c:v>0.7230769230769232</c:v>
                </c:pt>
                <c:pt idx="26">
                  <c:v>0.707692307692308</c:v>
                </c:pt>
                <c:pt idx="27">
                  <c:v>0.707692307692308</c:v>
                </c:pt>
                <c:pt idx="28">
                  <c:v>0.6923076923076924</c:v>
                </c:pt>
                <c:pt idx="29">
                  <c:v>0.6923076923076924</c:v>
                </c:pt>
                <c:pt idx="30">
                  <c:v>0.6615384615384617</c:v>
                </c:pt>
                <c:pt idx="31">
                  <c:v>0.6615384615384617</c:v>
                </c:pt>
                <c:pt idx="32">
                  <c:v>0.6461538461538464</c:v>
                </c:pt>
                <c:pt idx="33">
                  <c:v>0.6461538461538464</c:v>
                </c:pt>
                <c:pt idx="34">
                  <c:v>0.6307692307692311</c:v>
                </c:pt>
                <c:pt idx="35">
                  <c:v>0.6307692307692311</c:v>
                </c:pt>
                <c:pt idx="36">
                  <c:v>0.6153846153846155</c:v>
                </c:pt>
                <c:pt idx="37">
                  <c:v>0.6153846153846155</c:v>
                </c:pt>
                <c:pt idx="38">
                  <c:v>0.5846153846153848</c:v>
                </c:pt>
                <c:pt idx="39">
                  <c:v>0.5846153846153848</c:v>
                </c:pt>
                <c:pt idx="40">
                  <c:v>0.5692307692307693</c:v>
                </c:pt>
                <c:pt idx="41">
                  <c:v>0.5692307692307693</c:v>
                </c:pt>
                <c:pt idx="42">
                  <c:v>0.553846153846154</c:v>
                </c:pt>
                <c:pt idx="43">
                  <c:v>0.553846153846154</c:v>
                </c:pt>
                <c:pt idx="44">
                  <c:v>0.5384615384615385</c:v>
                </c:pt>
                <c:pt idx="45">
                  <c:v>0.5384615384615385</c:v>
                </c:pt>
                <c:pt idx="46">
                  <c:v>0.5230769230769233</c:v>
                </c:pt>
                <c:pt idx="47">
                  <c:v>0.5230769230769233</c:v>
                </c:pt>
                <c:pt idx="48">
                  <c:v>0.49230769230769245</c:v>
                </c:pt>
                <c:pt idx="49">
                  <c:v>0.49230769230769245</c:v>
                </c:pt>
                <c:pt idx="50">
                  <c:v>0.47692307692307706</c:v>
                </c:pt>
                <c:pt idx="51">
                  <c:v>0.47692307692307706</c:v>
                </c:pt>
                <c:pt idx="52">
                  <c:v>0.46153846153846173</c:v>
                </c:pt>
                <c:pt idx="53">
                  <c:v>0.46153846153846173</c:v>
                </c:pt>
                <c:pt idx="54">
                  <c:v>0.44615384615384635</c:v>
                </c:pt>
                <c:pt idx="55">
                  <c:v>0.44615384615384635</c:v>
                </c:pt>
                <c:pt idx="56">
                  <c:v>0.43076923076923085</c:v>
                </c:pt>
                <c:pt idx="57">
                  <c:v>0.43076923076923085</c:v>
                </c:pt>
                <c:pt idx="58">
                  <c:v>0.4153846153846155</c:v>
                </c:pt>
                <c:pt idx="59">
                  <c:v>0.4153846153846155</c:v>
                </c:pt>
                <c:pt idx="60">
                  <c:v>0.4000000000000002</c:v>
                </c:pt>
                <c:pt idx="61">
                  <c:v>0.4000000000000002</c:v>
                </c:pt>
                <c:pt idx="62">
                  <c:v>0.353846153846154</c:v>
                </c:pt>
                <c:pt idx="63">
                  <c:v>0.353846153846154</c:v>
                </c:pt>
                <c:pt idx="64">
                  <c:v>0.33846153846153865</c:v>
                </c:pt>
                <c:pt idx="65">
                  <c:v>0.33846153846153865</c:v>
                </c:pt>
                <c:pt idx="66">
                  <c:v>0.30769230769230776</c:v>
                </c:pt>
                <c:pt idx="67">
                  <c:v>0.30769230769230776</c:v>
                </c:pt>
                <c:pt idx="68">
                  <c:v>0.27692307692307694</c:v>
                </c:pt>
                <c:pt idx="69">
                  <c:v>0.27692307692307694</c:v>
                </c:pt>
                <c:pt idx="70">
                  <c:v>0.26153846153846166</c:v>
                </c:pt>
                <c:pt idx="71">
                  <c:v>0.26153846153846166</c:v>
                </c:pt>
                <c:pt idx="72">
                  <c:v>0.2461538461538462</c:v>
                </c:pt>
                <c:pt idx="73">
                  <c:v>0.2461538461538462</c:v>
                </c:pt>
                <c:pt idx="74">
                  <c:v>0.23076923076923084</c:v>
                </c:pt>
                <c:pt idx="75">
                  <c:v>0.23076923076923084</c:v>
                </c:pt>
                <c:pt idx="76">
                  <c:v>0.2153846153846154</c:v>
                </c:pt>
                <c:pt idx="77">
                  <c:v>0.2153846153846154</c:v>
                </c:pt>
                <c:pt idx="78">
                  <c:v>0.20000000000000007</c:v>
                </c:pt>
                <c:pt idx="79">
                  <c:v>0.20000000000000007</c:v>
                </c:pt>
                <c:pt idx="80">
                  <c:v>0.18461538461538468</c:v>
                </c:pt>
                <c:pt idx="81">
                  <c:v>0.18461538461538468</c:v>
                </c:pt>
                <c:pt idx="82">
                  <c:v>0.1692307692307693</c:v>
                </c:pt>
                <c:pt idx="83">
                  <c:v>0.1692307692307693</c:v>
                </c:pt>
                <c:pt idx="84">
                  <c:v>0.15384615384615394</c:v>
                </c:pt>
                <c:pt idx="85">
                  <c:v>0.15384615384615394</c:v>
                </c:pt>
                <c:pt idx="86">
                  <c:v>0.13846153846153852</c:v>
                </c:pt>
                <c:pt idx="87">
                  <c:v>0.13846153846153852</c:v>
                </c:pt>
                <c:pt idx="88">
                  <c:v>0.1230769230769231</c:v>
                </c:pt>
                <c:pt idx="89">
                  <c:v>0.1230769230769231</c:v>
                </c:pt>
                <c:pt idx="90">
                  <c:v>0.10769230769230774</c:v>
                </c:pt>
                <c:pt idx="91">
                  <c:v>0.10769230769230774</c:v>
                </c:pt>
                <c:pt idx="92">
                  <c:v>0.09230769230769237</c:v>
                </c:pt>
                <c:pt idx="93">
                  <c:v>0.09230769230769237</c:v>
                </c:pt>
                <c:pt idx="94">
                  <c:v>0.07692307692307696</c:v>
                </c:pt>
                <c:pt idx="95">
                  <c:v>0.07692307692307696</c:v>
                </c:pt>
                <c:pt idx="96">
                  <c:v>0.06153846153846157</c:v>
                </c:pt>
                <c:pt idx="97">
                  <c:v>0.06153846153846157</c:v>
                </c:pt>
                <c:pt idx="98">
                  <c:v>0.046153846153846184</c:v>
                </c:pt>
                <c:pt idx="99">
                  <c:v>0.046153846153846184</c:v>
                </c:pt>
                <c:pt idx="100">
                  <c:v>0.03076923076923078</c:v>
                </c:pt>
                <c:pt idx="101">
                  <c:v>0.03076923076923078</c:v>
                </c:pt>
                <c:pt idx="102">
                  <c:v>0.015384615384615389</c:v>
                </c:pt>
                <c:pt idx="103">
                  <c:v>0.015384615384615389</c:v>
                </c:pt>
                <c:pt idx="104">
                  <c:v>0.0</c:v>
                </c:pt>
              </c:numCache>
            </c:numRef>
          </c:yVal>
          <c:smooth val="0"/>
        </c:ser>
        <c:ser>
          <c:idx val="3"/>
          <c:order val="3"/>
          <c:tx>
            <c:strRef>
              <c:f>Sheet1!$B$320</c:f>
              <c:strCache>
                <c:ptCount val="1"/>
                <c:pt idx="0">
                  <c:v>65–181 cm³ (median 28 wk)</c:v>
                </c:pt>
              </c:strCache>
            </c:strRef>
          </c:tx>
          <c:spPr>
            <a:ln w="31750">
              <a:solidFill>
                <a:srgbClr val="104281"/>
              </a:solidFill>
            </a:ln>
          </c:spPr>
          <c:marker>
            <c:symbol val="none"/>
          </c:marker>
          <c:xVal>
            <c:numRef>
              <c:f>Sheet1!$A$321:$A$411</c:f>
              <c:numCache>
                <c:formatCode>General</c:formatCode>
                <c:ptCount val="91"/>
                <c:pt idx="0">
                  <c:v>0.0</c:v>
                </c:pt>
                <c:pt idx="1">
                  <c:v>3.0</c:v>
                </c:pt>
                <c:pt idx="2">
                  <c:v>3.0</c:v>
                </c:pt>
                <c:pt idx="3">
                  <c:v>7.0</c:v>
                </c:pt>
                <c:pt idx="4">
                  <c:v>7.0</c:v>
                </c:pt>
                <c:pt idx="5">
                  <c:v>8.0</c:v>
                </c:pt>
                <c:pt idx="6">
                  <c:v>8.0</c:v>
                </c:pt>
                <c:pt idx="7">
                  <c:v>9.0</c:v>
                </c:pt>
                <c:pt idx="8">
                  <c:v>9.0</c:v>
                </c:pt>
                <c:pt idx="9">
                  <c:v>13.0</c:v>
                </c:pt>
                <c:pt idx="10">
                  <c:v>13.0</c:v>
                </c:pt>
                <c:pt idx="11">
                  <c:v>14.0</c:v>
                </c:pt>
                <c:pt idx="12">
                  <c:v>14.0</c:v>
                </c:pt>
                <c:pt idx="13">
                  <c:v>15.0</c:v>
                </c:pt>
                <c:pt idx="14">
                  <c:v>15.0</c:v>
                </c:pt>
                <c:pt idx="15">
                  <c:v>16.0</c:v>
                </c:pt>
                <c:pt idx="16">
                  <c:v>16.0</c:v>
                </c:pt>
                <c:pt idx="17">
                  <c:v>17.0</c:v>
                </c:pt>
                <c:pt idx="18">
                  <c:v>17.0</c:v>
                </c:pt>
                <c:pt idx="19">
                  <c:v>18.0</c:v>
                </c:pt>
                <c:pt idx="20">
                  <c:v>18.0</c:v>
                </c:pt>
                <c:pt idx="21">
                  <c:v>19.0</c:v>
                </c:pt>
                <c:pt idx="22">
                  <c:v>19.0</c:v>
                </c:pt>
                <c:pt idx="23">
                  <c:v>21.0</c:v>
                </c:pt>
                <c:pt idx="24">
                  <c:v>21.0</c:v>
                </c:pt>
                <c:pt idx="25">
                  <c:v>22.0</c:v>
                </c:pt>
                <c:pt idx="26">
                  <c:v>22.0</c:v>
                </c:pt>
                <c:pt idx="27">
                  <c:v>23.0</c:v>
                </c:pt>
                <c:pt idx="28">
                  <c:v>23.0</c:v>
                </c:pt>
                <c:pt idx="29">
                  <c:v>24.0</c:v>
                </c:pt>
                <c:pt idx="30">
                  <c:v>24.0</c:v>
                </c:pt>
                <c:pt idx="31">
                  <c:v>25.0</c:v>
                </c:pt>
                <c:pt idx="32">
                  <c:v>25.0</c:v>
                </c:pt>
                <c:pt idx="33">
                  <c:v>26.0</c:v>
                </c:pt>
                <c:pt idx="34">
                  <c:v>26.0</c:v>
                </c:pt>
                <c:pt idx="35">
                  <c:v>28.0</c:v>
                </c:pt>
                <c:pt idx="36">
                  <c:v>28.0</c:v>
                </c:pt>
                <c:pt idx="37">
                  <c:v>29.0</c:v>
                </c:pt>
                <c:pt idx="38">
                  <c:v>29.0</c:v>
                </c:pt>
                <c:pt idx="39">
                  <c:v>31.0</c:v>
                </c:pt>
                <c:pt idx="40">
                  <c:v>31.0</c:v>
                </c:pt>
                <c:pt idx="41">
                  <c:v>37.0</c:v>
                </c:pt>
                <c:pt idx="42">
                  <c:v>37.0</c:v>
                </c:pt>
                <c:pt idx="43">
                  <c:v>40.0</c:v>
                </c:pt>
                <c:pt idx="44">
                  <c:v>40.0</c:v>
                </c:pt>
                <c:pt idx="45">
                  <c:v>44.0</c:v>
                </c:pt>
                <c:pt idx="46">
                  <c:v>44.0</c:v>
                </c:pt>
                <c:pt idx="47">
                  <c:v>45.0</c:v>
                </c:pt>
                <c:pt idx="48">
                  <c:v>45.0</c:v>
                </c:pt>
                <c:pt idx="49">
                  <c:v>47.0</c:v>
                </c:pt>
                <c:pt idx="50">
                  <c:v>47.0</c:v>
                </c:pt>
                <c:pt idx="51">
                  <c:v>48.0</c:v>
                </c:pt>
                <c:pt idx="52">
                  <c:v>48.0</c:v>
                </c:pt>
                <c:pt idx="53">
                  <c:v>49.0</c:v>
                </c:pt>
                <c:pt idx="54">
                  <c:v>49.0</c:v>
                </c:pt>
                <c:pt idx="55">
                  <c:v>52.0</c:v>
                </c:pt>
                <c:pt idx="56">
                  <c:v>52.0</c:v>
                </c:pt>
                <c:pt idx="57">
                  <c:v>54.0</c:v>
                </c:pt>
                <c:pt idx="58">
                  <c:v>54.0</c:v>
                </c:pt>
                <c:pt idx="59">
                  <c:v>55.0</c:v>
                </c:pt>
                <c:pt idx="60">
                  <c:v>55.0</c:v>
                </c:pt>
                <c:pt idx="61">
                  <c:v>58.0</c:v>
                </c:pt>
                <c:pt idx="62">
                  <c:v>58.0</c:v>
                </c:pt>
                <c:pt idx="63">
                  <c:v>61.0</c:v>
                </c:pt>
                <c:pt idx="64">
                  <c:v>61.0</c:v>
                </c:pt>
                <c:pt idx="65">
                  <c:v>65.0</c:v>
                </c:pt>
                <c:pt idx="66">
                  <c:v>65.0</c:v>
                </c:pt>
                <c:pt idx="67">
                  <c:v>66.0</c:v>
                </c:pt>
                <c:pt idx="68">
                  <c:v>66.0</c:v>
                </c:pt>
                <c:pt idx="69">
                  <c:v>69.0</c:v>
                </c:pt>
                <c:pt idx="70">
                  <c:v>69.0</c:v>
                </c:pt>
                <c:pt idx="71">
                  <c:v>70.0</c:v>
                </c:pt>
                <c:pt idx="72">
                  <c:v>70.0</c:v>
                </c:pt>
                <c:pt idx="73">
                  <c:v>72.0</c:v>
                </c:pt>
                <c:pt idx="74">
                  <c:v>72.0</c:v>
                </c:pt>
                <c:pt idx="75">
                  <c:v>77.0</c:v>
                </c:pt>
                <c:pt idx="76">
                  <c:v>77.0</c:v>
                </c:pt>
                <c:pt idx="77">
                  <c:v>82.0</c:v>
                </c:pt>
                <c:pt idx="78">
                  <c:v>82.0</c:v>
                </c:pt>
                <c:pt idx="79">
                  <c:v>95.0</c:v>
                </c:pt>
                <c:pt idx="80">
                  <c:v>95.0</c:v>
                </c:pt>
                <c:pt idx="81">
                  <c:v>96.0</c:v>
                </c:pt>
                <c:pt idx="82">
                  <c:v>96.0</c:v>
                </c:pt>
                <c:pt idx="83">
                  <c:v>115.0</c:v>
                </c:pt>
                <c:pt idx="84">
                  <c:v>115.0</c:v>
                </c:pt>
                <c:pt idx="85">
                  <c:v>117.0</c:v>
                </c:pt>
                <c:pt idx="86">
                  <c:v>117.0</c:v>
                </c:pt>
                <c:pt idx="87">
                  <c:v>129.0</c:v>
                </c:pt>
                <c:pt idx="88">
                  <c:v>129.0</c:v>
                </c:pt>
                <c:pt idx="89">
                  <c:v>130.0</c:v>
                </c:pt>
                <c:pt idx="90">
                  <c:v>130.0</c:v>
                </c:pt>
              </c:numCache>
            </c:numRef>
          </c:xVal>
          <c:yVal>
            <c:numRef>
              <c:f>Sheet1!$B$321:$B$411</c:f>
              <c:numCache>
                <c:formatCode>General</c:formatCode>
                <c:ptCount val="91"/>
                <c:pt idx="0">
                  <c:v>1.0</c:v>
                </c:pt>
                <c:pt idx="1">
                  <c:v>1.0</c:v>
                </c:pt>
                <c:pt idx="2">
                  <c:v>0.9692307692307695</c:v>
                </c:pt>
                <c:pt idx="3">
                  <c:v>0.9692307692307695</c:v>
                </c:pt>
                <c:pt idx="4">
                  <c:v>0.9384615384615389</c:v>
                </c:pt>
                <c:pt idx="5">
                  <c:v>0.9384615384615389</c:v>
                </c:pt>
                <c:pt idx="6">
                  <c:v>0.9076923076923082</c:v>
                </c:pt>
                <c:pt idx="7">
                  <c:v>0.9076923076923082</c:v>
                </c:pt>
                <c:pt idx="8">
                  <c:v>0.8615384615384621</c:v>
                </c:pt>
                <c:pt idx="9">
                  <c:v>0.8615384615384621</c:v>
                </c:pt>
                <c:pt idx="10">
                  <c:v>0.8461538461538466</c:v>
                </c:pt>
                <c:pt idx="11">
                  <c:v>0.8461538461538466</c:v>
                </c:pt>
                <c:pt idx="12">
                  <c:v>0.8307692307692311</c:v>
                </c:pt>
                <c:pt idx="13">
                  <c:v>0.8307692307692311</c:v>
                </c:pt>
                <c:pt idx="14">
                  <c:v>0.8000000000000004</c:v>
                </c:pt>
                <c:pt idx="15">
                  <c:v>0.8000000000000004</c:v>
                </c:pt>
                <c:pt idx="16">
                  <c:v>0.7538461538461539</c:v>
                </c:pt>
                <c:pt idx="17">
                  <c:v>0.7538461538461539</c:v>
                </c:pt>
                <c:pt idx="18">
                  <c:v>0.707692307692308</c:v>
                </c:pt>
                <c:pt idx="19">
                  <c:v>0.707692307692308</c:v>
                </c:pt>
                <c:pt idx="20">
                  <c:v>0.6769230769230771</c:v>
                </c:pt>
                <c:pt idx="21">
                  <c:v>0.6769230769230771</c:v>
                </c:pt>
                <c:pt idx="22">
                  <c:v>0.6615384615384617</c:v>
                </c:pt>
                <c:pt idx="23">
                  <c:v>0.6615384615384617</c:v>
                </c:pt>
                <c:pt idx="24">
                  <c:v>0.6461538461538464</c:v>
                </c:pt>
                <c:pt idx="25">
                  <c:v>0.6461538461538464</c:v>
                </c:pt>
                <c:pt idx="26">
                  <c:v>0.6153846153846155</c:v>
                </c:pt>
                <c:pt idx="27">
                  <c:v>0.6153846153846155</c:v>
                </c:pt>
                <c:pt idx="28">
                  <c:v>0.6000000000000001</c:v>
                </c:pt>
                <c:pt idx="29">
                  <c:v>0.6000000000000001</c:v>
                </c:pt>
                <c:pt idx="30">
                  <c:v>0.5846153846153848</c:v>
                </c:pt>
                <c:pt idx="31">
                  <c:v>0.5846153846153848</c:v>
                </c:pt>
                <c:pt idx="32">
                  <c:v>0.5384615384615385</c:v>
                </c:pt>
                <c:pt idx="33">
                  <c:v>0.5384615384615385</c:v>
                </c:pt>
                <c:pt idx="34">
                  <c:v>0.5076923076923079</c:v>
                </c:pt>
                <c:pt idx="35">
                  <c:v>0.5076923076923079</c:v>
                </c:pt>
                <c:pt idx="36">
                  <c:v>0.47692307692307706</c:v>
                </c:pt>
                <c:pt idx="37">
                  <c:v>0.47692307692307706</c:v>
                </c:pt>
                <c:pt idx="38">
                  <c:v>0.46153846153846173</c:v>
                </c:pt>
                <c:pt idx="39">
                  <c:v>0.46153846153846173</c:v>
                </c:pt>
                <c:pt idx="40">
                  <c:v>0.44615384615384635</c:v>
                </c:pt>
                <c:pt idx="41">
                  <c:v>0.44615384615384635</c:v>
                </c:pt>
                <c:pt idx="42">
                  <c:v>0.43076923076923085</c:v>
                </c:pt>
                <c:pt idx="43">
                  <c:v>0.43076923076923085</c:v>
                </c:pt>
                <c:pt idx="44">
                  <c:v>0.4153846153846155</c:v>
                </c:pt>
                <c:pt idx="45">
                  <c:v>0.4153846153846155</c:v>
                </c:pt>
                <c:pt idx="46">
                  <c:v>0.4000000000000002</c:v>
                </c:pt>
                <c:pt idx="47">
                  <c:v>0.4000000000000002</c:v>
                </c:pt>
                <c:pt idx="48">
                  <c:v>0.38461538461538464</c:v>
                </c:pt>
                <c:pt idx="49">
                  <c:v>0.38461538461538464</c:v>
                </c:pt>
                <c:pt idx="50">
                  <c:v>0.353846153846154</c:v>
                </c:pt>
                <c:pt idx="51">
                  <c:v>0.353846153846154</c:v>
                </c:pt>
                <c:pt idx="52">
                  <c:v>0.33846153846153865</c:v>
                </c:pt>
                <c:pt idx="53">
                  <c:v>0.33846153846153865</c:v>
                </c:pt>
                <c:pt idx="54">
                  <c:v>0.3230769230769232</c:v>
                </c:pt>
                <c:pt idx="55">
                  <c:v>0.3230769230769232</c:v>
                </c:pt>
                <c:pt idx="56">
                  <c:v>0.30769230769230776</c:v>
                </c:pt>
                <c:pt idx="57">
                  <c:v>0.30769230769230776</c:v>
                </c:pt>
                <c:pt idx="58">
                  <c:v>0.2923076923076923</c:v>
                </c:pt>
                <c:pt idx="59">
                  <c:v>0.2923076923076923</c:v>
                </c:pt>
                <c:pt idx="60">
                  <c:v>0.27692307692307694</c:v>
                </c:pt>
                <c:pt idx="61">
                  <c:v>0.27692307692307694</c:v>
                </c:pt>
                <c:pt idx="62">
                  <c:v>0.26153846153846166</c:v>
                </c:pt>
                <c:pt idx="63">
                  <c:v>0.26153846153846166</c:v>
                </c:pt>
                <c:pt idx="64">
                  <c:v>0.2461538461538462</c:v>
                </c:pt>
                <c:pt idx="65">
                  <c:v>0.2461538461538462</c:v>
                </c:pt>
                <c:pt idx="66">
                  <c:v>0.23076923076923084</c:v>
                </c:pt>
                <c:pt idx="67">
                  <c:v>0.23076923076923084</c:v>
                </c:pt>
                <c:pt idx="68">
                  <c:v>0.2153846153846154</c:v>
                </c:pt>
                <c:pt idx="69">
                  <c:v>0.2153846153846154</c:v>
                </c:pt>
                <c:pt idx="70">
                  <c:v>0.20000000000000007</c:v>
                </c:pt>
                <c:pt idx="71">
                  <c:v>0.20000000000000007</c:v>
                </c:pt>
                <c:pt idx="72">
                  <c:v>0.1692307692307693</c:v>
                </c:pt>
                <c:pt idx="73">
                  <c:v>0.1692307692307693</c:v>
                </c:pt>
                <c:pt idx="74">
                  <c:v>0.15384615384615394</c:v>
                </c:pt>
                <c:pt idx="75">
                  <c:v>0.15384615384615394</c:v>
                </c:pt>
                <c:pt idx="76">
                  <c:v>0.13846153846153852</c:v>
                </c:pt>
                <c:pt idx="77">
                  <c:v>0.13846153846153852</c:v>
                </c:pt>
                <c:pt idx="78">
                  <c:v>0.1230769230769231</c:v>
                </c:pt>
                <c:pt idx="79">
                  <c:v>0.1230769230769231</c:v>
                </c:pt>
                <c:pt idx="80">
                  <c:v>0.09230769230769233</c:v>
                </c:pt>
                <c:pt idx="81">
                  <c:v>0.09230769230769233</c:v>
                </c:pt>
                <c:pt idx="82">
                  <c:v>0.07692307692307696</c:v>
                </c:pt>
                <c:pt idx="83">
                  <c:v>0.07692307692307696</c:v>
                </c:pt>
                <c:pt idx="84">
                  <c:v>0.06153846153846157</c:v>
                </c:pt>
                <c:pt idx="85">
                  <c:v>0.06153846153846157</c:v>
                </c:pt>
                <c:pt idx="86">
                  <c:v>0.046153846153846184</c:v>
                </c:pt>
                <c:pt idx="87">
                  <c:v>0.046153846153846184</c:v>
                </c:pt>
                <c:pt idx="88">
                  <c:v>0.03076923076923078</c:v>
                </c:pt>
                <c:pt idx="89">
                  <c:v>0.03076923076923078</c:v>
                </c:pt>
                <c:pt idx="90">
                  <c:v>0.015384615384615389</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legend>
      <c:legendPos val="t"/>
      <c:layout/>
      <c:overlay val="0"/>
      <c:txPr>
        <a:bodyPr/>
        <a:lstStyle/>
        <a:p>
          <a:pPr>
            <a:defRPr sz="1300">
              <a:solidFill>
                <a:srgbClr val="17203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Shrank (median 70 wk)</c:v>
                </c:pt>
              </c:strCache>
            </c:strRef>
          </c:tx>
          <c:spPr>
            <a:ln w="31750">
              <a:solidFill>
                <a:srgbClr val="6DA7EC"/>
              </a:solidFill>
            </a:ln>
          </c:spPr>
          <c:marker>
            <c:symbol val="none"/>
          </c:marker>
          <c:xVal>
            <c:numRef>
              <c:f>Sheet1!$A$2:$A$34</c:f>
              <c:numCache>
                <c:formatCode>General</c:formatCode>
                <c:ptCount val="33"/>
                <c:pt idx="0">
                  <c:v>0.0</c:v>
                </c:pt>
                <c:pt idx="1">
                  <c:v>24.0</c:v>
                </c:pt>
                <c:pt idx="2">
                  <c:v>24.0</c:v>
                </c:pt>
                <c:pt idx="3">
                  <c:v>45.0</c:v>
                </c:pt>
                <c:pt idx="4">
                  <c:v>45.0</c:v>
                </c:pt>
                <c:pt idx="5">
                  <c:v>52.0</c:v>
                </c:pt>
                <c:pt idx="6">
                  <c:v>52.0</c:v>
                </c:pt>
                <c:pt idx="7">
                  <c:v>54.0</c:v>
                </c:pt>
                <c:pt idx="8">
                  <c:v>54.0</c:v>
                </c:pt>
                <c:pt idx="9">
                  <c:v>64.0</c:v>
                </c:pt>
                <c:pt idx="10">
                  <c:v>64.0</c:v>
                </c:pt>
                <c:pt idx="11">
                  <c:v>65.0</c:v>
                </c:pt>
                <c:pt idx="12">
                  <c:v>65.0</c:v>
                </c:pt>
                <c:pt idx="13">
                  <c:v>67.0</c:v>
                </c:pt>
                <c:pt idx="14">
                  <c:v>67.0</c:v>
                </c:pt>
                <c:pt idx="15">
                  <c:v>70.0</c:v>
                </c:pt>
                <c:pt idx="16">
                  <c:v>70.0</c:v>
                </c:pt>
                <c:pt idx="17">
                  <c:v>71.0</c:v>
                </c:pt>
                <c:pt idx="18">
                  <c:v>71.0</c:v>
                </c:pt>
                <c:pt idx="19">
                  <c:v>80.0</c:v>
                </c:pt>
                <c:pt idx="20">
                  <c:v>80.0</c:v>
                </c:pt>
                <c:pt idx="21">
                  <c:v>82.0</c:v>
                </c:pt>
                <c:pt idx="22">
                  <c:v>82.0</c:v>
                </c:pt>
                <c:pt idx="23">
                  <c:v>93.0</c:v>
                </c:pt>
                <c:pt idx="24">
                  <c:v>93.0</c:v>
                </c:pt>
                <c:pt idx="25">
                  <c:v>114.0</c:v>
                </c:pt>
                <c:pt idx="26">
                  <c:v>114.0</c:v>
                </c:pt>
                <c:pt idx="27">
                  <c:v>115.0</c:v>
                </c:pt>
                <c:pt idx="28">
                  <c:v>115.0</c:v>
                </c:pt>
                <c:pt idx="29">
                  <c:v>127.0</c:v>
                </c:pt>
                <c:pt idx="30">
                  <c:v>127.0</c:v>
                </c:pt>
                <c:pt idx="31">
                  <c:v>139.0</c:v>
                </c:pt>
                <c:pt idx="32">
                  <c:v>139.0</c:v>
                </c:pt>
              </c:numCache>
            </c:numRef>
          </c:xVal>
          <c:yVal>
            <c:numRef>
              <c:f>Sheet1!$B$2:$B$34</c:f>
              <c:numCache>
                <c:formatCode>General</c:formatCode>
                <c:ptCount val="33"/>
                <c:pt idx="0">
                  <c:v>1.0</c:v>
                </c:pt>
                <c:pt idx="1">
                  <c:v>1.0</c:v>
                </c:pt>
                <c:pt idx="2">
                  <c:v>0.9411764705882352</c:v>
                </c:pt>
                <c:pt idx="3">
                  <c:v>0.9411764705882352</c:v>
                </c:pt>
                <c:pt idx="4">
                  <c:v>0.8823529411764706</c:v>
                </c:pt>
                <c:pt idx="5">
                  <c:v>0.8823529411764706</c:v>
                </c:pt>
                <c:pt idx="6">
                  <c:v>0.8235294117647056</c:v>
                </c:pt>
                <c:pt idx="7">
                  <c:v>0.8235294117647056</c:v>
                </c:pt>
                <c:pt idx="8">
                  <c:v>0.7647058823529411</c:v>
                </c:pt>
                <c:pt idx="9">
                  <c:v>0.7647058823529411</c:v>
                </c:pt>
                <c:pt idx="10">
                  <c:v>0.7058823529411764</c:v>
                </c:pt>
                <c:pt idx="11">
                  <c:v>0.7058823529411764</c:v>
                </c:pt>
                <c:pt idx="12">
                  <c:v>0.6470588235294118</c:v>
                </c:pt>
                <c:pt idx="13">
                  <c:v>0.6470588235294118</c:v>
                </c:pt>
                <c:pt idx="14">
                  <c:v>0.5294117647058824</c:v>
                </c:pt>
                <c:pt idx="15">
                  <c:v>0.5294117647058824</c:v>
                </c:pt>
                <c:pt idx="16">
                  <c:v>0.47058823529411753</c:v>
                </c:pt>
                <c:pt idx="17">
                  <c:v>0.47058823529411753</c:v>
                </c:pt>
                <c:pt idx="18">
                  <c:v>0.41176470588235287</c:v>
                </c:pt>
                <c:pt idx="19">
                  <c:v>0.41176470588235287</c:v>
                </c:pt>
                <c:pt idx="20">
                  <c:v>0.3529411764705882</c:v>
                </c:pt>
                <c:pt idx="21">
                  <c:v>0.3529411764705882</c:v>
                </c:pt>
                <c:pt idx="22">
                  <c:v>0.2941176470588235</c:v>
                </c:pt>
                <c:pt idx="23">
                  <c:v>0.2941176470588235</c:v>
                </c:pt>
                <c:pt idx="24">
                  <c:v>0.2352941176470588</c:v>
                </c:pt>
                <c:pt idx="25">
                  <c:v>0.2352941176470588</c:v>
                </c:pt>
                <c:pt idx="26">
                  <c:v>0.17647058823529413</c:v>
                </c:pt>
                <c:pt idx="27">
                  <c:v>0.17647058823529413</c:v>
                </c:pt>
                <c:pt idx="28">
                  <c:v>0.11764705882352941</c:v>
                </c:pt>
                <c:pt idx="29">
                  <c:v>0.11764705882352941</c:v>
                </c:pt>
                <c:pt idx="30">
                  <c:v>0.0588235294117647</c:v>
                </c:pt>
                <c:pt idx="31">
                  <c:v>0.0588235294117647</c:v>
                </c:pt>
                <c:pt idx="32">
                  <c:v>0.0</c:v>
                </c:pt>
              </c:numCache>
            </c:numRef>
          </c:yVal>
          <c:smooth val="0"/>
        </c:ser>
        <c:ser>
          <c:idx val="1"/>
          <c:order val="1"/>
          <c:tx>
            <c:strRef>
              <c:f>Sheet1!$B$36</c:f>
              <c:strCache>
                <c:ptCount val="1"/>
                <c:pt idx="0">
                  <c:v>Stable (median 57 wk)</c:v>
                </c:pt>
              </c:strCache>
            </c:strRef>
          </c:tx>
          <c:spPr>
            <a:ln w="31750">
              <a:solidFill>
                <a:srgbClr val="2A78D6"/>
              </a:solidFill>
            </a:ln>
          </c:spPr>
          <c:marker>
            <c:symbol val="none"/>
          </c:marker>
          <c:xVal>
            <c:numRef>
              <c:f>Sheet1!$A$37:$A$175</c:f>
              <c:numCache>
                <c:formatCode>General</c:formatCode>
                <c:ptCount val="139"/>
                <c:pt idx="0">
                  <c:v>0.0</c:v>
                </c:pt>
                <c:pt idx="1">
                  <c:v>9.0</c:v>
                </c:pt>
                <c:pt idx="2">
                  <c:v>9.0</c:v>
                </c:pt>
                <c:pt idx="3">
                  <c:v>15.0</c:v>
                </c:pt>
                <c:pt idx="4">
                  <c:v>15.0</c:v>
                </c:pt>
                <c:pt idx="5">
                  <c:v>16.0</c:v>
                </c:pt>
                <c:pt idx="6">
                  <c:v>16.0</c:v>
                </c:pt>
                <c:pt idx="7">
                  <c:v>17.0</c:v>
                </c:pt>
                <c:pt idx="8">
                  <c:v>17.0</c:v>
                </c:pt>
                <c:pt idx="9">
                  <c:v>18.0</c:v>
                </c:pt>
                <c:pt idx="10">
                  <c:v>18.0</c:v>
                </c:pt>
                <c:pt idx="11">
                  <c:v>21.0</c:v>
                </c:pt>
                <c:pt idx="12">
                  <c:v>21.0</c:v>
                </c:pt>
                <c:pt idx="13">
                  <c:v>22.0</c:v>
                </c:pt>
                <c:pt idx="14">
                  <c:v>22.0</c:v>
                </c:pt>
                <c:pt idx="15">
                  <c:v>23.0</c:v>
                </c:pt>
                <c:pt idx="16">
                  <c:v>23.0</c:v>
                </c:pt>
                <c:pt idx="17">
                  <c:v>24.0</c:v>
                </c:pt>
                <c:pt idx="18">
                  <c:v>24.0</c:v>
                </c:pt>
                <c:pt idx="19">
                  <c:v>25.0</c:v>
                </c:pt>
                <c:pt idx="20">
                  <c:v>25.0</c:v>
                </c:pt>
                <c:pt idx="21">
                  <c:v>26.0</c:v>
                </c:pt>
                <c:pt idx="22">
                  <c:v>26.0</c:v>
                </c:pt>
                <c:pt idx="23">
                  <c:v>28.0</c:v>
                </c:pt>
                <c:pt idx="24">
                  <c:v>28.0</c:v>
                </c:pt>
                <c:pt idx="25">
                  <c:v>29.0</c:v>
                </c:pt>
                <c:pt idx="26">
                  <c:v>29.0</c:v>
                </c:pt>
                <c:pt idx="27">
                  <c:v>31.0</c:v>
                </c:pt>
                <c:pt idx="28">
                  <c:v>31.0</c:v>
                </c:pt>
                <c:pt idx="29">
                  <c:v>34.0</c:v>
                </c:pt>
                <c:pt idx="30">
                  <c:v>34.0</c:v>
                </c:pt>
                <c:pt idx="31">
                  <c:v>37.0</c:v>
                </c:pt>
                <c:pt idx="32">
                  <c:v>37.0</c:v>
                </c:pt>
                <c:pt idx="33">
                  <c:v>38.0</c:v>
                </c:pt>
                <c:pt idx="34">
                  <c:v>38.0</c:v>
                </c:pt>
                <c:pt idx="35">
                  <c:v>40.0</c:v>
                </c:pt>
                <c:pt idx="36">
                  <c:v>40.0</c:v>
                </c:pt>
                <c:pt idx="37">
                  <c:v>41.0</c:v>
                </c:pt>
                <c:pt idx="38">
                  <c:v>41.0</c:v>
                </c:pt>
                <c:pt idx="39">
                  <c:v>42.0</c:v>
                </c:pt>
                <c:pt idx="40">
                  <c:v>42.0</c:v>
                </c:pt>
                <c:pt idx="41">
                  <c:v>43.0</c:v>
                </c:pt>
                <c:pt idx="42">
                  <c:v>43.0</c:v>
                </c:pt>
                <c:pt idx="43">
                  <c:v>45.0</c:v>
                </c:pt>
                <c:pt idx="44">
                  <c:v>45.0</c:v>
                </c:pt>
                <c:pt idx="45">
                  <c:v>47.0</c:v>
                </c:pt>
                <c:pt idx="46">
                  <c:v>47.0</c:v>
                </c:pt>
                <c:pt idx="47">
                  <c:v>48.0</c:v>
                </c:pt>
                <c:pt idx="48">
                  <c:v>48.0</c:v>
                </c:pt>
                <c:pt idx="49">
                  <c:v>49.0</c:v>
                </c:pt>
                <c:pt idx="50">
                  <c:v>49.0</c:v>
                </c:pt>
                <c:pt idx="51">
                  <c:v>50.0</c:v>
                </c:pt>
                <c:pt idx="52">
                  <c:v>50.0</c:v>
                </c:pt>
                <c:pt idx="53">
                  <c:v>51.0</c:v>
                </c:pt>
                <c:pt idx="54">
                  <c:v>51.0</c:v>
                </c:pt>
                <c:pt idx="55">
                  <c:v>52.0</c:v>
                </c:pt>
                <c:pt idx="56">
                  <c:v>52.0</c:v>
                </c:pt>
                <c:pt idx="57">
                  <c:v>53.0</c:v>
                </c:pt>
                <c:pt idx="58">
                  <c:v>53.0</c:v>
                </c:pt>
                <c:pt idx="59">
                  <c:v>54.0</c:v>
                </c:pt>
                <c:pt idx="60">
                  <c:v>54.0</c:v>
                </c:pt>
                <c:pt idx="61">
                  <c:v>55.0</c:v>
                </c:pt>
                <c:pt idx="62">
                  <c:v>55.0</c:v>
                </c:pt>
                <c:pt idx="63">
                  <c:v>56.0</c:v>
                </c:pt>
                <c:pt idx="64">
                  <c:v>56.0</c:v>
                </c:pt>
                <c:pt idx="65">
                  <c:v>57.0</c:v>
                </c:pt>
                <c:pt idx="66">
                  <c:v>57.0</c:v>
                </c:pt>
                <c:pt idx="67">
                  <c:v>58.0</c:v>
                </c:pt>
                <c:pt idx="68">
                  <c:v>58.0</c:v>
                </c:pt>
                <c:pt idx="69">
                  <c:v>60.0</c:v>
                </c:pt>
                <c:pt idx="70">
                  <c:v>60.0</c:v>
                </c:pt>
                <c:pt idx="71">
                  <c:v>61.0</c:v>
                </c:pt>
                <c:pt idx="72">
                  <c:v>61.0</c:v>
                </c:pt>
                <c:pt idx="73">
                  <c:v>62.0</c:v>
                </c:pt>
                <c:pt idx="74">
                  <c:v>62.0</c:v>
                </c:pt>
                <c:pt idx="75">
                  <c:v>63.0</c:v>
                </c:pt>
                <c:pt idx="76">
                  <c:v>63.0</c:v>
                </c:pt>
                <c:pt idx="77">
                  <c:v>66.0</c:v>
                </c:pt>
                <c:pt idx="78">
                  <c:v>66.0</c:v>
                </c:pt>
                <c:pt idx="79">
                  <c:v>69.0</c:v>
                </c:pt>
                <c:pt idx="80">
                  <c:v>69.0</c:v>
                </c:pt>
                <c:pt idx="81">
                  <c:v>70.0</c:v>
                </c:pt>
                <c:pt idx="82">
                  <c:v>70.0</c:v>
                </c:pt>
                <c:pt idx="83">
                  <c:v>71.0</c:v>
                </c:pt>
                <c:pt idx="84">
                  <c:v>71.0</c:v>
                </c:pt>
                <c:pt idx="85">
                  <c:v>72.0</c:v>
                </c:pt>
                <c:pt idx="86">
                  <c:v>72.0</c:v>
                </c:pt>
                <c:pt idx="87">
                  <c:v>73.0</c:v>
                </c:pt>
                <c:pt idx="88">
                  <c:v>73.0</c:v>
                </c:pt>
                <c:pt idx="89">
                  <c:v>76.0</c:v>
                </c:pt>
                <c:pt idx="90">
                  <c:v>76.0</c:v>
                </c:pt>
                <c:pt idx="91">
                  <c:v>77.0</c:v>
                </c:pt>
                <c:pt idx="92">
                  <c:v>77.0</c:v>
                </c:pt>
                <c:pt idx="93">
                  <c:v>78.0</c:v>
                </c:pt>
                <c:pt idx="94">
                  <c:v>78.0</c:v>
                </c:pt>
                <c:pt idx="95">
                  <c:v>79.0</c:v>
                </c:pt>
                <c:pt idx="96">
                  <c:v>79.0</c:v>
                </c:pt>
                <c:pt idx="97">
                  <c:v>80.0</c:v>
                </c:pt>
                <c:pt idx="98">
                  <c:v>80.0</c:v>
                </c:pt>
                <c:pt idx="99">
                  <c:v>81.0</c:v>
                </c:pt>
                <c:pt idx="100">
                  <c:v>81.0</c:v>
                </c:pt>
                <c:pt idx="101">
                  <c:v>87.0</c:v>
                </c:pt>
                <c:pt idx="102">
                  <c:v>87.0</c:v>
                </c:pt>
                <c:pt idx="103">
                  <c:v>94.0</c:v>
                </c:pt>
                <c:pt idx="104">
                  <c:v>94.0</c:v>
                </c:pt>
                <c:pt idx="105">
                  <c:v>95.0</c:v>
                </c:pt>
                <c:pt idx="106">
                  <c:v>95.0</c:v>
                </c:pt>
                <c:pt idx="107">
                  <c:v>97.0</c:v>
                </c:pt>
                <c:pt idx="108">
                  <c:v>97.0</c:v>
                </c:pt>
                <c:pt idx="109">
                  <c:v>100.0</c:v>
                </c:pt>
                <c:pt idx="110">
                  <c:v>100.0</c:v>
                </c:pt>
                <c:pt idx="111">
                  <c:v>103.0</c:v>
                </c:pt>
                <c:pt idx="112">
                  <c:v>103.0</c:v>
                </c:pt>
                <c:pt idx="113">
                  <c:v>104.0</c:v>
                </c:pt>
                <c:pt idx="114">
                  <c:v>104.0</c:v>
                </c:pt>
                <c:pt idx="115">
                  <c:v>108.0</c:v>
                </c:pt>
                <c:pt idx="116">
                  <c:v>108.0</c:v>
                </c:pt>
                <c:pt idx="117">
                  <c:v>109.0</c:v>
                </c:pt>
                <c:pt idx="118">
                  <c:v>109.0</c:v>
                </c:pt>
                <c:pt idx="119">
                  <c:v>111.0</c:v>
                </c:pt>
                <c:pt idx="120">
                  <c:v>111.0</c:v>
                </c:pt>
                <c:pt idx="121">
                  <c:v>117.0</c:v>
                </c:pt>
                <c:pt idx="122">
                  <c:v>117.0</c:v>
                </c:pt>
                <c:pt idx="123">
                  <c:v>118.0</c:v>
                </c:pt>
                <c:pt idx="124">
                  <c:v>118.0</c:v>
                </c:pt>
                <c:pt idx="125">
                  <c:v>121.0</c:v>
                </c:pt>
                <c:pt idx="126">
                  <c:v>121.0</c:v>
                </c:pt>
                <c:pt idx="127">
                  <c:v>137.0</c:v>
                </c:pt>
                <c:pt idx="128">
                  <c:v>137.0</c:v>
                </c:pt>
                <c:pt idx="129">
                  <c:v>139.0</c:v>
                </c:pt>
                <c:pt idx="130">
                  <c:v>139.0</c:v>
                </c:pt>
                <c:pt idx="131">
                  <c:v>149.0</c:v>
                </c:pt>
                <c:pt idx="132">
                  <c:v>149.0</c:v>
                </c:pt>
                <c:pt idx="133">
                  <c:v>155.0</c:v>
                </c:pt>
                <c:pt idx="134">
                  <c:v>155.0</c:v>
                </c:pt>
                <c:pt idx="135">
                  <c:v>159.0</c:v>
                </c:pt>
                <c:pt idx="136">
                  <c:v>159.0</c:v>
                </c:pt>
                <c:pt idx="137">
                  <c:v>196.0</c:v>
                </c:pt>
                <c:pt idx="138">
                  <c:v>196.0</c:v>
                </c:pt>
              </c:numCache>
            </c:numRef>
          </c:xVal>
          <c:yVal>
            <c:numRef>
              <c:f>Sheet1!$B$37:$B$175</c:f>
              <c:numCache>
                <c:formatCode>General</c:formatCode>
                <c:ptCount val="139"/>
                <c:pt idx="0">
                  <c:v>1.0</c:v>
                </c:pt>
                <c:pt idx="1">
                  <c:v>1.0</c:v>
                </c:pt>
                <c:pt idx="2">
                  <c:v>0.9809523809523814</c:v>
                </c:pt>
                <c:pt idx="3">
                  <c:v>0.9809523809523814</c:v>
                </c:pt>
                <c:pt idx="4">
                  <c:v>0.9619047619047624</c:v>
                </c:pt>
                <c:pt idx="5">
                  <c:v>0.9619047619047624</c:v>
                </c:pt>
                <c:pt idx="6">
                  <c:v>0.9523809523809531</c:v>
                </c:pt>
                <c:pt idx="7">
                  <c:v>0.9523809523809531</c:v>
                </c:pt>
                <c:pt idx="8">
                  <c:v>0.933333333333334</c:v>
                </c:pt>
                <c:pt idx="9">
                  <c:v>0.933333333333334</c:v>
                </c:pt>
                <c:pt idx="10">
                  <c:v>0.904761904761905</c:v>
                </c:pt>
                <c:pt idx="11">
                  <c:v>0.904761904761905</c:v>
                </c:pt>
                <c:pt idx="12">
                  <c:v>0.8857142857142862</c:v>
                </c:pt>
                <c:pt idx="13">
                  <c:v>0.8857142857142862</c:v>
                </c:pt>
                <c:pt idx="14">
                  <c:v>0.8761904761904766</c:v>
                </c:pt>
                <c:pt idx="15">
                  <c:v>0.8761904761904766</c:v>
                </c:pt>
                <c:pt idx="16">
                  <c:v>0.8666666666666667</c:v>
                </c:pt>
                <c:pt idx="17">
                  <c:v>0.8666666666666667</c:v>
                </c:pt>
                <c:pt idx="18">
                  <c:v>0.8571428571428573</c:v>
                </c:pt>
                <c:pt idx="19">
                  <c:v>0.8571428571428573</c:v>
                </c:pt>
                <c:pt idx="20">
                  <c:v>0.8476190476190477</c:v>
                </c:pt>
                <c:pt idx="21">
                  <c:v>0.8476190476190477</c:v>
                </c:pt>
                <c:pt idx="22">
                  <c:v>0.8380952380952387</c:v>
                </c:pt>
                <c:pt idx="23">
                  <c:v>0.8380952380952387</c:v>
                </c:pt>
                <c:pt idx="24">
                  <c:v>0.8285714285714288</c:v>
                </c:pt>
                <c:pt idx="25">
                  <c:v>0.8285714285714288</c:v>
                </c:pt>
                <c:pt idx="26">
                  <c:v>0.8190476190476189</c:v>
                </c:pt>
                <c:pt idx="27">
                  <c:v>0.8190476190476189</c:v>
                </c:pt>
                <c:pt idx="28">
                  <c:v>0.80952380952381</c:v>
                </c:pt>
                <c:pt idx="29">
                  <c:v>0.80952380952381</c:v>
                </c:pt>
                <c:pt idx="30">
                  <c:v>0.790476190476191</c:v>
                </c:pt>
                <c:pt idx="31">
                  <c:v>0.790476190476191</c:v>
                </c:pt>
                <c:pt idx="32">
                  <c:v>0.7809523809523814</c:v>
                </c:pt>
                <c:pt idx="33">
                  <c:v>0.7809523809523814</c:v>
                </c:pt>
                <c:pt idx="34">
                  <c:v>0.7714285714285719</c:v>
                </c:pt>
                <c:pt idx="35">
                  <c:v>0.7714285714285719</c:v>
                </c:pt>
                <c:pt idx="36">
                  <c:v>0.7523809523809526</c:v>
                </c:pt>
                <c:pt idx="37">
                  <c:v>0.7523809523809526</c:v>
                </c:pt>
                <c:pt idx="38">
                  <c:v>0.742857142857143</c:v>
                </c:pt>
                <c:pt idx="39">
                  <c:v>0.742857142857143</c:v>
                </c:pt>
                <c:pt idx="40">
                  <c:v>0.7333333333333337</c:v>
                </c:pt>
                <c:pt idx="41">
                  <c:v>0.7333333333333337</c:v>
                </c:pt>
                <c:pt idx="42">
                  <c:v>0.723809523809524</c:v>
                </c:pt>
                <c:pt idx="43">
                  <c:v>0.723809523809524</c:v>
                </c:pt>
                <c:pt idx="44">
                  <c:v>0.7047619047619053</c:v>
                </c:pt>
                <c:pt idx="45">
                  <c:v>0.7047619047619053</c:v>
                </c:pt>
                <c:pt idx="46">
                  <c:v>0.6761904761904765</c:v>
                </c:pt>
                <c:pt idx="47">
                  <c:v>0.6761904761904765</c:v>
                </c:pt>
                <c:pt idx="48">
                  <c:v>0.6571428571428576</c:v>
                </c:pt>
                <c:pt idx="49">
                  <c:v>0.6571428571428576</c:v>
                </c:pt>
                <c:pt idx="50">
                  <c:v>0.638095238095238</c:v>
                </c:pt>
                <c:pt idx="51">
                  <c:v>0.638095238095238</c:v>
                </c:pt>
                <c:pt idx="52">
                  <c:v>0.6190476190476191</c:v>
                </c:pt>
                <c:pt idx="53">
                  <c:v>0.6190476190476191</c:v>
                </c:pt>
                <c:pt idx="54">
                  <c:v>0.6095238095238095</c:v>
                </c:pt>
                <c:pt idx="55">
                  <c:v>0.6095238095238095</c:v>
                </c:pt>
                <c:pt idx="56">
                  <c:v>0.5904761904761907</c:v>
                </c:pt>
                <c:pt idx="57">
                  <c:v>0.5904761904761907</c:v>
                </c:pt>
                <c:pt idx="58">
                  <c:v>0.5809523809523812</c:v>
                </c:pt>
                <c:pt idx="59">
                  <c:v>0.5809523809523812</c:v>
                </c:pt>
                <c:pt idx="60">
                  <c:v>0.5619047619047622</c:v>
                </c:pt>
                <c:pt idx="61">
                  <c:v>0.5619047619047622</c:v>
                </c:pt>
                <c:pt idx="62">
                  <c:v>0.542857142857143</c:v>
                </c:pt>
                <c:pt idx="63">
                  <c:v>0.542857142857143</c:v>
                </c:pt>
                <c:pt idx="64">
                  <c:v>0.504761904761905</c:v>
                </c:pt>
                <c:pt idx="65">
                  <c:v>0.504761904761905</c:v>
                </c:pt>
                <c:pt idx="66">
                  <c:v>0.4857142857142858</c:v>
                </c:pt>
                <c:pt idx="67">
                  <c:v>0.4857142857142858</c:v>
                </c:pt>
                <c:pt idx="68">
                  <c:v>0.4761904761904763</c:v>
                </c:pt>
                <c:pt idx="69">
                  <c:v>0.4761904761904763</c:v>
                </c:pt>
                <c:pt idx="70">
                  <c:v>0.46666666666666673</c:v>
                </c:pt>
                <c:pt idx="71">
                  <c:v>0.46666666666666673</c:v>
                </c:pt>
                <c:pt idx="72">
                  <c:v>0.43809523809523826</c:v>
                </c:pt>
                <c:pt idx="73">
                  <c:v>0.43809523809523826</c:v>
                </c:pt>
                <c:pt idx="74">
                  <c:v>0.42857142857142866</c:v>
                </c:pt>
                <c:pt idx="75">
                  <c:v>0.42857142857142866</c:v>
                </c:pt>
                <c:pt idx="76">
                  <c:v>0.4190476190476191</c:v>
                </c:pt>
                <c:pt idx="77">
                  <c:v>0.4190476190476191</c:v>
                </c:pt>
                <c:pt idx="78">
                  <c:v>0.4000000000000002</c:v>
                </c:pt>
                <c:pt idx="79">
                  <c:v>0.4000000000000002</c:v>
                </c:pt>
                <c:pt idx="80">
                  <c:v>0.39047619047619064</c:v>
                </c:pt>
                <c:pt idx="81">
                  <c:v>0.39047619047619064</c:v>
                </c:pt>
                <c:pt idx="82">
                  <c:v>0.36190476190476195</c:v>
                </c:pt>
                <c:pt idx="83">
                  <c:v>0.36190476190476195</c:v>
                </c:pt>
                <c:pt idx="84">
                  <c:v>0.35238095238095246</c:v>
                </c:pt>
                <c:pt idx="85">
                  <c:v>0.35238095238095246</c:v>
                </c:pt>
                <c:pt idx="86">
                  <c:v>0.32380952380952394</c:v>
                </c:pt>
                <c:pt idx="87">
                  <c:v>0.32380952380952394</c:v>
                </c:pt>
                <c:pt idx="88">
                  <c:v>0.30476190476190484</c:v>
                </c:pt>
                <c:pt idx="89">
                  <c:v>0.30476190476190484</c:v>
                </c:pt>
                <c:pt idx="90">
                  <c:v>0.29523809523809535</c:v>
                </c:pt>
                <c:pt idx="91">
                  <c:v>0.29523809523809535</c:v>
                </c:pt>
                <c:pt idx="92">
                  <c:v>0.2857142857142858</c:v>
                </c:pt>
                <c:pt idx="93">
                  <c:v>0.2857142857142858</c:v>
                </c:pt>
                <c:pt idx="94">
                  <c:v>0.2761904761904763</c:v>
                </c:pt>
                <c:pt idx="95">
                  <c:v>0.2761904761904763</c:v>
                </c:pt>
                <c:pt idx="96">
                  <c:v>0.2666666666666667</c:v>
                </c:pt>
                <c:pt idx="97">
                  <c:v>0.2666666666666667</c:v>
                </c:pt>
                <c:pt idx="98">
                  <c:v>0.25714285714285723</c:v>
                </c:pt>
                <c:pt idx="99">
                  <c:v>0.25714285714285723</c:v>
                </c:pt>
                <c:pt idx="100">
                  <c:v>0.2476190476190477</c:v>
                </c:pt>
                <c:pt idx="101">
                  <c:v>0.2476190476190477</c:v>
                </c:pt>
                <c:pt idx="102">
                  <c:v>0.2380952380952381</c:v>
                </c:pt>
                <c:pt idx="103">
                  <c:v>0.2380952380952381</c:v>
                </c:pt>
                <c:pt idx="104">
                  <c:v>0.22857142857142868</c:v>
                </c:pt>
                <c:pt idx="105">
                  <c:v>0.22857142857142868</c:v>
                </c:pt>
                <c:pt idx="106">
                  <c:v>0.1904761904761905</c:v>
                </c:pt>
                <c:pt idx="107">
                  <c:v>0.1904761904761905</c:v>
                </c:pt>
                <c:pt idx="108">
                  <c:v>0.18095238095238098</c:v>
                </c:pt>
                <c:pt idx="109">
                  <c:v>0.18095238095238098</c:v>
                </c:pt>
                <c:pt idx="110">
                  <c:v>0.17142857142857146</c:v>
                </c:pt>
                <c:pt idx="111">
                  <c:v>0.17142857142857146</c:v>
                </c:pt>
                <c:pt idx="112">
                  <c:v>0.15238095238095242</c:v>
                </c:pt>
                <c:pt idx="113">
                  <c:v>0.15238095238095242</c:v>
                </c:pt>
                <c:pt idx="114">
                  <c:v>0.1428571428571429</c:v>
                </c:pt>
                <c:pt idx="115">
                  <c:v>0.1428571428571429</c:v>
                </c:pt>
                <c:pt idx="116">
                  <c:v>0.13333333333333336</c:v>
                </c:pt>
                <c:pt idx="117">
                  <c:v>0.13333333333333336</c:v>
                </c:pt>
                <c:pt idx="118">
                  <c:v>0.12380952380952384</c:v>
                </c:pt>
                <c:pt idx="119">
                  <c:v>0.12380952380952384</c:v>
                </c:pt>
                <c:pt idx="120">
                  <c:v>0.11428571428571432</c:v>
                </c:pt>
                <c:pt idx="121">
                  <c:v>0.11428571428571432</c:v>
                </c:pt>
                <c:pt idx="122">
                  <c:v>0.1047619047619048</c:v>
                </c:pt>
                <c:pt idx="123">
                  <c:v>0.1047619047619048</c:v>
                </c:pt>
                <c:pt idx="124">
                  <c:v>0.09523809523809529</c:v>
                </c:pt>
                <c:pt idx="125">
                  <c:v>0.09523809523809529</c:v>
                </c:pt>
                <c:pt idx="126">
                  <c:v>0.08571428571428576</c:v>
                </c:pt>
                <c:pt idx="127">
                  <c:v>0.08571428571428576</c:v>
                </c:pt>
                <c:pt idx="128">
                  <c:v>0.0761904761904762</c:v>
                </c:pt>
                <c:pt idx="129">
                  <c:v>0.0761904761904762</c:v>
                </c:pt>
                <c:pt idx="130">
                  <c:v>0.0666666666666667</c:v>
                </c:pt>
                <c:pt idx="131">
                  <c:v>0.0666666666666667</c:v>
                </c:pt>
                <c:pt idx="132">
                  <c:v>0.05714285714285718</c:v>
                </c:pt>
                <c:pt idx="133">
                  <c:v>0.05714285714285718</c:v>
                </c:pt>
                <c:pt idx="134">
                  <c:v>0.04761904761904764</c:v>
                </c:pt>
                <c:pt idx="135">
                  <c:v>0.04761904761904764</c:v>
                </c:pt>
                <c:pt idx="136">
                  <c:v>0.03809523809523811</c:v>
                </c:pt>
                <c:pt idx="137">
                  <c:v>0.03809523809523811</c:v>
                </c:pt>
                <c:pt idx="138">
                  <c:v>0.028571428571428588</c:v>
                </c:pt>
              </c:numCache>
            </c:numRef>
          </c:yVal>
          <c:smooth val="0"/>
        </c:ser>
        <c:ser>
          <c:idx val="2"/>
          <c:order val="2"/>
          <c:tx>
            <c:strRef>
              <c:f>Sheet1!$B$177</c:f>
              <c:strCache>
                <c:ptCount val="1"/>
                <c:pt idx="0">
                  <c:v>Grew (median 44 wk)</c:v>
                </c:pt>
              </c:strCache>
            </c:strRef>
          </c:tx>
          <c:spPr>
            <a:ln w="31750">
              <a:solidFill>
                <a:srgbClr val="104281"/>
              </a:solidFill>
            </a:ln>
          </c:spPr>
          <c:marker>
            <c:symbol val="none"/>
          </c:marker>
          <c:xVal>
            <c:numRef>
              <c:f>Sheet1!$A$178:$A$246</c:f>
              <c:numCache>
                <c:formatCode>General</c:formatCode>
                <c:ptCount val="69"/>
                <c:pt idx="0">
                  <c:v>0.0</c:v>
                </c:pt>
                <c:pt idx="1">
                  <c:v>9.0</c:v>
                </c:pt>
                <c:pt idx="2">
                  <c:v>9.0</c:v>
                </c:pt>
                <c:pt idx="3">
                  <c:v>10.0</c:v>
                </c:pt>
                <c:pt idx="4">
                  <c:v>10.0</c:v>
                </c:pt>
                <c:pt idx="5">
                  <c:v>15.0</c:v>
                </c:pt>
                <c:pt idx="6">
                  <c:v>15.0</c:v>
                </c:pt>
                <c:pt idx="7">
                  <c:v>18.0</c:v>
                </c:pt>
                <c:pt idx="8">
                  <c:v>18.0</c:v>
                </c:pt>
                <c:pt idx="9">
                  <c:v>19.0</c:v>
                </c:pt>
                <c:pt idx="10">
                  <c:v>19.0</c:v>
                </c:pt>
                <c:pt idx="11">
                  <c:v>22.0</c:v>
                </c:pt>
                <c:pt idx="12">
                  <c:v>22.0</c:v>
                </c:pt>
                <c:pt idx="13">
                  <c:v>23.0</c:v>
                </c:pt>
                <c:pt idx="14">
                  <c:v>23.0</c:v>
                </c:pt>
                <c:pt idx="15">
                  <c:v>25.0</c:v>
                </c:pt>
                <c:pt idx="16">
                  <c:v>25.0</c:v>
                </c:pt>
                <c:pt idx="17">
                  <c:v>28.0</c:v>
                </c:pt>
                <c:pt idx="18">
                  <c:v>28.0</c:v>
                </c:pt>
                <c:pt idx="19">
                  <c:v>29.0</c:v>
                </c:pt>
                <c:pt idx="20">
                  <c:v>29.0</c:v>
                </c:pt>
                <c:pt idx="21">
                  <c:v>32.0</c:v>
                </c:pt>
                <c:pt idx="22">
                  <c:v>32.0</c:v>
                </c:pt>
                <c:pt idx="23">
                  <c:v>34.0</c:v>
                </c:pt>
                <c:pt idx="24">
                  <c:v>34.0</c:v>
                </c:pt>
                <c:pt idx="25">
                  <c:v>36.0</c:v>
                </c:pt>
                <c:pt idx="26">
                  <c:v>36.0</c:v>
                </c:pt>
                <c:pt idx="27">
                  <c:v>41.0</c:v>
                </c:pt>
                <c:pt idx="28">
                  <c:v>41.0</c:v>
                </c:pt>
                <c:pt idx="29">
                  <c:v>42.0</c:v>
                </c:pt>
                <c:pt idx="30">
                  <c:v>42.0</c:v>
                </c:pt>
                <c:pt idx="31">
                  <c:v>44.0</c:v>
                </c:pt>
                <c:pt idx="32">
                  <c:v>44.0</c:v>
                </c:pt>
                <c:pt idx="33">
                  <c:v>45.0</c:v>
                </c:pt>
                <c:pt idx="34">
                  <c:v>45.0</c:v>
                </c:pt>
                <c:pt idx="35">
                  <c:v>50.0</c:v>
                </c:pt>
                <c:pt idx="36">
                  <c:v>50.0</c:v>
                </c:pt>
                <c:pt idx="37">
                  <c:v>51.0</c:v>
                </c:pt>
                <c:pt idx="38">
                  <c:v>51.0</c:v>
                </c:pt>
                <c:pt idx="39">
                  <c:v>53.0</c:v>
                </c:pt>
                <c:pt idx="40">
                  <c:v>53.0</c:v>
                </c:pt>
                <c:pt idx="41">
                  <c:v>55.0</c:v>
                </c:pt>
                <c:pt idx="42">
                  <c:v>55.0</c:v>
                </c:pt>
                <c:pt idx="43">
                  <c:v>57.0</c:v>
                </c:pt>
                <c:pt idx="44">
                  <c:v>57.0</c:v>
                </c:pt>
                <c:pt idx="45">
                  <c:v>63.0</c:v>
                </c:pt>
                <c:pt idx="46">
                  <c:v>63.0</c:v>
                </c:pt>
                <c:pt idx="47">
                  <c:v>70.0</c:v>
                </c:pt>
                <c:pt idx="48">
                  <c:v>70.0</c:v>
                </c:pt>
                <c:pt idx="49">
                  <c:v>71.0</c:v>
                </c:pt>
                <c:pt idx="50">
                  <c:v>71.0</c:v>
                </c:pt>
                <c:pt idx="51">
                  <c:v>72.0</c:v>
                </c:pt>
                <c:pt idx="52">
                  <c:v>72.0</c:v>
                </c:pt>
                <c:pt idx="53">
                  <c:v>73.0</c:v>
                </c:pt>
                <c:pt idx="54">
                  <c:v>73.0</c:v>
                </c:pt>
                <c:pt idx="55">
                  <c:v>74.0</c:v>
                </c:pt>
                <c:pt idx="56">
                  <c:v>74.0</c:v>
                </c:pt>
                <c:pt idx="57">
                  <c:v>76.0</c:v>
                </c:pt>
                <c:pt idx="58">
                  <c:v>76.0</c:v>
                </c:pt>
                <c:pt idx="59">
                  <c:v>77.0</c:v>
                </c:pt>
                <c:pt idx="60">
                  <c:v>77.0</c:v>
                </c:pt>
                <c:pt idx="61">
                  <c:v>94.0</c:v>
                </c:pt>
                <c:pt idx="62">
                  <c:v>94.0</c:v>
                </c:pt>
                <c:pt idx="63">
                  <c:v>101.0</c:v>
                </c:pt>
                <c:pt idx="64">
                  <c:v>101.0</c:v>
                </c:pt>
                <c:pt idx="65">
                  <c:v>129.0</c:v>
                </c:pt>
                <c:pt idx="66">
                  <c:v>129.0</c:v>
                </c:pt>
                <c:pt idx="67">
                  <c:v>130.0</c:v>
                </c:pt>
                <c:pt idx="68">
                  <c:v>130.0</c:v>
                </c:pt>
              </c:numCache>
            </c:numRef>
          </c:xVal>
          <c:yVal>
            <c:numRef>
              <c:f>Sheet1!$B$178:$B$246</c:f>
              <c:numCache>
                <c:formatCode>General</c:formatCode>
                <c:ptCount val="69"/>
                <c:pt idx="0">
                  <c:v>1.0</c:v>
                </c:pt>
                <c:pt idx="1">
                  <c:v>1.0</c:v>
                </c:pt>
                <c:pt idx="2">
                  <c:v>0.9473684210526316</c:v>
                </c:pt>
                <c:pt idx="3">
                  <c:v>0.9473684210526316</c:v>
                </c:pt>
                <c:pt idx="4">
                  <c:v>0.9210526315789473</c:v>
                </c:pt>
                <c:pt idx="5">
                  <c:v>0.9210526315789473</c:v>
                </c:pt>
                <c:pt idx="6">
                  <c:v>0.8947368421052634</c:v>
                </c:pt>
                <c:pt idx="7">
                  <c:v>0.8947368421052634</c:v>
                </c:pt>
                <c:pt idx="8">
                  <c:v>0.8684210526315791</c:v>
                </c:pt>
                <c:pt idx="9">
                  <c:v>0.8684210526315791</c:v>
                </c:pt>
                <c:pt idx="10">
                  <c:v>0.8421052631578948</c:v>
                </c:pt>
                <c:pt idx="11">
                  <c:v>0.8421052631578948</c:v>
                </c:pt>
                <c:pt idx="12">
                  <c:v>0.8157894736842106</c:v>
                </c:pt>
                <c:pt idx="13">
                  <c:v>0.8157894736842106</c:v>
                </c:pt>
                <c:pt idx="14">
                  <c:v>0.7894736842105264</c:v>
                </c:pt>
                <c:pt idx="15">
                  <c:v>0.7894736842105264</c:v>
                </c:pt>
                <c:pt idx="16">
                  <c:v>0.7368421052631579</c:v>
                </c:pt>
                <c:pt idx="17">
                  <c:v>0.7368421052631579</c:v>
                </c:pt>
                <c:pt idx="18">
                  <c:v>0.7105263157894738</c:v>
                </c:pt>
                <c:pt idx="19">
                  <c:v>0.7105263157894738</c:v>
                </c:pt>
                <c:pt idx="20">
                  <c:v>0.6578947368421052</c:v>
                </c:pt>
                <c:pt idx="21">
                  <c:v>0.6578947368421052</c:v>
                </c:pt>
                <c:pt idx="22">
                  <c:v>0.6315789473684212</c:v>
                </c:pt>
                <c:pt idx="23">
                  <c:v>0.6315789473684212</c:v>
                </c:pt>
                <c:pt idx="24">
                  <c:v>0.605263157894737</c:v>
                </c:pt>
                <c:pt idx="25">
                  <c:v>0.605263157894737</c:v>
                </c:pt>
                <c:pt idx="26">
                  <c:v>0.5789473684210528</c:v>
                </c:pt>
                <c:pt idx="27">
                  <c:v>0.5789473684210528</c:v>
                </c:pt>
                <c:pt idx="28">
                  <c:v>0.5526315789473685</c:v>
                </c:pt>
                <c:pt idx="29">
                  <c:v>0.5526315789473685</c:v>
                </c:pt>
                <c:pt idx="30">
                  <c:v>0.5263157894736842</c:v>
                </c:pt>
                <c:pt idx="31">
                  <c:v>0.5263157894736842</c:v>
                </c:pt>
                <c:pt idx="32">
                  <c:v>0.49999999999999994</c:v>
                </c:pt>
                <c:pt idx="33">
                  <c:v>0.49999999999999994</c:v>
                </c:pt>
                <c:pt idx="34">
                  <c:v>0.47368421052631576</c:v>
                </c:pt>
                <c:pt idx="35">
                  <c:v>0.47368421052631576</c:v>
                </c:pt>
                <c:pt idx="36">
                  <c:v>0.4473684210526317</c:v>
                </c:pt>
                <c:pt idx="37">
                  <c:v>0.4473684210526317</c:v>
                </c:pt>
                <c:pt idx="38">
                  <c:v>0.3947368421052632</c:v>
                </c:pt>
                <c:pt idx="39">
                  <c:v>0.3947368421052632</c:v>
                </c:pt>
                <c:pt idx="40">
                  <c:v>0.3684210526315789</c:v>
                </c:pt>
                <c:pt idx="41">
                  <c:v>0.3684210526315789</c:v>
                </c:pt>
                <c:pt idx="42">
                  <c:v>0.3421052631578948</c:v>
                </c:pt>
                <c:pt idx="43">
                  <c:v>0.3421052631578948</c:v>
                </c:pt>
                <c:pt idx="44">
                  <c:v>0.31578947368421056</c:v>
                </c:pt>
                <c:pt idx="45">
                  <c:v>0.31578947368421056</c:v>
                </c:pt>
                <c:pt idx="46">
                  <c:v>0.2894736842105264</c:v>
                </c:pt>
                <c:pt idx="47">
                  <c:v>0.2894736842105264</c:v>
                </c:pt>
                <c:pt idx="48">
                  <c:v>0.2631578947368422</c:v>
                </c:pt>
                <c:pt idx="49">
                  <c:v>0.2631578947368422</c:v>
                </c:pt>
                <c:pt idx="50">
                  <c:v>0.23684210526315796</c:v>
                </c:pt>
                <c:pt idx="51">
                  <c:v>0.23684210526315796</c:v>
                </c:pt>
                <c:pt idx="52">
                  <c:v>0.21052631578947367</c:v>
                </c:pt>
                <c:pt idx="53">
                  <c:v>0.21052631578947367</c:v>
                </c:pt>
                <c:pt idx="54">
                  <c:v>0.1842105263157895</c:v>
                </c:pt>
                <c:pt idx="55">
                  <c:v>0.1842105263157895</c:v>
                </c:pt>
                <c:pt idx="56">
                  <c:v>0.15789473684210528</c:v>
                </c:pt>
                <c:pt idx="57">
                  <c:v>0.15789473684210528</c:v>
                </c:pt>
                <c:pt idx="58">
                  <c:v>0.13157894736842107</c:v>
                </c:pt>
                <c:pt idx="59">
                  <c:v>0.13157894736842107</c:v>
                </c:pt>
                <c:pt idx="60">
                  <c:v>0.10526315789473688</c:v>
                </c:pt>
                <c:pt idx="61">
                  <c:v>0.10526315789473688</c:v>
                </c:pt>
                <c:pt idx="62">
                  <c:v>0.07894736842105267</c:v>
                </c:pt>
                <c:pt idx="63">
                  <c:v>0.07894736842105267</c:v>
                </c:pt>
                <c:pt idx="64">
                  <c:v>0.05263157894736843</c:v>
                </c:pt>
                <c:pt idx="65">
                  <c:v>0.05263157894736843</c:v>
                </c:pt>
                <c:pt idx="66">
                  <c:v>0.026315789473684213</c:v>
                </c:pt>
                <c:pt idx="67">
                  <c:v>0.026315789473684213</c:v>
                </c:pt>
                <c:pt idx="68">
                  <c:v>0.0</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legend>
      <c:legendPos val="t"/>
      <c:layout/>
      <c:overlay val="0"/>
      <c:txPr>
        <a:bodyPr/>
        <a:lstStyle/>
        <a:p>
          <a:pPr>
            <a:defRPr sz="1300">
              <a:solidFill>
                <a:srgbClr val="17203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Importance</c:v>
                </c:pt>
              </c:strCache>
            </c:strRef>
          </c:tx>
          <c:spPr>
            <a:solidFill>
              <a:srgbClr val="2A78D6"/>
            </a:solidFill>
          </c:spPr>
          <c:invertIfNegative val="0"/>
          <c:cat>
            <c:strRef>
              <c:f>Sheet1!$A$2:$A$6</c:f>
              <c:strCache>
                <c:ptCount val="5"/>
                <c:pt idx="0">
                  <c:v>Age</c:v>
                </c:pt>
                <c:pt idx="1">
                  <c:v>WHO 2021 classification</c:v>
                </c:pt>
                <c:pt idx="2">
                  <c:v>Tumour volume</c:v>
                </c:pt>
                <c:pt idx="3">
                  <c:v>Performance status</c:v>
                </c:pt>
                <c:pt idx="4">
                  <c:v>RT regimen</c:v>
                </c:pt>
              </c:strCache>
            </c:strRef>
          </c:cat>
          <c:val>
            <c:numRef>
              <c:f>Sheet1!$B$2:$B$6</c:f>
              <c:numCache>
                <c:formatCode>General</c:formatCode>
                <c:ptCount val="5"/>
                <c:pt idx="0">
                  <c:v>7.0</c:v>
                </c:pt>
                <c:pt idx="1">
                  <c:v>6.0</c:v>
                </c:pt>
                <c:pt idx="2">
                  <c:v>5.7</c:v>
                </c:pt>
                <c:pt idx="3">
                  <c:v>3.6</c:v>
                </c:pt>
                <c:pt idx="4">
                  <c:v>3.2</c:v>
                </c:pt>
              </c:numCache>
            </c:numRef>
          </c:val>
        </c:ser>
        <c:dLbls>
          <c:numFmt formatCode="0.0" sourceLinked="0"/>
          <c:txPr>
            <a:bodyPr/>
            <a:lstStyle/>
            <a:p>
              <a:pPr>
                <a:defRPr sz="1200">
                  <a:solidFill>
                    <a:srgbClr val="3A4256"/>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C3C2B7"/>
            </a:solidFill>
          </a:ln>
        </c:spPr>
        <c:txPr>
          <a:bodyPr/>
          <a:lstStyle/>
          <a:p>
            <a:pPr>
              <a:defRPr sz="1200">
                <a:solidFill>
                  <a:srgbClr val="6B7280"/>
                </a:solidFill>
                <a:latin typeface="Calibri"/>
              </a:defRPr>
            </a:pPr>
          </a:p>
        </c:txPr>
        <c:crossAx val="-2113994440"/>
        <c:crosses val="autoZero"/>
        <c:auto val="1"/>
        <c:lblAlgn val="ctr"/>
        <c:lblOffset val="100"/>
        <c:noMultiLvlLbl val="0"/>
      </c:catAx>
      <c:valAx>
        <c:axId val="-2113994440"/>
        <c:scaling>
          <c:min val="0.0"/>
        </c:scaling>
        <c:delete val="0"/>
        <c:axPos val="b"/>
        <c:majorGridlines>
          <c:spPr>
            <a:ln>
              <a:solidFill>
                <a:srgbClr val="E1E0D9"/>
              </a:solidFill>
            </a:ln>
          </c:spPr>
        </c:majorGridlines>
        <c:title>
          <c:tx>
            <c:rich>
              <a:bodyPr/>
              <a:lstStyle/>
              <a:p>
                <a:r>
                  <a:rPr sz="1300" b="0">
                    <a:solidFill>
                      <a:srgbClr val="3A4256"/>
                    </a:solidFill>
                    <a:latin typeface="Calibri"/>
                  </a:rPr>
                  <a:t>Loss of fit when removed (χ² − df)</a:t>
                </a:r>
              </a:p>
            </c:rich>
          </c:tx>
          <c:layout/>
          <c:overlay val="0"/>
        </c:title>
        <c:numFmt formatCode="0.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After 6 months</c:v>
                </c:pt>
              </c:strCache>
            </c:strRef>
          </c:tx>
          <c:spPr>
            <a:solidFill>
              <a:srgbClr val="6DA7EC"/>
            </a:solidFill>
          </c:spPr>
          <c:invertIfNegative val="0"/>
          <c:cat>
            <c:strRef>
              <c:f>Sheet1!$A$2:$A$6</c:f>
              <c:strCache>
                <c:ptCount val="5"/>
                <c:pt idx="0">
                  <c:v>WHO 2021</c:v>
                </c:pt>
                <c:pt idx="1">
                  <c:v>Age (+10 y)</c:v>
                </c:pt>
                <c:pt idx="2">
                  <c:v>Tumour size (×2)</c:v>
                </c:pt>
                <c:pt idx="3">
                  <c:v>Short-course RT</c:v>
                </c:pt>
                <c:pt idx="4">
                  <c:v>PS 2</c:v>
                </c:pt>
              </c:strCache>
            </c:strRef>
          </c:cat>
          <c:val>
            <c:numRef>
              <c:f>Sheet1!$B$2:$B$6</c:f>
              <c:numCache>
                <c:formatCode>General</c:formatCode>
                <c:ptCount val="5"/>
                <c:pt idx="0">
                  <c:v>1.35</c:v>
                </c:pt>
                <c:pt idx="1">
                  <c:v>1.19</c:v>
                </c:pt>
                <c:pt idx="2">
                  <c:v>0.99</c:v>
                </c:pt>
                <c:pt idx="3">
                  <c:v>1.29</c:v>
                </c:pt>
                <c:pt idx="4">
                  <c:v>1.04</c:v>
                </c:pt>
              </c:numCache>
            </c:numRef>
          </c:val>
        </c:ser>
        <c:ser>
          <c:idx val="1"/>
          <c:order val="1"/>
          <c:tx>
            <c:strRef>
              <c:f>Sheet1!$C$1</c:f>
              <c:strCache>
                <c:ptCount val="1"/>
                <c:pt idx="0">
                  <c:v>First 6 months</c:v>
                </c:pt>
              </c:strCache>
            </c:strRef>
          </c:tx>
          <c:spPr>
            <a:solidFill>
              <a:srgbClr val="EB6834"/>
            </a:solidFill>
          </c:spPr>
          <c:invertIfNegative val="0"/>
          <c:cat>
            <c:strRef>
              <c:f>Sheet1!$A$2:$A$6</c:f>
              <c:strCache>
                <c:ptCount val="5"/>
                <c:pt idx="0">
                  <c:v>WHO 2021</c:v>
                </c:pt>
                <c:pt idx="1">
                  <c:v>Age (+10 y)</c:v>
                </c:pt>
                <c:pt idx="2">
                  <c:v>Tumour size (×2)</c:v>
                </c:pt>
                <c:pt idx="3">
                  <c:v>Short-course RT</c:v>
                </c:pt>
                <c:pt idx="4">
                  <c:v>PS 2</c:v>
                </c:pt>
              </c:strCache>
            </c:strRef>
          </c:cat>
          <c:val>
            <c:numRef>
              <c:f>Sheet1!$C$2:$C$6</c:f>
              <c:numCache>
                <c:formatCode>General</c:formatCode>
                <c:ptCount val="5"/>
                <c:pt idx="0">
                  <c:v>1.54</c:v>
                </c:pt>
                <c:pt idx="1">
                  <c:v>1.13</c:v>
                </c:pt>
                <c:pt idx="2">
                  <c:v>1.26</c:v>
                </c:pt>
                <c:pt idx="3">
                  <c:v>3.17</c:v>
                </c:pt>
                <c:pt idx="4">
                  <c:v>1.93</c:v>
                </c:pt>
              </c:numCache>
            </c:numRef>
          </c:val>
        </c:ser>
        <c:dLbls>
          <c:numFmt formatCode="0.00" sourceLinked="0"/>
          <c:txPr>
            <a:bodyPr/>
            <a:lstStyle/>
            <a:p>
              <a:pPr>
                <a:defRPr sz="1200">
                  <a:solidFill>
                    <a:srgbClr val="3A4256"/>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l"/>
        <c:majorTickMark val="out"/>
        <c:minorTickMark val="none"/>
        <c:tickLblPos val="low"/>
        <c:spPr>
          <a:ln>
            <a:solidFill>
              <a:srgbClr val="C3C2B7"/>
            </a:solidFill>
          </a:ln>
        </c:spPr>
        <c:txPr>
          <a:bodyPr/>
          <a:lstStyle/>
          <a:p>
            <a:pPr>
              <a:defRPr sz="1200">
                <a:solidFill>
                  <a:srgbClr val="6B7280"/>
                </a:solidFill>
                <a:latin typeface="Calibri"/>
              </a:defRPr>
            </a:pPr>
          </a:p>
        </c:txPr>
        <c:crossAx val="-2113994440"/>
        <c:crossesAt val="1.0"/>
        <c:auto val="1"/>
        <c:lblAlgn val="ctr"/>
        <c:lblOffset val="100"/>
        <c:noMultiLvlLbl val="0"/>
      </c:catAx>
      <c:valAx>
        <c:axId val="-2113994440"/>
        <c:scaling>
          <c:logBase val="2"/>
          <c:max val="4.0"/>
          <c:min val="0.5"/>
        </c:scaling>
        <c:delete val="0"/>
        <c:axPos val="b"/>
        <c:majorGridlines>
          <c:spPr>
            <a:ln>
              <a:solidFill>
                <a:srgbClr val="E1E0D9"/>
              </a:solidFill>
            </a:ln>
          </c:spPr>
        </c:majorGridlines>
        <c:title>
          <c:tx>
            <c:rich>
              <a:bodyPr/>
              <a:lstStyle/>
              <a:p>
                <a:r>
                  <a:rPr sz="1300" b="0">
                    <a:solidFill>
                      <a:srgbClr val="3A4256"/>
                    </a:solidFill>
                    <a:latin typeface="Calibri"/>
                  </a:rPr>
                  <a:t>Hazard ratio (log scale, 1 = no effect)</a:t>
                </a:r>
              </a:p>
            </c:rich>
          </c:tx>
          <c:layout/>
          <c:overlay val="0"/>
        </c:title>
        <c:numFmt formatCode="0.0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068027336"/>
        <c:crosses val="autoZero"/>
      </c:valAx>
    </c:plotArea>
    <c:legend>
      <c:legendPos val="t"/>
      <c:overlay val="0"/>
      <c:txPr>
        <a:bodyPr/>
        <a:lstStyle/>
        <a:p>
          <a:pPr>
            <a:defRPr sz="1300"/>
          </a:pPr>
        </a:p>
      </c:txPr>
    </c:legend>
    <c:dispBlanksAs val="gap"/>
  </c:chart>
  <c:txPr>
    <a:bodyPr/>
    <a:lstStyle/>
    <a:p>
      <a:pPr>
        <a:defRPr sz="12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Median survival (weeks)</c:v>
                </c:pt>
              </c:strCache>
            </c:strRef>
          </c:tx>
          <c:spPr>
            <a:solidFill>
              <a:srgbClr val="2A78D6"/>
            </a:solidFill>
          </c:spPr>
          <c:invertIfNegative val="0"/>
          <c:cat>
            <c:strRef>
              <c:f>Sheet1!$A$2:$A$5</c:f>
              <c:strCache>
                <c:ptCount val="4"/>
                <c:pt idx="0">
                  <c:v>0 wk (n=12)</c:v>
                </c:pt>
                <c:pt idx="1">
                  <c:v>1 wk (n=89)</c:v>
                </c:pt>
                <c:pt idx="2">
                  <c:v>2 wk (n=80)</c:v>
                </c:pt>
                <c:pt idx="3">
                  <c:v>≥3 wk (n=13)</c:v>
                </c:pt>
              </c:strCache>
            </c:strRef>
          </c:cat>
          <c:val>
            <c:numRef>
              <c:f>Sheet1!$B$2:$B$5</c:f>
              <c:numCache>
                <c:formatCode>General</c:formatCode>
                <c:ptCount val="4"/>
                <c:pt idx="0">
                  <c:v>20.5</c:v>
                </c:pt>
                <c:pt idx="1">
                  <c:v>48.0</c:v>
                </c:pt>
                <c:pt idx="2">
                  <c:v>56.0</c:v>
                </c:pt>
                <c:pt idx="3">
                  <c:v>73.0</c:v>
                </c:pt>
              </c:numCache>
            </c:numRef>
          </c:val>
        </c:ser>
        <c:dLbls>
          <c:numFmt formatCode="0" sourceLinked="0"/>
          <c:txPr>
            <a:bodyPr/>
            <a:lstStyle/>
            <a:p>
              <a:pPr>
                <a:defRPr sz="1200">
                  <a:solidFill>
                    <a:srgbClr val="3A4256"/>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low"/>
        <c:spPr>
          <a:ln>
            <a:solidFill>
              <a:srgbClr val="C3C2B7"/>
            </a:solidFill>
          </a:ln>
        </c:spPr>
        <c:txPr>
          <a:bodyPr/>
          <a:lstStyle/>
          <a:p>
            <a:pPr>
              <a:defRPr sz="1200">
                <a:solidFill>
                  <a:srgbClr val="6B7280"/>
                </a:solidFill>
                <a:latin typeface="Calibri"/>
              </a:defRPr>
            </a:pPr>
          </a:p>
        </c:txPr>
        <c:crossAx val="-2113994440"/>
        <c:crosses val="autoZero"/>
        <c:auto val="1"/>
        <c:lblAlgn val="ctr"/>
        <c:lblOffset val="100"/>
        <c:noMultiLvlLbl val="0"/>
      </c:catAx>
      <c:valAx>
        <c:axId val="-2113994440"/>
        <c:scaling>
          <c:min val="0.0"/>
        </c:scaling>
        <c:delete val="0"/>
        <c:axPos val="l"/>
        <c:majorGridlines>
          <c:spPr>
            <a:ln>
              <a:solidFill>
                <a:srgbClr val="E1E0D9"/>
              </a:solidFill>
            </a:ln>
          </c:spPr>
        </c:majorGridlines>
        <c:title>
          <c:tx>
            <c:rich>
              <a:bodyPr/>
              <a:lstStyle/>
              <a:p>
                <a:r>
                  <a:rPr sz="1300" b="0">
                    <a:solidFill>
                      <a:srgbClr val="3A4256"/>
                    </a:solidFill>
                    <a:latin typeface="Calibri"/>
                  </a:rPr>
                  <a:t>Median survival (weeks)</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C-index</c:v>
                </c:pt>
              </c:strCache>
            </c:strRef>
          </c:tx>
          <c:spPr>
            <a:solidFill>
              <a:srgbClr val="2A78D6"/>
            </a:solidFill>
          </c:spPr>
          <c:invertIfNegative val="0"/>
          <c:dPt>
            <c:idx val="0"/>
            <c:spPr>
              <a:solidFill>
                <a:srgbClr val="9CA3AF"/>
              </a:solidFill>
            </c:spPr>
          </c:dPt>
          <c:dPt>
            <c:idx val="1"/>
            <c:spPr>
              <a:solidFill>
                <a:srgbClr val="6DA7EC"/>
              </a:solidFill>
            </c:spPr>
          </c:dPt>
          <c:dPt>
            <c:idx val="2"/>
            <c:spPr>
              <a:solidFill>
                <a:srgbClr val="6DA7EC"/>
              </a:solidFill>
            </c:spPr>
          </c:dPt>
          <c:dPt>
            <c:idx val="3"/>
            <c:spPr>
              <a:solidFill>
                <a:srgbClr val="6DA7EC"/>
              </a:solidFill>
            </c:spPr>
          </c:dPt>
          <c:dPt>
            <c:idx val="4"/>
            <c:spPr>
              <a:solidFill>
                <a:srgbClr val="2A78D6"/>
              </a:solidFill>
            </c:spPr>
          </c:dPt>
          <c:dPt>
            <c:idx val="5"/>
            <c:spPr>
              <a:solidFill>
                <a:srgbClr val="2A78D6"/>
              </a:solidFill>
            </c:spPr>
          </c:dPt>
          <c:dPt>
            <c:idx val="6"/>
            <c:spPr>
              <a:solidFill>
                <a:srgbClr val="2A78D6"/>
              </a:solidFill>
            </c:spPr>
          </c:dPt>
          <c:dPt>
            <c:idx val="7"/>
            <c:spPr>
              <a:solidFill>
                <a:srgbClr val="2A78D6"/>
              </a:solidFill>
            </c:spPr>
          </c:dPt>
          <c:dPt>
            <c:idx val="8"/>
            <c:spPr>
              <a:solidFill>
                <a:srgbClr val="2A78D6"/>
              </a:solidFill>
            </c:spPr>
          </c:dPt>
          <c:dPt>
            <c:idx val="9"/>
            <c:spPr>
              <a:solidFill>
                <a:srgbClr val="2A78D6"/>
              </a:solidFill>
            </c:spPr>
          </c:dPt>
          <c:dPt>
            <c:idx val="10"/>
            <c:spPr>
              <a:solidFill>
                <a:srgbClr val="EB6834"/>
              </a:solidFill>
            </c:spPr>
          </c:dPt>
          <c:cat>
            <c:strRef>
              <c:f>Sheet1!$A$2:$A$12</c:f>
              <c:strCache>
                <c:ptCount val="11"/>
                <c:pt idx="0">
                  <c:v>No information (coin flip)</c:v>
                </c:pt>
                <c:pt idx="1">
                  <c:v>MRI numbers: T1-Gd only</c:v>
                </c:pt>
                <c:pt idx="2">
                  <c:v>MRI numbers: FLAIR only</c:v>
                </c:pt>
                <c:pt idx="3">
                  <c:v>MRI numbers: both</c:v>
                </c:pt>
                <c:pt idx="4">
                  <c:v>Clinical only</c:v>
                </c:pt>
                <c:pt idx="5">
                  <c:v>Clinical + volume (A)</c:v>
                </c:pt>
                <c:pt idx="6">
                  <c:v>B + all FLAIR features</c:v>
                </c:pt>
                <c:pt idx="7">
                  <c:v>B + effects that fade</c:v>
                </c:pt>
                <c:pt idx="8">
                  <c:v>Machine learning (forest)</c:v>
                </c:pt>
                <c:pt idx="9">
                  <c:v>Clinical + volume, curves (B)</c:v>
                </c:pt>
                <c:pt idx="10">
                  <c:v>B + 5 FLAIR scores = Model C</c:v>
                </c:pt>
              </c:strCache>
            </c:strRef>
          </c:cat>
          <c:val>
            <c:numRef>
              <c:f>Sheet1!$B$2:$B$12</c:f>
              <c:numCache>
                <c:formatCode>General</c:formatCode>
                <c:ptCount val="11"/>
                <c:pt idx="0">
                  <c:v>0.5</c:v>
                </c:pt>
                <c:pt idx="1">
                  <c:v>0.605</c:v>
                </c:pt>
                <c:pt idx="2">
                  <c:v>0.612</c:v>
                </c:pt>
                <c:pt idx="3">
                  <c:v>0.612</c:v>
                </c:pt>
                <c:pt idx="4">
                  <c:v>0.619</c:v>
                </c:pt>
                <c:pt idx="5">
                  <c:v>0.62</c:v>
                </c:pt>
                <c:pt idx="6">
                  <c:v>0.624</c:v>
                </c:pt>
                <c:pt idx="7">
                  <c:v>0.626</c:v>
                </c:pt>
                <c:pt idx="8">
                  <c:v>0.627</c:v>
                </c:pt>
                <c:pt idx="9">
                  <c:v>0.628</c:v>
                </c:pt>
                <c:pt idx="10">
                  <c:v>0.638</c:v>
                </c:pt>
              </c:numCache>
            </c:numRef>
          </c:val>
        </c:ser>
        <c:dLbls>
          <c:numFmt formatCode="0.000" sourceLinked="0"/>
          <c:txPr>
            <a:bodyPr/>
            <a:lstStyle/>
            <a:p>
              <a:pPr>
                <a:defRPr sz="1100">
                  <a:solidFill>
                    <a:srgbClr val="3A4256"/>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low"/>
        <c:spPr>
          <a:ln>
            <a:solidFill>
              <a:srgbClr val="C3C2B7"/>
            </a:solidFill>
          </a:ln>
        </c:spPr>
        <c:txPr>
          <a:bodyPr/>
          <a:lstStyle/>
          <a:p>
            <a:pPr>
              <a:defRPr sz="1200">
                <a:solidFill>
                  <a:srgbClr val="6B7280"/>
                </a:solidFill>
                <a:latin typeface="Calibri"/>
              </a:defRPr>
            </a:pPr>
          </a:p>
        </c:txPr>
        <c:crossAx val="-2113994440"/>
        <c:crossesAt val="0.45"/>
        <c:auto val="1"/>
        <c:lblAlgn val="ctr"/>
        <c:lblOffset val="100"/>
        <c:noMultiLvlLbl val="0"/>
      </c:catAx>
      <c:valAx>
        <c:axId val="-2113994440"/>
        <c:scaling>
          <c:max val="0.68"/>
          <c:min val="0.45"/>
        </c:scaling>
        <c:delete val="0"/>
        <c:axPos val="b"/>
        <c:majorGridlines>
          <c:spPr>
            <a:ln>
              <a:solidFill>
                <a:srgbClr val="E1E0D9"/>
              </a:solidFill>
            </a:ln>
          </c:spPr>
        </c:majorGridlines>
        <c:title>
          <c:tx>
            <c:rich>
              <a:bodyPr/>
              <a:lstStyle/>
              <a:p>
                <a:r>
                  <a:rPr sz="1300" b="0">
                    <a:solidFill>
                      <a:srgbClr val="3A4256"/>
                    </a:solidFill>
                    <a:latin typeface="Calibri"/>
                  </a:rPr>
                  <a:t>C-index on unseen patients</a:t>
                </a:r>
              </a:p>
            </c:rich>
          </c:tx>
          <c:layout/>
          <c:overlay val="0"/>
        </c:title>
        <c:numFmt formatCode="0.00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Low risk</c:v>
                </c:pt>
              </c:strCache>
            </c:strRef>
          </c:tx>
          <c:spPr>
            <a:ln w="31750">
              <a:solidFill>
                <a:srgbClr val="6DA7EC"/>
              </a:solidFill>
            </a:ln>
          </c:spPr>
          <c:marker>
            <c:symbol val="none"/>
          </c:marker>
          <c:xVal>
            <c:numRef>
              <c:f>Sheet1!$A$2:$A$120</c:f>
              <c:numCache>
                <c:formatCode>General</c:formatCode>
                <c:ptCount val="119"/>
                <c:pt idx="0">
                  <c:v>0.0</c:v>
                </c:pt>
                <c:pt idx="1">
                  <c:v>3.0</c:v>
                </c:pt>
                <c:pt idx="2">
                  <c:v>3.0</c:v>
                </c:pt>
                <c:pt idx="3">
                  <c:v>9.0</c:v>
                </c:pt>
                <c:pt idx="4">
                  <c:v>9.0</c:v>
                </c:pt>
                <c:pt idx="5">
                  <c:v>10.0</c:v>
                </c:pt>
                <c:pt idx="6">
                  <c:v>10.0</c:v>
                </c:pt>
                <c:pt idx="7">
                  <c:v>11.0</c:v>
                </c:pt>
                <c:pt idx="8">
                  <c:v>11.0</c:v>
                </c:pt>
                <c:pt idx="9">
                  <c:v>21.0</c:v>
                </c:pt>
                <c:pt idx="10">
                  <c:v>21.0</c:v>
                </c:pt>
                <c:pt idx="11">
                  <c:v>22.0</c:v>
                </c:pt>
                <c:pt idx="12">
                  <c:v>22.0</c:v>
                </c:pt>
                <c:pt idx="13">
                  <c:v>25.0</c:v>
                </c:pt>
                <c:pt idx="14">
                  <c:v>25.0</c:v>
                </c:pt>
                <c:pt idx="15">
                  <c:v>29.0</c:v>
                </c:pt>
                <c:pt idx="16">
                  <c:v>29.0</c:v>
                </c:pt>
                <c:pt idx="17">
                  <c:v>30.0</c:v>
                </c:pt>
                <c:pt idx="18">
                  <c:v>30.0</c:v>
                </c:pt>
                <c:pt idx="19">
                  <c:v>32.0</c:v>
                </c:pt>
                <c:pt idx="20">
                  <c:v>32.0</c:v>
                </c:pt>
                <c:pt idx="21">
                  <c:v>34.0</c:v>
                </c:pt>
                <c:pt idx="22">
                  <c:v>34.0</c:v>
                </c:pt>
                <c:pt idx="23">
                  <c:v>35.0</c:v>
                </c:pt>
                <c:pt idx="24">
                  <c:v>35.0</c:v>
                </c:pt>
                <c:pt idx="25">
                  <c:v>36.0</c:v>
                </c:pt>
                <c:pt idx="26">
                  <c:v>36.0</c:v>
                </c:pt>
                <c:pt idx="27">
                  <c:v>40.0</c:v>
                </c:pt>
                <c:pt idx="28">
                  <c:v>40.0</c:v>
                </c:pt>
                <c:pt idx="29">
                  <c:v>43.0</c:v>
                </c:pt>
                <c:pt idx="30">
                  <c:v>43.0</c:v>
                </c:pt>
                <c:pt idx="31">
                  <c:v>44.0</c:v>
                </c:pt>
                <c:pt idx="32">
                  <c:v>44.0</c:v>
                </c:pt>
                <c:pt idx="33">
                  <c:v>45.0</c:v>
                </c:pt>
                <c:pt idx="34">
                  <c:v>45.0</c:v>
                </c:pt>
                <c:pt idx="35">
                  <c:v>46.0</c:v>
                </c:pt>
                <c:pt idx="36">
                  <c:v>46.0</c:v>
                </c:pt>
                <c:pt idx="37">
                  <c:v>49.0</c:v>
                </c:pt>
                <c:pt idx="38">
                  <c:v>49.0</c:v>
                </c:pt>
                <c:pt idx="39">
                  <c:v>51.0</c:v>
                </c:pt>
                <c:pt idx="40">
                  <c:v>51.0</c:v>
                </c:pt>
                <c:pt idx="41">
                  <c:v>52.0</c:v>
                </c:pt>
                <c:pt idx="42">
                  <c:v>52.0</c:v>
                </c:pt>
                <c:pt idx="43">
                  <c:v>53.0</c:v>
                </c:pt>
                <c:pt idx="44">
                  <c:v>53.0</c:v>
                </c:pt>
                <c:pt idx="45">
                  <c:v>54.0</c:v>
                </c:pt>
                <c:pt idx="46">
                  <c:v>54.0</c:v>
                </c:pt>
                <c:pt idx="47">
                  <c:v>55.0</c:v>
                </c:pt>
                <c:pt idx="48">
                  <c:v>55.0</c:v>
                </c:pt>
                <c:pt idx="49">
                  <c:v>56.0</c:v>
                </c:pt>
                <c:pt idx="50">
                  <c:v>56.0</c:v>
                </c:pt>
                <c:pt idx="51">
                  <c:v>57.0</c:v>
                </c:pt>
                <c:pt idx="52">
                  <c:v>57.0</c:v>
                </c:pt>
                <c:pt idx="53">
                  <c:v>60.0</c:v>
                </c:pt>
                <c:pt idx="54">
                  <c:v>60.0</c:v>
                </c:pt>
                <c:pt idx="55">
                  <c:v>61.0</c:v>
                </c:pt>
                <c:pt idx="56">
                  <c:v>61.0</c:v>
                </c:pt>
                <c:pt idx="57">
                  <c:v>63.0</c:v>
                </c:pt>
                <c:pt idx="58">
                  <c:v>63.0</c:v>
                </c:pt>
                <c:pt idx="59">
                  <c:v>64.0</c:v>
                </c:pt>
                <c:pt idx="60">
                  <c:v>64.0</c:v>
                </c:pt>
                <c:pt idx="61">
                  <c:v>66.0</c:v>
                </c:pt>
                <c:pt idx="62">
                  <c:v>66.0</c:v>
                </c:pt>
                <c:pt idx="63">
                  <c:v>69.0</c:v>
                </c:pt>
                <c:pt idx="64">
                  <c:v>69.0</c:v>
                </c:pt>
                <c:pt idx="65">
                  <c:v>71.0</c:v>
                </c:pt>
                <c:pt idx="66">
                  <c:v>71.0</c:v>
                </c:pt>
                <c:pt idx="67">
                  <c:v>72.0</c:v>
                </c:pt>
                <c:pt idx="68">
                  <c:v>72.0</c:v>
                </c:pt>
                <c:pt idx="69">
                  <c:v>73.0</c:v>
                </c:pt>
                <c:pt idx="70">
                  <c:v>73.0</c:v>
                </c:pt>
                <c:pt idx="71">
                  <c:v>74.0</c:v>
                </c:pt>
                <c:pt idx="72">
                  <c:v>74.0</c:v>
                </c:pt>
                <c:pt idx="73">
                  <c:v>77.0</c:v>
                </c:pt>
                <c:pt idx="74">
                  <c:v>77.0</c:v>
                </c:pt>
                <c:pt idx="75">
                  <c:v>78.0</c:v>
                </c:pt>
                <c:pt idx="76">
                  <c:v>78.0</c:v>
                </c:pt>
                <c:pt idx="77">
                  <c:v>79.0</c:v>
                </c:pt>
                <c:pt idx="78">
                  <c:v>79.0</c:v>
                </c:pt>
                <c:pt idx="79">
                  <c:v>90.0</c:v>
                </c:pt>
                <c:pt idx="80">
                  <c:v>90.0</c:v>
                </c:pt>
                <c:pt idx="81">
                  <c:v>93.0</c:v>
                </c:pt>
                <c:pt idx="82">
                  <c:v>93.0</c:v>
                </c:pt>
                <c:pt idx="83">
                  <c:v>94.0</c:v>
                </c:pt>
                <c:pt idx="84">
                  <c:v>94.0</c:v>
                </c:pt>
                <c:pt idx="85">
                  <c:v>95.0</c:v>
                </c:pt>
                <c:pt idx="86">
                  <c:v>95.0</c:v>
                </c:pt>
                <c:pt idx="87">
                  <c:v>97.0</c:v>
                </c:pt>
                <c:pt idx="88">
                  <c:v>97.0</c:v>
                </c:pt>
                <c:pt idx="89">
                  <c:v>100.0</c:v>
                </c:pt>
                <c:pt idx="90">
                  <c:v>100.0</c:v>
                </c:pt>
                <c:pt idx="91">
                  <c:v>101.0</c:v>
                </c:pt>
                <c:pt idx="92">
                  <c:v>101.0</c:v>
                </c:pt>
                <c:pt idx="93">
                  <c:v>102.0</c:v>
                </c:pt>
                <c:pt idx="94">
                  <c:v>102.0</c:v>
                </c:pt>
                <c:pt idx="95">
                  <c:v>103.0</c:v>
                </c:pt>
                <c:pt idx="96">
                  <c:v>103.0</c:v>
                </c:pt>
                <c:pt idx="97">
                  <c:v>111.0</c:v>
                </c:pt>
                <c:pt idx="98">
                  <c:v>111.0</c:v>
                </c:pt>
                <c:pt idx="99">
                  <c:v>114.0</c:v>
                </c:pt>
                <c:pt idx="100">
                  <c:v>114.0</c:v>
                </c:pt>
                <c:pt idx="101">
                  <c:v>118.0</c:v>
                </c:pt>
                <c:pt idx="102">
                  <c:v>118.0</c:v>
                </c:pt>
                <c:pt idx="103">
                  <c:v>120.0</c:v>
                </c:pt>
                <c:pt idx="104">
                  <c:v>120.0</c:v>
                </c:pt>
                <c:pt idx="105">
                  <c:v>127.0</c:v>
                </c:pt>
                <c:pt idx="106">
                  <c:v>127.0</c:v>
                </c:pt>
                <c:pt idx="107">
                  <c:v>130.0</c:v>
                </c:pt>
                <c:pt idx="108">
                  <c:v>130.0</c:v>
                </c:pt>
                <c:pt idx="109">
                  <c:v>139.0</c:v>
                </c:pt>
                <c:pt idx="110">
                  <c:v>139.0</c:v>
                </c:pt>
                <c:pt idx="111">
                  <c:v>149.0</c:v>
                </c:pt>
                <c:pt idx="112">
                  <c:v>149.0</c:v>
                </c:pt>
                <c:pt idx="113">
                  <c:v>155.0</c:v>
                </c:pt>
                <c:pt idx="114">
                  <c:v>155.0</c:v>
                </c:pt>
                <c:pt idx="115">
                  <c:v>170.0</c:v>
                </c:pt>
                <c:pt idx="116">
                  <c:v>170.0</c:v>
                </c:pt>
                <c:pt idx="117">
                  <c:v>196.0</c:v>
                </c:pt>
                <c:pt idx="118">
                  <c:v>196.0</c:v>
                </c:pt>
              </c:numCache>
            </c:numRef>
          </c:xVal>
          <c:yVal>
            <c:numRef>
              <c:f>Sheet1!$B$2:$B$120</c:f>
              <c:numCache>
                <c:formatCode>General</c:formatCode>
                <c:ptCount val="119"/>
                <c:pt idx="0">
                  <c:v>1.0</c:v>
                </c:pt>
                <c:pt idx="1">
                  <c:v>1.0</c:v>
                </c:pt>
                <c:pt idx="2">
                  <c:v>0.9882352941176465</c:v>
                </c:pt>
                <c:pt idx="3">
                  <c:v>0.9882352941176465</c:v>
                </c:pt>
                <c:pt idx="4">
                  <c:v>0.9764705882352942</c:v>
                </c:pt>
                <c:pt idx="5">
                  <c:v>0.9764705882352942</c:v>
                </c:pt>
                <c:pt idx="6">
                  <c:v>0.9529411764705884</c:v>
                </c:pt>
                <c:pt idx="7">
                  <c:v>0.9529411764705884</c:v>
                </c:pt>
                <c:pt idx="8">
                  <c:v>0.9411764705882347</c:v>
                </c:pt>
                <c:pt idx="9">
                  <c:v>0.9411764705882347</c:v>
                </c:pt>
                <c:pt idx="10">
                  <c:v>0.9294117647058822</c:v>
                </c:pt>
                <c:pt idx="11">
                  <c:v>0.9294117647058822</c:v>
                </c:pt>
                <c:pt idx="12">
                  <c:v>0.9176470588235291</c:v>
                </c:pt>
                <c:pt idx="13">
                  <c:v>0.9176470588235291</c:v>
                </c:pt>
                <c:pt idx="14">
                  <c:v>0.8941176470588234</c:v>
                </c:pt>
                <c:pt idx="15">
                  <c:v>0.8941176470588234</c:v>
                </c:pt>
                <c:pt idx="16">
                  <c:v>0.8823529411764701</c:v>
                </c:pt>
                <c:pt idx="17">
                  <c:v>0.8823529411764701</c:v>
                </c:pt>
                <c:pt idx="18">
                  <c:v>0.8588235294117643</c:v>
                </c:pt>
                <c:pt idx="19">
                  <c:v>0.8588235294117643</c:v>
                </c:pt>
                <c:pt idx="20">
                  <c:v>0.8470588235294115</c:v>
                </c:pt>
                <c:pt idx="21">
                  <c:v>0.8470588235294115</c:v>
                </c:pt>
                <c:pt idx="22">
                  <c:v>0.823529411764706</c:v>
                </c:pt>
                <c:pt idx="23">
                  <c:v>0.823529411764706</c:v>
                </c:pt>
                <c:pt idx="24">
                  <c:v>0.811764705882353</c:v>
                </c:pt>
                <c:pt idx="25">
                  <c:v>0.811764705882353</c:v>
                </c:pt>
                <c:pt idx="26">
                  <c:v>0.8</c:v>
                </c:pt>
                <c:pt idx="27">
                  <c:v>0.8</c:v>
                </c:pt>
                <c:pt idx="28">
                  <c:v>0.7764705882352937</c:v>
                </c:pt>
                <c:pt idx="29">
                  <c:v>0.7764705882352937</c:v>
                </c:pt>
                <c:pt idx="30">
                  <c:v>0.7647058823529408</c:v>
                </c:pt>
                <c:pt idx="31">
                  <c:v>0.7647058823529408</c:v>
                </c:pt>
                <c:pt idx="32">
                  <c:v>0.7529411764705878</c:v>
                </c:pt>
                <c:pt idx="33">
                  <c:v>0.7529411764705878</c:v>
                </c:pt>
                <c:pt idx="34">
                  <c:v>0.7294117647058823</c:v>
                </c:pt>
                <c:pt idx="35">
                  <c:v>0.7294117647058823</c:v>
                </c:pt>
                <c:pt idx="36">
                  <c:v>0.7176470588235293</c:v>
                </c:pt>
                <c:pt idx="37">
                  <c:v>0.7176470588235293</c:v>
                </c:pt>
                <c:pt idx="38">
                  <c:v>0.7058823529411762</c:v>
                </c:pt>
                <c:pt idx="39">
                  <c:v>0.7058823529411762</c:v>
                </c:pt>
                <c:pt idx="40">
                  <c:v>0.6941176470588235</c:v>
                </c:pt>
                <c:pt idx="41">
                  <c:v>0.6941176470588235</c:v>
                </c:pt>
                <c:pt idx="42">
                  <c:v>0.6705882352941176</c:v>
                </c:pt>
                <c:pt idx="43">
                  <c:v>0.6705882352941176</c:v>
                </c:pt>
                <c:pt idx="44">
                  <c:v>0.6470588235294118</c:v>
                </c:pt>
                <c:pt idx="45">
                  <c:v>0.6470588235294118</c:v>
                </c:pt>
                <c:pt idx="46">
                  <c:v>0.6117647058823529</c:v>
                </c:pt>
                <c:pt idx="47">
                  <c:v>0.6117647058823529</c:v>
                </c:pt>
                <c:pt idx="48">
                  <c:v>0.5882352941176469</c:v>
                </c:pt>
                <c:pt idx="49">
                  <c:v>0.5882352941176469</c:v>
                </c:pt>
                <c:pt idx="50">
                  <c:v>0.5647058823529412</c:v>
                </c:pt>
                <c:pt idx="51">
                  <c:v>0.5647058823529412</c:v>
                </c:pt>
                <c:pt idx="52">
                  <c:v>0.5411764705882353</c:v>
                </c:pt>
                <c:pt idx="53">
                  <c:v>0.5411764705882353</c:v>
                </c:pt>
                <c:pt idx="54">
                  <c:v>0.5294117647058821</c:v>
                </c:pt>
                <c:pt idx="55">
                  <c:v>0.5294117647058821</c:v>
                </c:pt>
                <c:pt idx="56">
                  <c:v>0.5058823529411763</c:v>
                </c:pt>
                <c:pt idx="57">
                  <c:v>0.5058823529411763</c:v>
                </c:pt>
                <c:pt idx="58">
                  <c:v>0.48235294117647054</c:v>
                </c:pt>
                <c:pt idx="59">
                  <c:v>0.48235294117647054</c:v>
                </c:pt>
                <c:pt idx="60">
                  <c:v>0.4588235294117646</c:v>
                </c:pt>
                <c:pt idx="61">
                  <c:v>0.4588235294117646</c:v>
                </c:pt>
                <c:pt idx="62">
                  <c:v>0.43529411764705866</c:v>
                </c:pt>
                <c:pt idx="63">
                  <c:v>0.43529411764705866</c:v>
                </c:pt>
                <c:pt idx="64">
                  <c:v>0.42352941176470577</c:v>
                </c:pt>
                <c:pt idx="65">
                  <c:v>0.42352941176470577</c:v>
                </c:pt>
                <c:pt idx="66">
                  <c:v>0.38823529411764696</c:v>
                </c:pt>
                <c:pt idx="67">
                  <c:v>0.38823529411764696</c:v>
                </c:pt>
                <c:pt idx="68">
                  <c:v>0.37647058823529406</c:v>
                </c:pt>
                <c:pt idx="69">
                  <c:v>0.37647058823529406</c:v>
                </c:pt>
                <c:pt idx="70">
                  <c:v>0.3647058823529411</c:v>
                </c:pt>
                <c:pt idx="71">
                  <c:v>0.3647058823529411</c:v>
                </c:pt>
                <c:pt idx="72">
                  <c:v>0.3529411764705882</c:v>
                </c:pt>
                <c:pt idx="73">
                  <c:v>0.3529411764705882</c:v>
                </c:pt>
                <c:pt idx="74">
                  <c:v>0.34117647058823525</c:v>
                </c:pt>
                <c:pt idx="75">
                  <c:v>0.34117647058823525</c:v>
                </c:pt>
                <c:pt idx="76">
                  <c:v>0.31764705882352934</c:v>
                </c:pt>
                <c:pt idx="77">
                  <c:v>0.31764705882352934</c:v>
                </c:pt>
                <c:pt idx="78">
                  <c:v>0.29411764705882343</c:v>
                </c:pt>
                <c:pt idx="79">
                  <c:v>0.29411764705882343</c:v>
                </c:pt>
                <c:pt idx="80">
                  <c:v>0.2823529411764706</c:v>
                </c:pt>
                <c:pt idx="81">
                  <c:v>0.2823529411764706</c:v>
                </c:pt>
                <c:pt idx="82">
                  <c:v>0.2705882352941176</c:v>
                </c:pt>
                <c:pt idx="83">
                  <c:v>0.2705882352941176</c:v>
                </c:pt>
                <c:pt idx="84">
                  <c:v>0.25882352941176473</c:v>
                </c:pt>
                <c:pt idx="85">
                  <c:v>0.25882352941176473</c:v>
                </c:pt>
                <c:pt idx="86">
                  <c:v>0.22352941176470578</c:v>
                </c:pt>
                <c:pt idx="87">
                  <c:v>0.22352941176470578</c:v>
                </c:pt>
                <c:pt idx="88">
                  <c:v>0.21176470588235285</c:v>
                </c:pt>
                <c:pt idx="89">
                  <c:v>0.21176470588235285</c:v>
                </c:pt>
                <c:pt idx="90">
                  <c:v>0.19999999999999998</c:v>
                </c:pt>
                <c:pt idx="91">
                  <c:v>0.19999999999999998</c:v>
                </c:pt>
                <c:pt idx="92">
                  <c:v>0.188235294117647</c:v>
                </c:pt>
                <c:pt idx="93">
                  <c:v>0.188235294117647</c:v>
                </c:pt>
                <c:pt idx="94">
                  <c:v>0.17647058823529407</c:v>
                </c:pt>
                <c:pt idx="95">
                  <c:v>0.17647058823529407</c:v>
                </c:pt>
                <c:pt idx="96">
                  <c:v>0.16470588235294112</c:v>
                </c:pt>
                <c:pt idx="97">
                  <c:v>0.16470588235294112</c:v>
                </c:pt>
                <c:pt idx="98">
                  <c:v>0.1529411764705882</c:v>
                </c:pt>
                <c:pt idx="99">
                  <c:v>0.1529411764705882</c:v>
                </c:pt>
                <c:pt idx="100">
                  <c:v>0.14117647058823526</c:v>
                </c:pt>
                <c:pt idx="101">
                  <c:v>0.14117647058823526</c:v>
                </c:pt>
                <c:pt idx="102">
                  <c:v>0.12941176470588234</c:v>
                </c:pt>
                <c:pt idx="103">
                  <c:v>0.12941176470588234</c:v>
                </c:pt>
                <c:pt idx="104">
                  <c:v>0.11764705882352941</c:v>
                </c:pt>
                <c:pt idx="105">
                  <c:v>0.11764705882352941</c:v>
                </c:pt>
                <c:pt idx="106">
                  <c:v>0.09411764705882349</c:v>
                </c:pt>
                <c:pt idx="107">
                  <c:v>0.09411764705882349</c:v>
                </c:pt>
                <c:pt idx="108">
                  <c:v>0.08235294117647059</c:v>
                </c:pt>
                <c:pt idx="109">
                  <c:v>0.08235294117647059</c:v>
                </c:pt>
                <c:pt idx="110">
                  <c:v>0.07058823529411766</c:v>
                </c:pt>
                <c:pt idx="111">
                  <c:v>0.07058823529411766</c:v>
                </c:pt>
                <c:pt idx="112">
                  <c:v>0.0588235294117647</c:v>
                </c:pt>
                <c:pt idx="113">
                  <c:v>0.0588235294117647</c:v>
                </c:pt>
                <c:pt idx="114">
                  <c:v>0.047058823529411764</c:v>
                </c:pt>
                <c:pt idx="115">
                  <c:v>0.047058823529411764</c:v>
                </c:pt>
                <c:pt idx="116">
                  <c:v>0.03529411764705883</c:v>
                </c:pt>
                <c:pt idx="117">
                  <c:v>0.03529411764705883</c:v>
                </c:pt>
                <c:pt idx="118">
                  <c:v>0.02352941176470588</c:v>
                </c:pt>
              </c:numCache>
            </c:numRef>
          </c:yVal>
          <c:smooth val="0"/>
        </c:ser>
        <c:ser>
          <c:idx val="1"/>
          <c:order val="1"/>
          <c:tx>
            <c:strRef>
              <c:f>Sheet1!$B$122</c:f>
              <c:strCache>
                <c:ptCount val="1"/>
                <c:pt idx="0">
                  <c:v>Intermediate risk</c:v>
                </c:pt>
              </c:strCache>
            </c:strRef>
          </c:tx>
          <c:spPr>
            <a:ln w="31750">
              <a:solidFill>
                <a:srgbClr val="2A78D6"/>
              </a:solidFill>
            </a:ln>
          </c:spPr>
          <c:marker>
            <c:symbol val="none"/>
          </c:marker>
          <c:xVal>
            <c:numRef>
              <c:f>Sheet1!$A$123:$A$255</c:f>
              <c:numCache>
                <c:formatCode>General</c:formatCode>
                <c:ptCount val="133"/>
                <c:pt idx="0">
                  <c:v>0.0</c:v>
                </c:pt>
                <c:pt idx="1">
                  <c:v>3.0</c:v>
                </c:pt>
                <c:pt idx="2">
                  <c:v>3.0</c:v>
                </c:pt>
                <c:pt idx="3">
                  <c:v>4.0</c:v>
                </c:pt>
                <c:pt idx="4">
                  <c:v>4.0</c:v>
                </c:pt>
                <c:pt idx="5">
                  <c:v>6.0</c:v>
                </c:pt>
                <c:pt idx="6">
                  <c:v>6.0</c:v>
                </c:pt>
                <c:pt idx="7">
                  <c:v>7.0</c:v>
                </c:pt>
                <c:pt idx="8">
                  <c:v>7.0</c:v>
                </c:pt>
                <c:pt idx="9">
                  <c:v>8.0</c:v>
                </c:pt>
                <c:pt idx="10">
                  <c:v>8.0</c:v>
                </c:pt>
                <c:pt idx="11">
                  <c:v>9.0</c:v>
                </c:pt>
                <c:pt idx="12">
                  <c:v>9.0</c:v>
                </c:pt>
                <c:pt idx="13">
                  <c:v>13.0</c:v>
                </c:pt>
                <c:pt idx="14">
                  <c:v>13.0</c:v>
                </c:pt>
                <c:pt idx="15">
                  <c:v>15.0</c:v>
                </c:pt>
                <c:pt idx="16">
                  <c:v>15.0</c:v>
                </c:pt>
                <c:pt idx="17">
                  <c:v>16.0</c:v>
                </c:pt>
                <c:pt idx="18">
                  <c:v>16.0</c:v>
                </c:pt>
                <c:pt idx="19">
                  <c:v>17.0</c:v>
                </c:pt>
                <c:pt idx="20">
                  <c:v>17.0</c:v>
                </c:pt>
                <c:pt idx="21">
                  <c:v>18.0</c:v>
                </c:pt>
                <c:pt idx="22">
                  <c:v>18.0</c:v>
                </c:pt>
                <c:pt idx="23">
                  <c:v>19.0</c:v>
                </c:pt>
                <c:pt idx="24">
                  <c:v>19.0</c:v>
                </c:pt>
                <c:pt idx="25">
                  <c:v>21.0</c:v>
                </c:pt>
                <c:pt idx="26">
                  <c:v>21.0</c:v>
                </c:pt>
                <c:pt idx="27">
                  <c:v>22.0</c:v>
                </c:pt>
                <c:pt idx="28">
                  <c:v>22.0</c:v>
                </c:pt>
                <c:pt idx="29">
                  <c:v>23.0</c:v>
                </c:pt>
                <c:pt idx="30">
                  <c:v>23.0</c:v>
                </c:pt>
                <c:pt idx="31">
                  <c:v>24.0</c:v>
                </c:pt>
                <c:pt idx="32">
                  <c:v>24.0</c:v>
                </c:pt>
                <c:pt idx="33">
                  <c:v>25.0</c:v>
                </c:pt>
                <c:pt idx="34">
                  <c:v>25.0</c:v>
                </c:pt>
                <c:pt idx="35">
                  <c:v>26.0</c:v>
                </c:pt>
                <c:pt idx="36">
                  <c:v>26.0</c:v>
                </c:pt>
                <c:pt idx="37">
                  <c:v>28.0</c:v>
                </c:pt>
                <c:pt idx="38">
                  <c:v>28.0</c:v>
                </c:pt>
                <c:pt idx="39">
                  <c:v>29.0</c:v>
                </c:pt>
                <c:pt idx="40">
                  <c:v>29.0</c:v>
                </c:pt>
                <c:pt idx="41">
                  <c:v>30.0</c:v>
                </c:pt>
                <c:pt idx="42">
                  <c:v>30.0</c:v>
                </c:pt>
                <c:pt idx="43">
                  <c:v>36.0</c:v>
                </c:pt>
                <c:pt idx="44">
                  <c:v>36.0</c:v>
                </c:pt>
                <c:pt idx="45">
                  <c:v>40.0</c:v>
                </c:pt>
                <c:pt idx="46">
                  <c:v>40.0</c:v>
                </c:pt>
                <c:pt idx="47">
                  <c:v>41.0</c:v>
                </c:pt>
                <c:pt idx="48">
                  <c:v>41.0</c:v>
                </c:pt>
                <c:pt idx="49">
                  <c:v>42.0</c:v>
                </c:pt>
                <c:pt idx="50">
                  <c:v>42.0</c:v>
                </c:pt>
                <c:pt idx="51">
                  <c:v>44.0</c:v>
                </c:pt>
                <c:pt idx="52">
                  <c:v>44.0</c:v>
                </c:pt>
                <c:pt idx="53">
                  <c:v>45.0</c:v>
                </c:pt>
                <c:pt idx="54">
                  <c:v>45.0</c:v>
                </c:pt>
                <c:pt idx="55">
                  <c:v>47.0</c:v>
                </c:pt>
                <c:pt idx="56">
                  <c:v>47.0</c:v>
                </c:pt>
                <c:pt idx="57">
                  <c:v>49.0</c:v>
                </c:pt>
                <c:pt idx="58">
                  <c:v>49.0</c:v>
                </c:pt>
                <c:pt idx="59">
                  <c:v>50.0</c:v>
                </c:pt>
                <c:pt idx="60">
                  <c:v>50.0</c:v>
                </c:pt>
                <c:pt idx="61">
                  <c:v>51.0</c:v>
                </c:pt>
                <c:pt idx="62">
                  <c:v>51.0</c:v>
                </c:pt>
                <c:pt idx="63">
                  <c:v>53.0</c:v>
                </c:pt>
                <c:pt idx="64">
                  <c:v>53.0</c:v>
                </c:pt>
                <c:pt idx="65">
                  <c:v>57.0</c:v>
                </c:pt>
                <c:pt idx="66">
                  <c:v>57.0</c:v>
                </c:pt>
                <c:pt idx="67">
                  <c:v>60.0</c:v>
                </c:pt>
                <c:pt idx="68">
                  <c:v>60.0</c:v>
                </c:pt>
                <c:pt idx="69">
                  <c:v>61.0</c:v>
                </c:pt>
                <c:pt idx="70">
                  <c:v>61.0</c:v>
                </c:pt>
                <c:pt idx="71">
                  <c:v>65.0</c:v>
                </c:pt>
                <c:pt idx="72">
                  <c:v>65.0</c:v>
                </c:pt>
                <c:pt idx="73">
                  <c:v>67.0</c:v>
                </c:pt>
                <c:pt idx="74">
                  <c:v>67.0</c:v>
                </c:pt>
                <c:pt idx="75">
                  <c:v>70.0</c:v>
                </c:pt>
                <c:pt idx="76">
                  <c:v>70.0</c:v>
                </c:pt>
                <c:pt idx="77">
                  <c:v>71.0</c:v>
                </c:pt>
                <c:pt idx="78">
                  <c:v>71.0</c:v>
                </c:pt>
                <c:pt idx="79">
                  <c:v>72.0</c:v>
                </c:pt>
                <c:pt idx="80">
                  <c:v>72.0</c:v>
                </c:pt>
                <c:pt idx="81">
                  <c:v>73.0</c:v>
                </c:pt>
                <c:pt idx="82">
                  <c:v>73.0</c:v>
                </c:pt>
                <c:pt idx="83">
                  <c:v>76.0</c:v>
                </c:pt>
                <c:pt idx="84">
                  <c:v>76.0</c:v>
                </c:pt>
                <c:pt idx="85">
                  <c:v>77.0</c:v>
                </c:pt>
                <c:pt idx="86">
                  <c:v>77.0</c:v>
                </c:pt>
                <c:pt idx="87">
                  <c:v>78.0</c:v>
                </c:pt>
                <c:pt idx="88">
                  <c:v>78.0</c:v>
                </c:pt>
                <c:pt idx="89">
                  <c:v>80.0</c:v>
                </c:pt>
                <c:pt idx="90">
                  <c:v>80.0</c:v>
                </c:pt>
                <c:pt idx="91">
                  <c:v>81.0</c:v>
                </c:pt>
                <c:pt idx="92">
                  <c:v>81.0</c:v>
                </c:pt>
                <c:pt idx="93">
                  <c:v>82.0</c:v>
                </c:pt>
                <c:pt idx="94">
                  <c:v>82.0</c:v>
                </c:pt>
                <c:pt idx="95">
                  <c:v>87.0</c:v>
                </c:pt>
                <c:pt idx="96">
                  <c:v>87.0</c:v>
                </c:pt>
                <c:pt idx="97">
                  <c:v>94.0</c:v>
                </c:pt>
                <c:pt idx="98">
                  <c:v>94.0</c:v>
                </c:pt>
                <c:pt idx="99">
                  <c:v>95.0</c:v>
                </c:pt>
                <c:pt idx="100">
                  <c:v>95.0</c:v>
                </c:pt>
                <c:pt idx="101">
                  <c:v>96.0</c:v>
                </c:pt>
                <c:pt idx="102">
                  <c:v>96.0</c:v>
                </c:pt>
                <c:pt idx="103">
                  <c:v>103.0</c:v>
                </c:pt>
                <c:pt idx="104">
                  <c:v>103.0</c:v>
                </c:pt>
                <c:pt idx="105">
                  <c:v>104.0</c:v>
                </c:pt>
                <c:pt idx="106">
                  <c:v>104.0</c:v>
                </c:pt>
                <c:pt idx="107">
                  <c:v>109.0</c:v>
                </c:pt>
                <c:pt idx="108">
                  <c:v>109.0</c:v>
                </c:pt>
                <c:pt idx="109">
                  <c:v>114.0</c:v>
                </c:pt>
                <c:pt idx="110">
                  <c:v>114.0</c:v>
                </c:pt>
                <c:pt idx="111">
                  <c:v>115.0</c:v>
                </c:pt>
                <c:pt idx="112">
                  <c:v>115.0</c:v>
                </c:pt>
                <c:pt idx="113">
                  <c:v>117.0</c:v>
                </c:pt>
                <c:pt idx="114">
                  <c:v>117.0</c:v>
                </c:pt>
                <c:pt idx="115">
                  <c:v>121.0</c:v>
                </c:pt>
                <c:pt idx="116">
                  <c:v>121.0</c:v>
                </c:pt>
                <c:pt idx="117">
                  <c:v>129.0</c:v>
                </c:pt>
                <c:pt idx="118">
                  <c:v>129.0</c:v>
                </c:pt>
                <c:pt idx="119">
                  <c:v>137.0</c:v>
                </c:pt>
                <c:pt idx="120">
                  <c:v>137.0</c:v>
                </c:pt>
                <c:pt idx="121">
                  <c:v>139.0</c:v>
                </c:pt>
                <c:pt idx="122">
                  <c:v>139.0</c:v>
                </c:pt>
                <c:pt idx="123">
                  <c:v>140.0</c:v>
                </c:pt>
                <c:pt idx="124">
                  <c:v>140.0</c:v>
                </c:pt>
                <c:pt idx="125">
                  <c:v>150.0</c:v>
                </c:pt>
                <c:pt idx="126">
                  <c:v>150.0</c:v>
                </c:pt>
                <c:pt idx="127">
                  <c:v>158.0</c:v>
                </c:pt>
                <c:pt idx="128">
                  <c:v>158.0</c:v>
                </c:pt>
                <c:pt idx="129">
                  <c:v>159.0</c:v>
                </c:pt>
                <c:pt idx="130">
                  <c:v>159.0</c:v>
                </c:pt>
                <c:pt idx="131">
                  <c:v>191.0</c:v>
                </c:pt>
                <c:pt idx="132">
                  <c:v>191.0</c:v>
                </c:pt>
              </c:numCache>
            </c:numRef>
          </c:xVal>
          <c:yVal>
            <c:numRef>
              <c:f>Sheet1!$B$123:$B$255</c:f>
              <c:numCache>
                <c:formatCode>General</c:formatCode>
                <c:ptCount val="133"/>
                <c:pt idx="0">
                  <c:v>1.0</c:v>
                </c:pt>
                <c:pt idx="1">
                  <c:v>1.0</c:v>
                </c:pt>
                <c:pt idx="2">
                  <c:v>0.9882352941176465</c:v>
                </c:pt>
                <c:pt idx="3">
                  <c:v>0.9882352941176465</c:v>
                </c:pt>
                <c:pt idx="4">
                  <c:v>0.9764705882352942</c:v>
                </c:pt>
                <c:pt idx="5">
                  <c:v>0.9764705882352942</c:v>
                </c:pt>
                <c:pt idx="6">
                  <c:v>0.9647058823529412</c:v>
                </c:pt>
                <c:pt idx="7">
                  <c:v>0.9647058823529412</c:v>
                </c:pt>
                <c:pt idx="8">
                  <c:v>0.9294117647058822</c:v>
                </c:pt>
                <c:pt idx="9">
                  <c:v>0.9294117647058822</c:v>
                </c:pt>
                <c:pt idx="10">
                  <c:v>0.9176470588235291</c:v>
                </c:pt>
                <c:pt idx="11">
                  <c:v>0.9176470588235291</c:v>
                </c:pt>
                <c:pt idx="12">
                  <c:v>0.9058823529411765</c:v>
                </c:pt>
                <c:pt idx="13">
                  <c:v>0.9058823529411765</c:v>
                </c:pt>
                <c:pt idx="14">
                  <c:v>0.8823529411764701</c:v>
                </c:pt>
                <c:pt idx="15">
                  <c:v>0.8823529411764701</c:v>
                </c:pt>
                <c:pt idx="16">
                  <c:v>0.8588235294117643</c:v>
                </c:pt>
                <c:pt idx="17">
                  <c:v>0.8588235294117643</c:v>
                </c:pt>
                <c:pt idx="18">
                  <c:v>0.8352941176470586</c:v>
                </c:pt>
                <c:pt idx="19">
                  <c:v>0.8352941176470586</c:v>
                </c:pt>
                <c:pt idx="20">
                  <c:v>0.811764705882353</c:v>
                </c:pt>
                <c:pt idx="21">
                  <c:v>0.811764705882353</c:v>
                </c:pt>
                <c:pt idx="22">
                  <c:v>0.8</c:v>
                </c:pt>
                <c:pt idx="23">
                  <c:v>0.8</c:v>
                </c:pt>
                <c:pt idx="24">
                  <c:v>0.7764705882352937</c:v>
                </c:pt>
                <c:pt idx="25">
                  <c:v>0.7764705882352937</c:v>
                </c:pt>
                <c:pt idx="26">
                  <c:v>0.7647058823529408</c:v>
                </c:pt>
                <c:pt idx="27">
                  <c:v>0.7647058823529408</c:v>
                </c:pt>
                <c:pt idx="28">
                  <c:v>0.7529411764705878</c:v>
                </c:pt>
                <c:pt idx="29">
                  <c:v>0.7529411764705878</c:v>
                </c:pt>
                <c:pt idx="30">
                  <c:v>0.7411764705882351</c:v>
                </c:pt>
                <c:pt idx="31">
                  <c:v>0.7411764705882351</c:v>
                </c:pt>
                <c:pt idx="32">
                  <c:v>0.7294117647058823</c:v>
                </c:pt>
                <c:pt idx="33">
                  <c:v>0.7294117647058823</c:v>
                </c:pt>
                <c:pt idx="34">
                  <c:v>0.7176470588235293</c:v>
                </c:pt>
                <c:pt idx="35">
                  <c:v>0.7176470588235293</c:v>
                </c:pt>
                <c:pt idx="36">
                  <c:v>0.7058823529411762</c:v>
                </c:pt>
                <c:pt idx="37">
                  <c:v>0.7058823529411762</c:v>
                </c:pt>
                <c:pt idx="38">
                  <c:v>0.6941176470588235</c:v>
                </c:pt>
                <c:pt idx="39">
                  <c:v>0.6941176470588235</c:v>
                </c:pt>
                <c:pt idx="40">
                  <c:v>0.6705882352941176</c:v>
                </c:pt>
                <c:pt idx="41">
                  <c:v>0.6705882352941176</c:v>
                </c:pt>
                <c:pt idx="42">
                  <c:v>0.6588235294117648</c:v>
                </c:pt>
                <c:pt idx="43">
                  <c:v>0.6588235294117648</c:v>
                </c:pt>
                <c:pt idx="44">
                  <c:v>0.6470588235294118</c:v>
                </c:pt>
                <c:pt idx="45">
                  <c:v>0.6470588235294118</c:v>
                </c:pt>
                <c:pt idx="46">
                  <c:v>0.6352941176470588</c:v>
                </c:pt>
                <c:pt idx="47">
                  <c:v>0.6352941176470588</c:v>
                </c:pt>
                <c:pt idx="48">
                  <c:v>0.6117647058823529</c:v>
                </c:pt>
                <c:pt idx="49">
                  <c:v>0.6117647058823529</c:v>
                </c:pt>
                <c:pt idx="50">
                  <c:v>0.5882352941176469</c:v>
                </c:pt>
                <c:pt idx="51">
                  <c:v>0.5882352941176469</c:v>
                </c:pt>
                <c:pt idx="52">
                  <c:v>0.576470588235294</c:v>
                </c:pt>
                <c:pt idx="53">
                  <c:v>0.576470588235294</c:v>
                </c:pt>
                <c:pt idx="54">
                  <c:v>0.5411764705882353</c:v>
                </c:pt>
                <c:pt idx="55">
                  <c:v>0.5411764705882353</c:v>
                </c:pt>
                <c:pt idx="56">
                  <c:v>0.5176470588235292</c:v>
                </c:pt>
                <c:pt idx="57">
                  <c:v>0.5176470588235292</c:v>
                </c:pt>
                <c:pt idx="58">
                  <c:v>0.5058823529411763</c:v>
                </c:pt>
                <c:pt idx="59">
                  <c:v>0.5058823529411763</c:v>
                </c:pt>
                <c:pt idx="60">
                  <c:v>0.48235294117647054</c:v>
                </c:pt>
                <c:pt idx="61">
                  <c:v>0.48235294117647054</c:v>
                </c:pt>
                <c:pt idx="62">
                  <c:v>0.47058823529411753</c:v>
                </c:pt>
                <c:pt idx="63">
                  <c:v>0.47058823529411753</c:v>
                </c:pt>
                <c:pt idx="64">
                  <c:v>0.4588235294117646</c:v>
                </c:pt>
                <c:pt idx="65">
                  <c:v>0.4588235294117646</c:v>
                </c:pt>
                <c:pt idx="66">
                  <c:v>0.4470588235294116</c:v>
                </c:pt>
                <c:pt idx="67">
                  <c:v>0.4470588235294116</c:v>
                </c:pt>
                <c:pt idx="68">
                  <c:v>0.43529411764705866</c:v>
                </c:pt>
                <c:pt idx="69">
                  <c:v>0.43529411764705866</c:v>
                </c:pt>
                <c:pt idx="70">
                  <c:v>0.42352941176470577</c:v>
                </c:pt>
                <c:pt idx="71">
                  <c:v>0.42352941176470577</c:v>
                </c:pt>
                <c:pt idx="72">
                  <c:v>0.4117647058823528</c:v>
                </c:pt>
                <c:pt idx="73">
                  <c:v>0.4117647058823528</c:v>
                </c:pt>
                <c:pt idx="74">
                  <c:v>0.39999999999999997</c:v>
                </c:pt>
                <c:pt idx="75">
                  <c:v>0.39999999999999997</c:v>
                </c:pt>
                <c:pt idx="76">
                  <c:v>0.3647058823529411</c:v>
                </c:pt>
                <c:pt idx="77">
                  <c:v>0.3647058823529411</c:v>
                </c:pt>
                <c:pt idx="78">
                  <c:v>0.3529411764705882</c:v>
                </c:pt>
                <c:pt idx="79">
                  <c:v>0.3529411764705882</c:v>
                </c:pt>
                <c:pt idx="80">
                  <c:v>0.34117647058823525</c:v>
                </c:pt>
                <c:pt idx="81">
                  <c:v>0.34117647058823525</c:v>
                </c:pt>
                <c:pt idx="82">
                  <c:v>0.32941176470588224</c:v>
                </c:pt>
                <c:pt idx="83">
                  <c:v>0.32941176470588224</c:v>
                </c:pt>
                <c:pt idx="84">
                  <c:v>0.31764705882352934</c:v>
                </c:pt>
                <c:pt idx="85">
                  <c:v>0.31764705882352934</c:v>
                </c:pt>
                <c:pt idx="86">
                  <c:v>0.30588235294117644</c:v>
                </c:pt>
                <c:pt idx="87">
                  <c:v>0.30588235294117644</c:v>
                </c:pt>
                <c:pt idx="88">
                  <c:v>0.29411764705882343</c:v>
                </c:pt>
                <c:pt idx="89">
                  <c:v>0.29411764705882343</c:v>
                </c:pt>
                <c:pt idx="90">
                  <c:v>0.2823529411764706</c:v>
                </c:pt>
                <c:pt idx="91">
                  <c:v>0.2823529411764706</c:v>
                </c:pt>
                <c:pt idx="92">
                  <c:v>0.25882352941176473</c:v>
                </c:pt>
                <c:pt idx="93">
                  <c:v>0.25882352941176473</c:v>
                </c:pt>
                <c:pt idx="94">
                  <c:v>0.24705882352941172</c:v>
                </c:pt>
                <c:pt idx="95">
                  <c:v>0.24705882352941172</c:v>
                </c:pt>
                <c:pt idx="96">
                  <c:v>0.23529411764705874</c:v>
                </c:pt>
                <c:pt idx="97">
                  <c:v>0.23529411764705874</c:v>
                </c:pt>
                <c:pt idx="98">
                  <c:v>0.22352941176470578</c:v>
                </c:pt>
                <c:pt idx="99">
                  <c:v>0.22352941176470578</c:v>
                </c:pt>
                <c:pt idx="100">
                  <c:v>0.21176470588235285</c:v>
                </c:pt>
                <c:pt idx="101">
                  <c:v>0.21176470588235285</c:v>
                </c:pt>
                <c:pt idx="102">
                  <c:v>0.19999999999999998</c:v>
                </c:pt>
                <c:pt idx="103">
                  <c:v>0.19999999999999998</c:v>
                </c:pt>
                <c:pt idx="104">
                  <c:v>0.188235294117647</c:v>
                </c:pt>
                <c:pt idx="105">
                  <c:v>0.188235294117647</c:v>
                </c:pt>
                <c:pt idx="106">
                  <c:v>0.17647058823529407</c:v>
                </c:pt>
                <c:pt idx="107">
                  <c:v>0.17647058823529407</c:v>
                </c:pt>
                <c:pt idx="108">
                  <c:v>0.16470588235294112</c:v>
                </c:pt>
                <c:pt idx="109">
                  <c:v>0.16470588235294112</c:v>
                </c:pt>
                <c:pt idx="110">
                  <c:v>0.1529411764705882</c:v>
                </c:pt>
                <c:pt idx="111">
                  <c:v>0.1529411764705882</c:v>
                </c:pt>
                <c:pt idx="112">
                  <c:v>0.14117647058823526</c:v>
                </c:pt>
                <c:pt idx="113">
                  <c:v>0.14117647058823526</c:v>
                </c:pt>
                <c:pt idx="114">
                  <c:v>0.12941176470588234</c:v>
                </c:pt>
                <c:pt idx="115">
                  <c:v>0.12941176470588234</c:v>
                </c:pt>
                <c:pt idx="116">
                  <c:v>0.10588235294117647</c:v>
                </c:pt>
                <c:pt idx="117">
                  <c:v>0.10588235294117647</c:v>
                </c:pt>
                <c:pt idx="118">
                  <c:v>0.09411764705882349</c:v>
                </c:pt>
                <c:pt idx="119">
                  <c:v>0.09411764705882349</c:v>
                </c:pt>
                <c:pt idx="120">
                  <c:v>0.08235294117647059</c:v>
                </c:pt>
                <c:pt idx="121">
                  <c:v>0.08235294117647059</c:v>
                </c:pt>
                <c:pt idx="122">
                  <c:v>0.07058823529411766</c:v>
                </c:pt>
                <c:pt idx="123">
                  <c:v>0.07058823529411766</c:v>
                </c:pt>
                <c:pt idx="124">
                  <c:v>0.0588235294117647</c:v>
                </c:pt>
                <c:pt idx="125">
                  <c:v>0.0588235294117647</c:v>
                </c:pt>
                <c:pt idx="126">
                  <c:v>0.047058823529411764</c:v>
                </c:pt>
                <c:pt idx="127">
                  <c:v>0.047058823529411764</c:v>
                </c:pt>
                <c:pt idx="128">
                  <c:v>0.03529411764705883</c:v>
                </c:pt>
                <c:pt idx="129">
                  <c:v>0.03529411764705883</c:v>
                </c:pt>
                <c:pt idx="130">
                  <c:v>0.02352941176470588</c:v>
                </c:pt>
                <c:pt idx="131">
                  <c:v>0.02352941176470588</c:v>
                </c:pt>
                <c:pt idx="132">
                  <c:v>0.01176470588235294</c:v>
                </c:pt>
              </c:numCache>
            </c:numRef>
          </c:yVal>
          <c:smooth val="0"/>
        </c:ser>
        <c:ser>
          <c:idx val="2"/>
          <c:order val="2"/>
          <c:tx>
            <c:strRef>
              <c:f>Sheet1!$B$257</c:f>
              <c:strCache>
                <c:ptCount val="1"/>
                <c:pt idx="0">
                  <c:v>High risk</c:v>
                </c:pt>
              </c:strCache>
            </c:strRef>
          </c:tx>
          <c:spPr>
            <a:ln w="31750">
              <a:solidFill>
                <a:srgbClr val="104281"/>
              </a:solidFill>
            </a:ln>
          </c:spPr>
          <c:marker>
            <c:symbol val="none"/>
          </c:marker>
          <c:xVal>
            <c:numRef>
              <c:f>Sheet1!$A$258:$A$364</c:f>
              <c:numCache>
                <c:formatCode>General</c:formatCode>
                <c:ptCount val="107"/>
                <c:pt idx="0">
                  <c:v>0.0</c:v>
                </c:pt>
                <c:pt idx="1">
                  <c:v>3.0</c:v>
                </c:pt>
                <c:pt idx="2">
                  <c:v>3.0</c:v>
                </c:pt>
                <c:pt idx="3">
                  <c:v>6.0</c:v>
                </c:pt>
                <c:pt idx="4">
                  <c:v>6.0</c:v>
                </c:pt>
                <c:pt idx="5">
                  <c:v>8.0</c:v>
                </c:pt>
                <c:pt idx="6">
                  <c:v>8.0</c:v>
                </c:pt>
                <c:pt idx="7">
                  <c:v>9.0</c:v>
                </c:pt>
                <c:pt idx="8">
                  <c:v>9.0</c:v>
                </c:pt>
                <c:pt idx="9">
                  <c:v>10.0</c:v>
                </c:pt>
                <c:pt idx="10">
                  <c:v>10.0</c:v>
                </c:pt>
                <c:pt idx="11">
                  <c:v>11.0</c:v>
                </c:pt>
                <c:pt idx="12">
                  <c:v>11.0</c:v>
                </c:pt>
                <c:pt idx="13">
                  <c:v>12.0</c:v>
                </c:pt>
                <c:pt idx="14">
                  <c:v>12.0</c:v>
                </c:pt>
                <c:pt idx="15">
                  <c:v>14.0</c:v>
                </c:pt>
                <c:pt idx="16">
                  <c:v>14.0</c:v>
                </c:pt>
                <c:pt idx="17">
                  <c:v>15.0</c:v>
                </c:pt>
                <c:pt idx="18">
                  <c:v>15.0</c:v>
                </c:pt>
                <c:pt idx="19">
                  <c:v>16.0</c:v>
                </c:pt>
                <c:pt idx="20">
                  <c:v>16.0</c:v>
                </c:pt>
                <c:pt idx="21">
                  <c:v>17.0</c:v>
                </c:pt>
                <c:pt idx="22">
                  <c:v>17.0</c:v>
                </c:pt>
                <c:pt idx="23">
                  <c:v>18.0</c:v>
                </c:pt>
                <c:pt idx="24">
                  <c:v>18.0</c:v>
                </c:pt>
                <c:pt idx="25">
                  <c:v>19.0</c:v>
                </c:pt>
                <c:pt idx="26">
                  <c:v>19.0</c:v>
                </c:pt>
                <c:pt idx="27">
                  <c:v>21.0</c:v>
                </c:pt>
                <c:pt idx="28">
                  <c:v>21.0</c:v>
                </c:pt>
                <c:pt idx="29">
                  <c:v>22.0</c:v>
                </c:pt>
                <c:pt idx="30">
                  <c:v>22.0</c:v>
                </c:pt>
                <c:pt idx="31">
                  <c:v>23.0</c:v>
                </c:pt>
                <c:pt idx="32">
                  <c:v>23.0</c:v>
                </c:pt>
                <c:pt idx="33">
                  <c:v>24.0</c:v>
                </c:pt>
                <c:pt idx="34">
                  <c:v>24.0</c:v>
                </c:pt>
                <c:pt idx="35">
                  <c:v>25.0</c:v>
                </c:pt>
                <c:pt idx="36">
                  <c:v>25.0</c:v>
                </c:pt>
                <c:pt idx="37">
                  <c:v>26.0</c:v>
                </c:pt>
                <c:pt idx="38">
                  <c:v>26.0</c:v>
                </c:pt>
                <c:pt idx="39">
                  <c:v>28.0</c:v>
                </c:pt>
                <c:pt idx="40">
                  <c:v>28.0</c:v>
                </c:pt>
                <c:pt idx="41">
                  <c:v>29.0</c:v>
                </c:pt>
                <c:pt idx="42">
                  <c:v>29.0</c:v>
                </c:pt>
                <c:pt idx="43">
                  <c:v>30.0</c:v>
                </c:pt>
                <c:pt idx="44">
                  <c:v>30.0</c:v>
                </c:pt>
                <c:pt idx="45">
                  <c:v>31.0</c:v>
                </c:pt>
                <c:pt idx="46">
                  <c:v>31.0</c:v>
                </c:pt>
                <c:pt idx="47">
                  <c:v>34.0</c:v>
                </c:pt>
                <c:pt idx="48">
                  <c:v>34.0</c:v>
                </c:pt>
                <c:pt idx="49">
                  <c:v>36.0</c:v>
                </c:pt>
                <c:pt idx="50">
                  <c:v>36.0</c:v>
                </c:pt>
                <c:pt idx="51">
                  <c:v>37.0</c:v>
                </c:pt>
                <c:pt idx="52">
                  <c:v>37.0</c:v>
                </c:pt>
                <c:pt idx="53">
                  <c:v>38.0</c:v>
                </c:pt>
                <c:pt idx="54">
                  <c:v>38.0</c:v>
                </c:pt>
                <c:pt idx="55">
                  <c:v>42.0</c:v>
                </c:pt>
                <c:pt idx="56">
                  <c:v>42.0</c:v>
                </c:pt>
                <c:pt idx="57">
                  <c:v>44.0</c:v>
                </c:pt>
                <c:pt idx="58">
                  <c:v>44.0</c:v>
                </c:pt>
                <c:pt idx="59">
                  <c:v>47.0</c:v>
                </c:pt>
                <c:pt idx="60">
                  <c:v>47.0</c:v>
                </c:pt>
                <c:pt idx="61">
                  <c:v>48.0</c:v>
                </c:pt>
                <c:pt idx="62">
                  <c:v>48.0</c:v>
                </c:pt>
                <c:pt idx="63">
                  <c:v>50.0</c:v>
                </c:pt>
                <c:pt idx="64">
                  <c:v>50.0</c:v>
                </c:pt>
                <c:pt idx="65">
                  <c:v>51.0</c:v>
                </c:pt>
                <c:pt idx="66">
                  <c:v>51.0</c:v>
                </c:pt>
                <c:pt idx="67">
                  <c:v>52.0</c:v>
                </c:pt>
                <c:pt idx="68">
                  <c:v>52.0</c:v>
                </c:pt>
                <c:pt idx="69">
                  <c:v>54.0</c:v>
                </c:pt>
                <c:pt idx="70">
                  <c:v>54.0</c:v>
                </c:pt>
                <c:pt idx="71">
                  <c:v>55.0</c:v>
                </c:pt>
                <c:pt idx="72">
                  <c:v>55.0</c:v>
                </c:pt>
                <c:pt idx="73">
                  <c:v>56.0</c:v>
                </c:pt>
                <c:pt idx="74">
                  <c:v>56.0</c:v>
                </c:pt>
                <c:pt idx="75">
                  <c:v>57.0</c:v>
                </c:pt>
                <c:pt idx="76">
                  <c:v>57.0</c:v>
                </c:pt>
                <c:pt idx="77">
                  <c:v>58.0</c:v>
                </c:pt>
                <c:pt idx="78">
                  <c:v>58.0</c:v>
                </c:pt>
                <c:pt idx="79">
                  <c:v>60.0</c:v>
                </c:pt>
                <c:pt idx="80">
                  <c:v>60.0</c:v>
                </c:pt>
                <c:pt idx="81">
                  <c:v>62.0</c:v>
                </c:pt>
                <c:pt idx="82">
                  <c:v>62.0</c:v>
                </c:pt>
                <c:pt idx="83">
                  <c:v>66.0</c:v>
                </c:pt>
                <c:pt idx="84">
                  <c:v>66.0</c:v>
                </c:pt>
                <c:pt idx="85">
                  <c:v>67.0</c:v>
                </c:pt>
                <c:pt idx="86">
                  <c:v>67.0</c:v>
                </c:pt>
                <c:pt idx="87">
                  <c:v>69.0</c:v>
                </c:pt>
                <c:pt idx="88">
                  <c:v>69.0</c:v>
                </c:pt>
                <c:pt idx="89">
                  <c:v>70.0</c:v>
                </c:pt>
                <c:pt idx="90">
                  <c:v>70.0</c:v>
                </c:pt>
                <c:pt idx="91">
                  <c:v>72.0</c:v>
                </c:pt>
                <c:pt idx="92">
                  <c:v>72.0</c:v>
                </c:pt>
                <c:pt idx="93">
                  <c:v>73.0</c:v>
                </c:pt>
                <c:pt idx="94">
                  <c:v>73.0</c:v>
                </c:pt>
                <c:pt idx="95">
                  <c:v>75.0</c:v>
                </c:pt>
                <c:pt idx="96">
                  <c:v>75.0</c:v>
                </c:pt>
                <c:pt idx="97">
                  <c:v>80.0</c:v>
                </c:pt>
                <c:pt idx="98">
                  <c:v>80.0</c:v>
                </c:pt>
                <c:pt idx="99">
                  <c:v>82.0</c:v>
                </c:pt>
                <c:pt idx="100">
                  <c:v>82.0</c:v>
                </c:pt>
                <c:pt idx="101">
                  <c:v>93.0</c:v>
                </c:pt>
                <c:pt idx="102">
                  <c:v>93.0</c:v>
                </c:pt>
                <c:pt idx="103">
                  <c:v>108.0</c:v>
                </c:pt>
                <c:pt idx="104">
                  <c:v>108.0</c:v>
                </c:pt>
                <c:pt idx="105">
                  <c:v>133.0</c:v>
                </c:pt>
                <c:pt idx="106">
                  <c:v>133.0</c:v>
                </c:pt>
              </c:numCache>
            </c:numRef>
          </c:xVal>
          <c:yVal>
            <c:numRef>
              <c:f>Sheet1!$B$258:$B$364</c:f>
              <c:numCache>
                <c:formatCode>General</c:formatCode>
                <c:ptCount val="107"/>
                <c:pt idx="0">
                  <c:v>1.0</c:v>
                </c:pt>
                <c:pt idx="1">
                  <c:v>1.0</c:v>
                </c:pt>
                <c:pt idx="2">
                  <c:v>0.9764705882352942</c:v>
                </c:pt>
                <c:pt idx="3">
                  <c:v>0.9764705882352942</c:v>
                </c:pt>
                <c:pt idx="4">
                  <c:v>0.9411764705882347</c:v>
                </c:pt>
                <c:pt idx="5">
                  <c:v>0.9411764705882347</c:v>
                </c:pt>
                <c:pt idx="6">
                  <c:v>0.9176470588235291</c:v>
                </c:pt>
                <c:pt idx="7">
                  <c:v>0.9176470588235291</c:v>
                </c:pt>
                <c:pt idx="8">
                  <c:v>0.8470588235294115</c:v>
                </c:pt>
                <c:pt idx="9">
                  <c:v>0.8470588235294115</c:v>
                </c:pt>
                <c:pt idx="10">
                  <c:v>0.8352941176470586</c:v>
                </c:pt>
                <c:pt idx="11">
                  <c:v>0.8352941176470586</c:v>
                </c:pt>
                <c:pt idx="12">
                  <c:v>0.823529411764706</c:v>
                </c:pt>
                <c:pt idx="13">
                  <c:v>0.823529411764706</c:v>
                </c:pt>
                <c:pt idx="14">
                  <c:v>0.811764705882353</c:v>
                </c:pt>
                <c:pt idx="15">
                  <c:v>0.811764705882353</c:v>
                </c:pt>
                <c:pt idx="16">
                  <c:v>0.8</c:v>
                </c:pt>
                <c:pt idx="17">
                  <c:v>0.8</c:v>
                </c:pt>
                <c:pt idx="18">
                  <c:v>0.7529411764705878</c:v>
                </c:pt>
                <c:pt idx="19">
                  <c:v>0.7529411764705878</c:v>
                </c:pt>
                <c:pt idx="20">
                  <c:v>0.7176470588235293</c:v>
                </c:pt>
                <c:pt idx="21">
                  <c:v>0.7176470588235293</c:v>
                </c:pt>
                <c:pt idx="22">
                  <c:v>0.6823529411764703</c:v>
                </c:pt>
                <c:pt idx="23">
                  <c:v>0.6823529411764703</c:v>
                </c:pt>
                <c:pt idx="24">
                  <c:v>0.6352941176470588</c:v>
                </c:pt>
                <c:pt idx="25">
                  <c:v>0.6352941176470588</c:v>
                </c:pt>
                <c:pt idx="26">
                  <c:v>0.6235294117647058</c:v>
                </c:pt>
                <c:pt idx="27">
                  <c:v>0.6235294117647058</c:v>
                </c:pt>
                <c:pt idx="28">
                  <c:v>0.6117647058823529</c:v>
                </c:pt>
                <c:pt idx="29">
                  <c:v>0.6117647058823529</c:v>
                </c:pt>
                <c:pt idx="30">
                  <c:v>0.5882352941176469</c:v>
                </c:pt>
                <c:pt idx="31">
                  <c:v>0.5882352941176469</c:v>
                </c:pt>
                <c:pt idx="32">
                  <c:v>0.5647058823529412</c:v>
                </c:pt>
                <c:pt idx="33">
                  <c:v>0.5647058823529412</c:v>
                </c:pt>
                <c:pt idx="34">
                  <c:v>0.552941176470588</c:v>
                </c:pt>
                <c:pt idx="35">
                  <c:v>0.552941176470588</c:v>
                </c:pt>
                <c:pt idx="36">
                  <c:v>0.5411764705882353</c:v>
                </c:pt>
                <c:pt idx="37">
                  <c:v>0.5411764705882353</c:v>
                </c:pt>
                <c:pt idx="38">
                  <c:v>0.5176470588235292</c:v>
                </c:pt>
                <c:pt idx="39">
                  <c:v>0.5176470588235292</c:v>
                </c:pt>
                <c:pt idx="40">
                  <c:v>0.4941176470588235</c:v>
                </c:pt>
                <c:pt idx="41">
                  <c:v>0.4941176470588235</c:v>
                </c:pt>
                <c:pt idx="42">
                  <c:v>0.48235294117647054</c:v>
                </c:pt>
                <c:pt idx="43">
                  <c:v>0.48235294117647054</c:v>
                </c:pt>
                <c:pt idx="44">
                  <c:v>0.47058823529411753</c:v>
                </c:pt>
                <c:pt idx="45">
                  <c:v>0.47058823529411753</c:v>
                </c:pt>
                <c:pt idx="46">
                  <c:v>0.4588235294117646</c:v>
                </c:pt>
                <c:pt idx="47">
                  <c:v>0.4588235294117646</c:v>
                </c:pt>
                <c:pt idx="48">
                  <c:v>0.43529411764705866</c:v>
                </c:pt>
                <c:pt idx="49">
                  <c:v>0.43529411764705866</c:v>
                </c:pt>
                <c:pt idx="50">
                  <c:v>0.42352941176470577</c:v>
                </c:pt>
                <c:pt idx="51">
                  <c:v>0.42352941176470577</c:v>
                </c:pt>
                <c:pt idx="52">
                  <c:v>0.4117647058823528</c:v>
                </c:pt>
                <c:pt idx="53">
                  <c:v>0.4117647058823528</c:v>
                </c:pt>
                <c:pt idx="54">
                  <c:v>0.39999999999999997</c:v>
                </c:pt>
                <c:pt idx="55">
                  <c:v>0.39999999999999997</c:v>
                </c:pt>
                <c:pt idx="56">
                  <c:v>0.38823529411764696</c:v>
                </c:pt>
                <c:pt idx="57">
                  <c:v>0.38823529411764696</c:v>
                </c:pt>
                <c:pt idx="58">
                  <c:v>0.37647058823529406</c:v>
                </c:pt>
                <c:pt idx="59">
                  <c:v>0.37647058823529406</c:v>
                </c:pt>
                <c:pt idx="60">
                  <c:v>0.34117647058823525</c:v>
                </c:pt>
                <c:pt idx="61">
                  <c:v>0.34117647058823525</c:v>
                </c:pt>
                <c:pt idx="62">
                  <c:v>0.31764705882352934</c:v>
                </c:pt>
                <c:pt idx="63">
                  <c:v>0.31764705882352934</c:v>
                </c:pt>
                <c:pt idx="64">
                  <c:v>0.29411764705882343</c:v>
                </c:pt>
                <c:pt idx="65">
                  <c:v>0.29411764705882343</c:v>
                </c:pt>
                <c:pt idx="66">
                  <c:v>0.2823529411764706</c:v>
                </c:pt>
                <c:pt idx="67">
                  <c:v>0.2823529411764706</c:v>
                </c:pt>
                <c:pt idx="68">
                  <c:v>0.2705882352941176</c:v>
                </c:pt>
                <c:pt idx="69">
                  <c:v>0.2705882352941176</c:v>
                </c:pt>
                <c:pt idx="70">
                  <c:v>0.25882352941176473</c:v>
                </c:pt>
                <c:pt idx="71">
                  <c:v>0.25882352941176473</c:v>
                </c:pt>
                <c:pt idx="72">
                  <c:v>0.24705882352941172</c:v>
                </c:pt>
                <c:pt idx="73">
                  <c:v>0.24705882352941172</c:v>
                </c:pt>
                <c:pt idx="74">
                  <c:v>0.22352941176470578</c:v>
                </c:pt>
                <c:pt idx="75">
                  <c:v>0.22352941176470578</c:v>
                </c:pt>
                <c:pt idx="76">
                  <c:v>0.21176470588235285</c:v>
                </c:pt>
                <c:pt idx="77">
                  <c:v>0.21176470588235285</c:v>
                </c:pt>
                <c:pt idx="78">
                  <c:v>0.19999999999999998</c:v>
                </c:pt>
                <c:pt idx="79">
                  <c:v>0.19999999999999998</c:v>
                </c:pt>
                <c:pt idx="80">
                  <c:v>0.188235294117647</c:v>
                </c:pt>
                <c:pt idx="81">
                  <c:v>0.188235294117647</c:v>
                </c:pt>
                <c:pt idx="82">
                  <c:v>0.17647058823529407</c:v>
                </c:pt>
                <c:pt idx="83">
                  <c:v>0.17647058823529407</c:v>
                </c:pt>
                <c:pt idx="84">
                  <c:v>0.16470588235294112</c:v>
                </c:pt>
                <c:pt idx="85">
                  <c:v>0.16470588235294112</c:v>
                </c:pt>
                <c:pt idx="86">
                  <c:v>0.1529411764705882</c:v>
                </c:pt>
                <c:pt idx="87">
                  <c:v>0.1529411764705882</c:v>
                </c:pt>
                <c:pt idx="88">
                  <c:v>0.14117647058823526</c:v>
                </c:pt>
                <c:pt idx="89">
                  <c:v>0.14117647058823526</c:v>
                </c:pt>
                <c:pt idx="90">
                  <c:v>0.11764705882352941</c:v>
                </c:pt>
                <c:pt idx="91">
                  <c:v>0.11764705882352941</c:v>
                </c:pt>
                <c:pt idx="92">
                  <c:v>0.09411764705882349</c:v>
                </c:pt>
                <c:pt idx="93">
                  <c:v>0.09411764705882349</c:v>
                </c:pt>
                <c:pt idx="94">
                  <c:v>0.08235294117647059</c:v>
                </c:pt>
                <c:pt idx="95">
                  <c:v>0.08235294117647059</c:v>
                </c:pt>
                <c:pt idx="96">
                  <c:v>0.07058823529411766</c:v>
                </c:pt>
                <c:pt idx="97">
                  <c:v>0.07058823529411766</c:v>
                </c:pt>
                <c:pt idx="98">
                  <c:v>0.047058823529411764</c:v>
                </c:pt>
                <c:pt idx="99">
                  <c:v>0.047058823529411764</c:v>
                </c:pt>
                <c:pt idx="100">
                  <c:v>0.03529411764705883</c:v>
                </c:pt>
                <c:pt idx="101">
                  <c:v>0.03529411764705883</c:v>
                </c:pt>
                <c:pt idx="102">
                  <c:v>0.02352941176470588</c:v>
                </c:pt>
                <c:pt idx="103">
                  <c:v>0.02352941176470588</c:v>
                </c:pt>
                <c:pt idx="104">
                  <c:v>0.01176470588235294</c:v>
                </c:pt>
                <c:pt idx="105">
                  <c:v>0.01176470588235294</c:v>
                </c:pt>
                <c:pt idx="106">
                  <c:v>0.0</c:v>
                </c:pt>
              </c:numCache>
            </c:numRef>
          </c:yVal>
          <c:smooth val="0"/>
        </c:ser>
        <c:axId val="-2128940872"/>
        <c:axId val="-2129643912"/>
      </c:scatterChart>
      <c:valAx>
        <c:axId val="-2128940872"/>
        <c:scaling>
          <c:orientation val="minMax"/>
          <c:max val="200.0"/>
          <c:min val="0.0"/>
        </c:scaling>
        <c:delete val="0"/>
        <c:axPos val="b"/>
        <c:title>
          <c:tx>
            <c:rich>
              <a:bodyPr/>
              <a:lstStyle/>
              <a:p>
                <a:r>
                  <a:rPr sz="1300" b="0">
                    <a:solidFill>
                      <a:srgbClr val="3A4256"/>
                    </a:solidFill>
                    <a:latin typeface="Calibri"/>
                  </a:rPr>
                  <a:t>Weeks after the t0 MRI</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9643912"/>
        <c:crosses val="autoZero"/>
        <c:crossBetween val="midCat"/>
        <c:majorUnit val="26.0"/>
      </c:valAx>
      <c:valAx>
        <c:axId val="-2129643912"/>
        <c:scaling>
          <c:orientation val="minMax"/>
          <c:max val="1.0"/>
          <c:min val="0.0"/>
        </c:scaling>
        <c:delete val="0"/>
        <c:axPos val="l"/>
        <c:majorGridlines>
          <c:spPr>
            <a:ln>
              <a:solidFill>
                <a:srgbClr val="E1E0D9"/>
              </a:solidFill>
            </a:ln>
          </c:spPr>
        </c:majorGridlines>
        <c:title>
          <c:tx>
            <c:rich>
              <a:bodyPr/>
              <a:lstStyle/>
              <a:p>
                <a:r>
                  <a:rPr sz="1300" b="0">
                    <a:solidFill>
                      <a:srgbClr val="3A4256"/>
                    </a:solidFill>
                    <a:latin typeface="Calibri"/>
                  </a:rPr>
                  <a:t>Share still alive</a:t>
                </a:r>
              </a:p>
            </c:rich>
          </c:tx>
          <c:layout/>
          <c:overlay val="0"/>
        </c:title>
        <c:numFmt formatCode="0%" sourceLinked="0"/>
        <c:majorTickMark val="out"/>
        <c:minorTickMark val="none"/>
        <c:tickLblPos val="nextTo"/>
        <c:spPr>
          <a:ln>
            <a:solidFill>
              <a:srgbClr val="C3C2B7"/>
            </a:solidFill>
          </a:ln>
        </c:spPr>
        <c:txPr>
          <a:bodyPr/>
          <a:lstStyle/>
          <a:p>
            <a:pPr>
              <a:defRPr sz="1200">
                <a:solidFill>
                  <a:srgbClr val="6B7280"/>
                </a:solidFill>
                <a:latin typeface="Calibri"/>
              </a:defRPr>
            </a:pPr>
          </a:p>
        </c:txPr>
        <c:crossAx val="-2128940872"/>
        <c:crosses val="autoZero"/>
        <c:crossBetween val="midCat"/>
        <c:majorUnit val="0.25"/>
      </c:valAx>
    </c:plotArea>
    <c:legend>
      <c:legendPos val="t"/>
      <c:layout/>
      <c:overlay val="0"/>
      <c:txPr>
        <a:bodyPr/>
        <a:lstStyle/>
        <a:p>
          <a:pPr>
            <a:defRPr sz="1300">
              <a:solidFill>
                <a:srgbClr val="17203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Our task came from a physician who treats glioblastoma, the most aggressive brain cancer. We had two goals: find which patient characteristics go with longer survival, and build a model that predicts survival for an individual patient. We'll go step by step: the data, the assumptions we made, what we found, and finally our best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Glioblastoma is the most common aggressive brain tumour in adults. Even with surgery, radiotherapy and chemotherapy, typical survival is about a year, but it varies a lot from patient to patient. The physician wants to know which characteristics go with longer survival, so high-risk patients can be identified early, and whether we can give a personal estimate of survival for a new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cohort. Every patient's death date is known, so nobody is 'censored', meaning nobody dropped out before the end. The curve on the right is a Kaplan–Meier curve: it shows the share of patients still alive over time. Each step down is a death. Where it crosses 50% is the median survival, about 50 weeks or eleven and a half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patient journey. t0 is the baseline MRI at diagnosis: it is time zero, and survival is counted in weeks from this scan until death. About one to two weeks later radiotherapy starts and lasts three or six weeks. t1 is the first check-up MRI after treatment and t2 the second. Under each step is the data collected there. Because our model predicts at t0, it can only use the t0 information; the t1 and t2 data come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came as four tables linked by a patient number. The clinical table has survival and basic patient facts. The treatment table has the radiotherapy details, but 70 patients have no treatment record. The RANO table has tumour sizes at each scan and the official response category. The radiomics table has 107 numbers computed by software from each MRI scan, describing the tumour's shape, brightness and texture.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lists every variable we used, what it means, its range in our data and when it is known. Survival is the outcome we try to explain and predict. Everything else is a candidate predictor. Note the last column: response at t1 and t2 is only known after treatment, which matters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status is the doctor's score of how well a patient copes with daily life, from 0, fully active, to 4, bedbound. Nobody in our data was 4. On the right, patients with PS 0 or 1 had a median survival of about 56 weeks, versus 29 for PS 2 and 22 for PS 3. The less fit, the shorter the survival.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 is measured at the t0 scan. Patients under 70 had a median survival of about 61 weeks; at 75 and over it was about 31 weeks. Interestingly, there is little difference between under-60 and 60–69: the risk mainly rises after 70.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Doctors classify brain tumours using a World Health Organization rulebook. In 2021 the definition of glioblastoma changed: tumours with a mutation in the IDH gene, which grow more slowly, are no longer called glioblastoma. So the 2016 group probably includes some of these slower tumours, which explains its better survival. New patients are all diagnosed with the 2021 rules.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Radiotherapy dose is measured in gray, the energy absorbed per kilogram of tissue. The standard schedule is 60 gray in 30 daily sessions over six weeks. Older or frailer patients usually get a shorter course: 40 gray in 15 sessions over three weeks. Short-course patients lived much less long, but they were also about ten years older. This is called confounding by indication: the treatment marks who the patient is, it does not prove the treatment is worse.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MRI scan can be taken in different 'modes' called sequences. T1-Gd is taken after injecting a contrast agent, gadolinium, which leaks into the active tumour so its edge lights up. FLAIR makes normal brain fluid dark, so swelling and tumour cells spreading into the brain look bright. A doctor outlines the tumour, called the GTV. Software called PyRadiomics then computes 107 numbers inside that outline: its shape, how bright it is, and its texture, meaning whether the brightness is smooth or patchy. We used T1-Gd and FLAIR at t0 because almost every patient had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Tumour volume comes from the outline on the t0 MRI. For scale, a golf ball is about 40 cubic centimetres. We split patients into four equal groups by size. The three smaller groups look alike, with median survival around 50 to 56 weeks. Only the largest quarter, above about 65 cubic centimetres, does clearly worse, at 28 weeks. So the effect of size is a threshold, not a straight 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first check-up the tumour is compared with t0 using the RANO rules: gone, at least 50 percent smaller, stable, or at least 25 percent bigger, called progression. Patients whose tumour grew had a median survival of 44 weeks versus 57 for stable and 70 for those who responded. After adjusting for the baseline factors, progression doubles the death rate. Two warnings: only patients who lived long enough have a t1 scan, so this cannot be used at diagnosis, and some early 'growth' is actually swelling from radiation, called pseudoprogression.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decisions we made before modelling, and why. Time zero is the t0 scan, so predictions only use t0 information. Every death is observed, which keeps the statistics simple. Response at t1 is not used as a baseline predictor, because only survivors reach t1. Treatment was chosen by doctors, not randomly, so its effects are associations, not causes. We kept patients with missing data instead of dropping them. And we checked the main assumption of our model, that each factor's effect is constant over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tools. The Kaplan–Meier curve shows the share still alive over time; we compare curves between groups. The hazard ratio measures how much faster one group dies than another: 2 means twice the death rate, so shorter survival; 0.5 means half, so longer survival; 1 means no difference. The confidence interval gives the plausible range; if it includes 1, we can't rule out no effect. Cox regression estimates hazard ratios for several factors at once, each adjusted for the others, for example the effect of age among patients with the same fitness.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Cox model with all factors at once. Each dot is a hazard ratio and the line its 95% confidence interval. Every 10 years of age raises the death rate by about 20%. PS 3 doubles it. The 2021 rulebook raises it by 45%, and the short radiotherapy course by about 70%, again because it marks frailer patients. Tumour volume looks weak here because its effect is a threshold, which the next slides show. Sex and BMI had no effect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rank the predictors, we remove one at a time from the model and measure how much worse it fits. The bigger the loss, the more important the predictor. Age comes first, then the WHO edition and tumour volume, then performance status and the radiotherapy schedule. The differences between them are small.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let age and tumour size act as flexible curves, called splines, instead of straight lines. The shaded band is the uncertainty. Below 65 age barely matters; above 70 the risk climbs steeply. For tumour size the risk is flat up to about 30 to 40 cubic centimetres and then rises. Very small tumours have a wide band, because there are few of them. Allowing curves improved the model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Cox model assumes each effect stays constant over time. We tested this and found it isn't always true. Here we estimated each hazard ratio separately for the first six months and afterwards. Being PS 2, getting the short radiotherapy course, and a larger tumour mostly predict dying in the first six months. For patients who survive six months, these factors matter much less. Age and the WHO edition keep their effect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each radiomic feature on its own. Each dot is one feature; higher means stronger evidence. Blue features mostly measure tumour size in disguise. On the contrast scan, T1-Gd, most significant features are blue: they add nothing beyond volume. On FLAIR, many orange features are significant and stay significant after adjusting for age, fitness and size. Patchier, more varied FLAIR texture went with longer survival.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checked whether body mass, height, weight or sex relate to survival, to which radiotherapy schedule patients got, and to how much the tumour shrank by the first check-up. Every interval crosses 1, so no clear effect. Age, in grey, is shown as a yardstick: it strongly predicts survival and especially the choice of the short course, about nine times the odds per decade. Note that radiotherapy dose is per kilogram of irradiated tissue, not of body weight, so a heavier patient gets the same dose.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repeated the model within age groups and within fitness groups. The leading predictors, FLAIR texture and the WHO edition, look similar everywhere. One possible difference: poor fitness seems to matter mainly in patients over 75. This was one of about eleven tests, so it needs confirming. The short-course effect can't be estimated under 65 because only four young patients received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trap. Patients who waited longer before radiotherapy lived longer. Does waiting help? No. Look at the labels: three quarters of the patients treated immediately were in poor shape, PS 2 or worse. Doctors start the sickest patients fastest. It is a reminder that in observational data, a treatment variable often tells you who the patient is, not what the treatment does.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always looks good on the patients it learned from. To be fair, we used cross-validation: split patients into five groups, train on four, test on the fifth, and rotate so every patient is tested once. We repeated this ten times with different splits, giving 50 tests per model. We scored three things: the C-index, how often the model correctly says which of two patients lives longer; the AUC at 6, 12 and 24 months; and calibration, whether a predicted 40% chance really means about 40%.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eleven models we compared, scored on unseen patients. A model with no information scores 0.5, a coin flip. MRI numbers alone, in light blue, reach about 0.61. Clinical information does better, about 0.62 to 0.63. The machine-learning forest is no better than the simple Cox model. The best is Model C, in orange: the clinical model plus five summary scores of FLAIR texture, at 0.638. The differences are small, which tells us the limit is the information in the data,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best model, Model C, combines six ingredients known at diagnosis: age, fitness, the WHO edition, the planned radiotherapy schedule, tumour volume and five summary scores of FLAIR texture. Age and volume enter as curves. On unseen patients its C-index is 0.64: it correctly says which of two patients lives longer 64 times out of 100, where a coin flip gets 50. Its AUC is 0.74 at six months, 0.71 at one year and 0.67 at two years.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checks whether predicted chances match reality. We grouped patients into five groups by their predicted chance of being alive, and compared it with how many actually were. Dots on the dashed line mean perfect agreement. At six months and one year the dots sit close to the line. At two years, the best-prognosis group was predicted about one third alive, but only about one fifth were.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the model's predictions on unseen patients, we split patients into three equal groups. The high-risk group had a median survival of 28 weeks and only about a quarter were alive at one year. The low-risk group had 63 weeks, with about two thirds alive at one year. This is the kind of grouping a doctor could use to spot high-risk patients early.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made-up patients run through the model. Each gets a full survival curve with an uncertainty band. Patient D, 79 years old, bedbound half the day, with a large tumour, has a predicted median of about 15 weeks. Patients A and B overlap: in this data, being under 65, PS 0 versus 1, and a 20 versus 40 cubic centimetre tumour make little difference. Even for one profile, outcomes vary widely: half of patients like B die between about 28 and 78 weeks.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tried stratified models. In the usual model everyone shares one starting survival curve and one set of weights. In the stratified model, each age group gets its own starting curve, but the weights stay the same for everyone. In separate models, each group gets its own curve and its own weights. Separate models did worst, because each learns from only about 85 patients. The stratified model was slightly better than Model C, 0.645 versus 0.638, in 76% of tests. It's promising but small, so we keep Model C as our main model.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honest limits. All patients come from one hospital, and we have not tested the model on other hospitals. The strongest known markers, MGMT, IDH and how much tumour the surgeon removed, are not in the data. Treatment was not randomized. Accuracy is modest, and one patient's survival stays very uncertain. Radiomic numbers depend on the scanner and processing. And subgroup results are based on small groups.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Younger age, better fitness, smaller tumours and the 2021 diagnosis edition are the strongest predictors, and MRI texture on FLAIR adds information beyond tumour size. Body size and sex don't matter. Our best model gives each patient a survival curve and ranks patients correctly about 64% of the time, which is typical for this disease without molecular markers. Next steps: add MGMT and IDH, use the first check-up scan to update predictions, and test on other hospitals. Thank you.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with the key terms used in the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chart" Target="../charts/char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chart" Target="../charts/char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chart" Target="../charts/char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chart" Target="../charts/char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33"/>
        </a:solidFill>
        <a:effectLst/>
      </p:bgPr>
    </p:bg>
    <p:spTree>
      <p:nvGrpSpPr>
        <p:cNvPr id="1" name=""/>
        <p:cNvGrpSpPr/>
        <p:nvPr/>
      </p:nvGrpSpPr>
      <p:grpSpPr/>
      <p:sp>
        <p:nvSpPr>
          <p:cNvPr id="2" name="Title 1"/>
          <p:cNvSpPr>
            <a:spLocks noGrp="1"/>
          </p:cNvSpPr>
          <p:nvPr>
            <p:ph type="title"/>
          </p:nvPr>
        </p:nvSpPr>
        <p:spPr>
          <a:xfrm>
            <a:off x="548640" y="2103120"/>
            <a:ext cx="11064240" cy="731520"/>
          </a:xfrm>
        </p:spPr>
        <p:txBody>
          <a:bodyPr wrap="square" anchor="t" lIns="0" rIns="0" tIns="0" bIns="0"/>
          <a:lstStyle/>
          <a:p>
            <a:pPr algn="l"/>
            <a:r>
              <a:rPr sz="3600" b="1">
                <a:solidFill>
                  <a:srgbClr val="FFFFFF"/>
                </a:solidFill>
                <a:latin typeface="Cambria"/>
              </a:rPr>
              <a:t>Who lives longer with glioblastoma?</a:t>
            </a:r>
          </a:p>
        </p:txBody>
      </p:sp>
      <p:sp>
        <p:nvSpPr>
          <p:cNvPr id="3" name="TextBox 2"/>
          <p:cNvSpPr txBox="1"/>
          <p:nvPr/>
        </p:nvSpPr>
        <p:spPr>
          <a:xfrm>
            <a:off x="548640" y="2971800"/>
            <a:ext cx="10515600" cy="914400"/>
          </a:xfrm>
          <a:prstGeom prst="rect">
            <a:avLst/>
          </a:prstGeom>
          <a:noFill/>
        </p:spPr>
        <p:txBody>
          <a:bodyPr wrap="square" anchor="t" lIns="36576" rIns="36576" tIns="18288" bIns="18288">
            <a:spAutoFit/>
          </a:bodyPr>
          <a:lstStyle/>
          <a:p>
            <a:pPr algn="l">
              <a:spcAft>
                <a:spcPts val="600"/>
              </a:spcAft>
            </a:pPr>
            <a:r>
              <a:rPr sz="2400" b="0" i="0">
                <a:solidFill>
                  <a:srgbClr val="D6DCE8"/>
                </a:solidFill>
                <a:latin typeface="Calibri"/>
              </a:rPr>
              <a:t>Finding the best predictors of survival, and a personal survival-prediction model</a:t>
            </a:r>
          </a:p>
        </p:txBody>
      </p:sp>
      <p:sp>
        <p:nvSpPr>
          <p:cNvPr id="4" name="TextBox 3"/>
          <p:cNvSpPr txBox="1"/>
          <p:nvPr/>
        </p:nvSpPr>
        <p:spPr>
          <a:xfrm>
            <a:off x="548640" y="3977639"/>
            <a:ext cx="10515600" cy="457200"/>
          </a:xfrm>
          <a:prstGeom prst="rect">
            <a:avLst/>
          </a:prstGeom>
          <a:noFill/>
        </p:spPr>
        <p:txBody>
          <a:bodyPr wrap="square" anchor="t" lIns="36576" rIns="36576" tIns="18288" bIns="18288">
            <a:spAutoFit/>
          </a:bodyPr>
          <a:lstStyle/>
          <a:p>
            <a:pPr algn="l">
              <a:spcAft>
                <a:spcPts val="600"/>
              </a:spcAft>
            </a:pPr>
            <a:r>
              <a:rPr sz="1600" b="0" i="0">
                <a:solidFill>
                  <a:srgbClr val="AEB6C6"/>
                </a:solidFill>
                <a:latin typeface="Calibri"/>
              </a:rPr>
              <a:t>CFB-GBM dataset (The Cancer Imaging Archive) · 264 patients · Biostatistics hackathon 2026</a:t>
            </a:r>
          </a:p>
        </p:txBody>
      </p:sp>
      <p:sp>
        <p:nvSpPr>
          <p:cNvPr id="5" name="Oval 4"/>
          <p:cNvSpPr/>
          <p:nvPr/>
        </p:nvSpPr>
        <p:spPr>
          <a:xfrm>
            <a:off x="548640" y="493776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t0</a:t>
            </a:r>
          </a:p>
        </p:txBody>
      </p:sp>
      <p:sp>
        <p:nvSpPr>
          <p:cNvPr id="6" name="Oval 5"/>
          <p:cNvSpPr/>
          <p:nvPr/>
        </p:nvSpPr>
        <p:spPr>
          <a:xfrm>
            <a:off x="1463040" y="4937760"/>
            <a:ext cx="640080" cy="6400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t1</a:t>
            </a:r>
          </a:p>
        </p:txBody>
      </p:sp>
      <p:sp>
        <p:nvSpPr>
          <p:cNvPr id="7" name="Oval 6"/>
          <p:cNvSpPr/>
          <p:nvPr/>
        </p:nvSpPr>
        <p:spPr>
          <a:xfrm>
            <a:off x="2377440" y="4937760"/>
            <a:ext cx="640080" cy="640080"/>
          </a:xfrm>
          <a:prstGeom prst="ellipse">
            <a:avLst/>
          </a:prstGeom>
          <a:solidFill>
            <a:srgbClr val="6DA7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t2</a:t>
            </a:r>
          </a:p>
        </p:txBody>
      </p:sp>
      <p:cxnSp>
        <p:nvCxnSpPr>
          <p:cNvPr id="8" name="Connector 7"/>
          <p:cNvCxnSpPr/>
          <p:nvPr/>
        </p:nvCxnSpPr>
        <p:spPr>
          <a:xfrm>
            <a:off x="1207008" y="5257800"/>
            <a:ext cx="237744" cy="0"/>
          </a:xfrm>
          <a:prstGeom prst="line">
            <a:avLst/>
          </a:prstGeom>
          <a:ln w="19050">
            <a:solidFill>
              <a:srgbClr val="AEB6C6"/>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21408" y="5257800"/>
            <a:ext cx="237744" cy="0"/>
          </a:xfrm>
          <a:prstGeom prst="line">
            <a:avLst/>
          </a:prstGeom>
          <a:ln w="19050">
            <a:solidFill>
              <a:srgbClr val="AEB6C6"/>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The problem</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Two goals: explain who lives longer, and predict it for one patient</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a:t>
            </a:r>
          </a:p>
        </p:txBody>
      </p:sp>
      <p:sp>
        <p:nvSpPr>
          <p:cNvPr id="6" name="Rounded Rectangle 5"/>
          <p:cNvSpPr/>
          <p:nvPr/>
        </p:nvSpPr>
        <p:spPr>
          <a:xfrm>
            <a:off x="548640" y="1691640"/>
            <a:ext cx="5486400" cy="4480560"/>
          </a:xfrm>
          <a:prstGeom prst="roundRect">
            <a:avLst>
              <a:gd name="adj" fmla="val 3673"/>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4937760" cy="457200"/>
          </a:xfrm>
          <a:prstGeom prst="rect">
            <a:avLst/>
          </a:prstGeom>
          <a:noFill/>
        </p:spPr>
        <p:txBody>
          <a:bodyPr wrap="square" anchor="t" lIns="36576" rIns="36576" tIns="18288" bIns="18288">
            <a:spAutoFit/>
          </a:bodyPr>
          <a:lstStyle/>
          <a:p>
            <a:pPr algn="l">
              <a:spcAft>
                <a:spcPts val="600"/>
              </a:spcAft>
            </a:pPr>
            <a:r>
              <a:rPr sz="2200" b="1" i="0">
                <a:solidFill>
                  <a:srgbClr val="172033"/>
                </a:solidFill>
                <a:latin typeface="Cambria"/>
              </a:rPr>
              <a:t>What is glioblastoma?</a:t>
            </a:r>
          </a:p>
        </p:txBody>
      </p:sp>
      <p:sp>
        <p:nvSpPr>
          <p:cNvPr id="8" name="TextBox 7"/>
          <p:cNvSpPr txBox="1"/>
          <p:nvPr/>
        </p:nvSpPr>
        <p:spPr>
          <a:xfrm>
            <a:off x="868680" y="2514600"/>
            <a:ext cx="4937760" cy="3474720"/>
          </a:xfrm>
          <a:prstGeom prst="rect">
            <a:avLst/>
          </a:prstGeom>
          <a:noFill/>
        </p:spPr>
        <p:txBody>
          <a:bodyPr wrap="square" anchor="t" lIns="36576" rIns="36576" tIns="18288" bIns="18288">
            <a:spAutoFit/>
          </a:bodyPr>
          <a:lstStyle/>
          <a:p>
            <a:pPr algn="l" marL="256032" indent="-219456">
              <a:spcAft>
                <a:spcPts val="1200"/>
              </a:spcAft>
              <a:buFont typeface="Arial"/>
              <a:buChar char="•"/>
            </a:pPr>
            <a:r>
              <a:rPr sz="1700" b="0" i="0">
                <a:solidFill>
                  <a:srgbClr val="172033"/>
                </a:solidFill>
                <a:latin typeface="Calibri"/>
              </a:rPr>
              <a:t>The most common and most aggressive brain cancer in adults</a:t>
            </a:r>
          </a:p>
          <a:p>
            <a:pPr algn="l" marL="256032" indent="-219456">
              <a:spcAft>
                <a:spcPts val="1200"/>
              </a:spcAft>
              <a:buFont typeface="Arial"/>
              <a:buChar char="•"/>
            </a:pPr>
            <a:r>
              <a:rPr sz="1700" b="0" i="0">
                <a:solidFill>
                  <a:srgbClr val="172033"/>
                </a:solidFill>
                <a:latin typeface="Calibri"/>
              </a:rPr>
              <a:t>Even with surgery, radiotherapy and chemotherapy, typical survival is about one year</a:t>
            </a:r>
          </a:p>
          <a:p>
            <a:pPr algn="l" marL="256032" indent="-219456">
              <a:spcAft>
                <a:spcPts val="1200"/>
              </a:spcAft>
              <a:buFont typeface="Arial"/>
              <a:buChar char="•"/>
            </a:pPr>
            <a:r>
              <a:rPr sz="1700" b="0" i="0">
                <a:solidFill>
                  <a:srgbClr val="172033"/>
                </a:solidFill>
                <a:latin typeface="Calibri"/>
              </a:rPr>
              <a:t>Survival varies a lot: some patients live a few months, others several years</a:t>
            </a:r>
          </a:p>
          <a:p>
            <a:pPr algn="l" marL="256032" indent="-219456">
              <a:spcAft>
                <a:spcPts val="1200"/>
              </a:spcAft>
              <a:buFont typeface="Arial"/>
              <a:buChar char="•"/>
            </a:pPr>
            <a:r>
              <a:rPr sz="1700" b="0" i="0">
                <a:solidFill>
                  <a:srgbClr val="172033"/>
                </a:solidFill>
                <a:latin typeface="Calibri"/>
              </a:rPr>
              <a:t>Knowing who is at high risk early helps doctors plan treatment and talk with families</a:t>
            </a:r>
          </a:p>
        </p:txBody>
      </p:sp>
      <p:sp>
        <p:nvSpPr>
          <p:cNvPr id="9" name="Rounded Rectangle 8"/>
          <p:cNvSpPr/>
          <p:nvPr/>
        </p:nvSpPr>
        <p:spPr>
          <a:xfrm>
            <a:off x="6400800" y="1691640"/>
            <a:ext cx="5212080" cy="2011680"/>
          </a:xfrm>
          <a:prstGeom prst="roundRect">
            <a:avLst>
              <a:gd name="adj" fmla="val 8181"/>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675120" y="196596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1</a:t>
            </a:r>
          </a:p>
        </p:txBody>
      </p:sp>
      <p:sp>
        <p:nvSpPr>
          <p:cNvPr id="11" name="TextBox 10"/>
          <p:cNvSpPr txBox="1"/>
          <p:nvPr/>
        </p:nvSpPr>
        <p:spPr>
          <a:xfrm>
            <a:off x="7498079" y="1965960"/>
            <a:ext cx="3931920" cy="457200"/>
          </a:xfrm>
          <a:prstGeom prst="rect">
            <a:avLst/>
          </a:prstGeom>
          <a:noFill/>
        </p:spPr>
        <p:txBody>
          <a:bodyPr wrap="square" anchor="t" lIns="36576" rIns="36576" tIns="18288" bIns="18288">
            <a:spAutoFit/>
          </a:bodyPr>
          <a:lstStyle/>
          <a:p>
            <a:pPr algn="l">
              <a:spcAft>
                <a:spcPts val="600"/>
              </a:spcAft>
            </a:pPr>
            <a:r>
              <a:rPr sz="2200" b="1" i="0">
                <a:solidFill>
                  <a:srgbClr val="172033"/>
                </a:solidFill>
                <a:latin typeface="Cambria"/>
              </a:rPr>
              <a:t>Explain</a:t>
            </a:r>
          </a:p>
        </p:txBody>
      </p:sp>
      <p:sp>
        <p:nvSpPr>
          <p:cNvPr id="12" name="TextBox 11"/>
          <p:cNvSpPr txBox="1"/>
          <p:nvPr/>
        </p:nvSpPr>
        <p:spPr>
          <a:xfrm>
            <a:off x="7498079" y="2514600"/>
            <a:ext cx="3931920" cy="1097280"/>
          </a:xfrm>
          <a:prstGeom prst="rect">
            <a:avLst/>
          </a:prstGeom>
          <a:noFill/>
        </p:spPr>
        <p:txBody>
          <a:bodyPr wrap="square" anchor="t" lIns="36576" rIns="36576" tIns="18288" bIns="18288">
            <a:spAutoFit/>
          </a:bodyPr>
          <a:lstStyle/>
          <a:p>
            <a:pPr algn="l">
              <a:spcAft>
                <a:spcPts val="600"/>
              </a:spcAft>
            </a:pPr>
            <a:r>
              <a:rPr sz="1600" b="0" i="0">
                <a:solidFill>
                  <a:srgbClr val="3A4256"/>
                </a:solidFill>
                <a:latin typeface="Calibri"/>
              </a:rPr>
              <a:t>Which patient characteristics are linked to longer survival?</a:t>
            </a:r>
          </a:p>
        </p:txBody>
      </p:sp>
      <p:sp>
        <p:nvSpPr>
          <p:cNvPr id="13" name="Rounded Rectangle 12"/>
          <p:cNvSpPr/>
          <p:nvPr/>
        </p:nvSpPr>
        <p:spPr>
          <a:xfrm>
            <a:off x="6400800" y="3977639"/>
            <a:ext cx="5212080" cy="2011680"/>
          </a:xfrm>
          <a:prstGeom prst="roundRect">
            <a:avLst>
              <a:gd name="adj" fmla="val 8181"/>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0" y="4251959"/>
            <a:ext cx="640080" cy="6400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2</a:t>
            </a:r>
          </a:p>
        </p:txBody>
      </p:sp>
      <p:sp>
        <p:nvSpPr>
          <p:cNvPr id="15" name="TextBox 14"/>
          <p:cNvSpPr txBox="1"/>
          <p:nvPr/>
        </p:nvSpPr>
        <p:spPr>
          <a:xfrm>
            <a:off x="7498079" y="4251959"/>
            <a:ext cx="3931920" cy="457200"/>
          </a:xfrm>
          <a:prstGeom prst="rect">
            <a:avLst/>
          </a:prstGeom>
          <a:noFill/>
        </p:spPr>
        <p:txBody>
          <a:bodyPr wrap="square" anchor="t" lIns="36576" rIns="36576" tIns="18288" bIns="18288">
            <a:spAutoFit/>
          </a:bodyPr>
          <a:lstStyle/>
          <a:p>
            <a:pPr algn="l">
              <a:spcAft>
                <a:spcPts val="600"/>
              </a:spcAft>
            </a:pPr>
            <a:r>
              <a:rPr sz="2200" b="1" i="0">
                <a:solidFill>
                  <a:srgbClr val="172033"/>
                </a:solidFill>
                <a:latin typeface="Cambria"/>
              </a:rPr>
              <a:t>Predict</a:t>
            </a:r>
          </a:p>
        </p:txBody>
      </p:sp>
      <p:sp>
        <p:nvSpPr>
          <p:cNvPr id="16" name="TextBox 15"/>
          <p:cNvSpPr txBox="1"/>
          <p:nvPr/>
        </p:nvSpPr>
        <p:spPr>
          <a:xfrm>
            <a:off x="7498079" y="4800600"/>
            <a:ext cx="3931920" cy="1097280"/>
          </a:xfrm>
          <a:prstGeom prst="rect">
            <a:avLst/>
          </a:prstGeom>
          <a:noFill/>
        </p:spPr>
        <p:txBody>
          <a:bodyPr wrap="square" anchor="t" lIns="36576" rIns="36576" tIns="18288" bIns="18288">
            <a:spAutoFit/>
          </a:bodyPr>
          <a:lstStyle/>
          <a:p>
            <a:pPr algn="l">
              <a:spcAft>
                <a:spcPts val="600"/>
              </a:spcAft>
            </a:pPr>
            <a:r>
              <a:rPr sz="1600" b="0" i="0">
                <a:solidFill>
                  <a:srgbClr val="3A4256"/>
                </a:solidFill>
                <a:latin typeface="Calibri"/>
              </a:rPr>
              <a:t>Can we estimate how long one specific patient is likely to live, using information available at diagnosis?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264 patients, all followed until death</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Half of the patients died within about one year</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3</a:t>
            </a:r>
          </a:p>
        </p:txBody>
      </p:sp>
      <p:sp>
        <p:nvSpPr>
          <p:cNvPr id="6" name="TextBox 5"/>
          <p:cNvSpPr txBox="1"/>
          <p:nvPr/>
        </p:nvSpPr>
        <p:spPr>
          <a:xfrm>
            <a:off x="548640" y="1737360"/>
            <a:ext cx="2377440" cy="777240"/>
          </a:xfrm>
          <a:prstGeom prst="rect">
            <a:avLst/>
          </a:prstGeom>
          <a:noFill/>
        </p:spPr>
        <p:txBody>
          <a:bodyPr wrap="square" anchor="t" lIns="36576" rIns="36576" tIns="18288" bIns="18288">
            <a:spAutoFit/>
          </a:bodyPr>
          <a:lstStyle/>
          <a:p>
            <a:pPr algn="l">
              <a:spcAft>
                <a:spcPts val="600"/>
              </a:spcAft>
            </a:pPr>
            <a:r>
              <a:rPr sz="4400" b="1" i="0">
                <a:solidFill>
                  <a:srgbClr val="2A78D6"/>
                </a:solidFill>
                <a:latin typeface="Cambria"/>
              </a:rPr>
              <a:t>264</a:t>
            </a:r>
          </a:p>
        </p:txBody>
      </p:sp>
      <p:sp>
        <p:nvSpPr>
          <p:cNvPr id="7" name="TextBox 6"/>
          <p:cNvSpPr txBox="1"/>
          <p:nvPr/>
        </p:nvSpPr>
        <p:spPr>
          <a:xfrm>
            <a:off x="548640" y="2487168"/>
            <a:ext cx="2377440" cy="54864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patients</a:t>
            </a:r>
          </a:p>
        </p:txBody>
      </p:sp>
      <p:sp>
        <p:nvSpPr>
          <p:cNvPr id="8" name="TextBox 7"/>
          <p:cNvSpPr txBox="1"/>
          <p:nvPr/>
        </p:nvSpPr>
        <p:spPr>
          <a:xfrm>
            <a:off x="2926080" y="1737360"/>
            <a:ext cx="2377440" cy="777240"/>
          </a:xfrm>
          <a:prstGeom prst="rect">
            <a:avLst/>
          </a:prstGeom>
          <a:noFill/>
        </p:spPr>
        <p:txBody>
          <a:bodyPr wrap="square" anchor="t" lIns="36576" rIns="36576" tIns="18288" bIns="18288">
            <a:spAutoFit/>
          </a:bodyPr>
          <a:lstStyle/>
          <a:p>
            <a:pPr algn="l">
              <a:spcAft>
                <a:spcPts val="600"/>
              </a:spcAft>
            </a:pPr>
            <a:r>
              <a:rPr sz="4400" b="1" i="0">
                <a:solidFill>
                  <a:srgbClr val="2A78D6"/>
                </a:solidFill>
                <a:latin typeface="Cambria"/>
              </a:rPr>
              <a:t>50 wk</a:t>
            </a:r>
          </a:p>
        </p:txBody>
      </p:sp>
      <p:sp>
        <p:nvSpPr>
          <p:cNvPr id="9" name="TextBox 8"/>
          <p:cNvSpPr txBox="1"/>
          <p:nvPr/>
        </p:nvSpPr>
        <p:spPr>
          <a:xfrm>
            <a:off x="2926080" y="2487168"/>
            <a:ext cx="2377440" cy="54864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median survival (≈ 11.5 months)</a:t>
            </a:r>
          </a:p>
        </p:txBody>
      </p:sp>
      <p:sp>
        <p:nvSpPr>
          <p:cNvPr id="10" name="TextBox 9"/>
          <p:cNvSpPr txBox="1"/>
          <p:nvPr/>
        </p:nvSpPr>
        <p:spPr>
          <a:xfrm>
            <a:off x="548640" y="3429000"/>
            <a:ext cx="2377440" cy="777240"/>
          </a:xfrm>
          <a:prstGeom prst="rect">
            <a:avLst/>
          </a:prstGeom>
          <a:noFill/>
        </p:spPr>
        <p:txBody>
          <a:bodyPr wrap="square" anchor="t" lIns="36576" rIns="36576" tIns="18288" bIns="18288">
            <a:spAutoFit/>
          </a:bodyPr>
          <a:lstStyle/>
          <a:p>
            <a:pPr algn="l">
              <a:spcAft>
                <a:spcPts val="600"/>
              </a:spcAft>
            </a:pPr>
            <a:r>
              <a:rPr sz="4400" b="1" i="0">
                <a:solidFill>
                  <a:srgbClr val="EB6834"/>
                </a:solidFill>
                <a:latin typeface="Cambria"/>
              </a:rPr>
              <a:t>48%</a:t>
            </a:r>
          </a:p>
        </p:txBody>
      </p:sp>
      <p:sp>
        <p:nvSpPr>
          <p:cNvPr id="11" name="TextBox 10"/>
          <p:cNvSpPr txBox="1"/>
          <p:nvPr/>
        </p:nvSpPr>
        <p:spPr>
          <a:xfrm>
            <a:off x="548640" y="4178808"/>
            <a:ext cx="2377440" cy="54864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alive after 1 year</a:t>
            </a:r>
          </a:p>
        </p:txBody>
      </p:sp>
      <p:sp>
        <p:nvSpPr>
          <p:cNvPr id="12" name="TextBox 11"/>
          <p:cNvSpPr txBox="1"/>
          <p:nvPr/>
        </p:nvSpPr>
        <p:spPr>
          <a:xfrm>
            <a:off x="2926080" y="3429000"/>
            <a:ext cx="2377440" cy="777240"/>
          </a:xfrm>
          <a:prstGeom prst="rect">
            <a:avLst/>
          </a:prstGeom>
          <a:noFill/>
        </p:spPr>
        <p:txBody>
          <a:bodyPr wrap="square" anchor="t" lIns="36576" rIns="36576" tIns="18288" bIns="18288">
            <a:spAutoFit/>
          </a:bodyPr>
          <a:lstStyle/>
          <a:p>
            <a:pPr algn="l">
              <a:spcAft>
                <a:spcPts val="600"/>
              </a:spcAft>
            </a:pPr>
            <a:r>
              <a:rPr sz="4400" b="1" i="0">
                <a:solidFill>
                  <a:srgbClr val="EB6834"/>
                </a:solidFill>
                <a:latin typeface="Cambria"/>
              </a:rPr>
              <a:t>12.5%</a:t>
            </a:r>
          </a:p>
        </p:txBody>
      </p:sp>
      <p:sp>
        <p:nvSpPr>
          <p:cNvPr id="13" name="TextBox 12"/>
          <p:cNvSpPr txBox="1"/>
          <p:nvPr/>
        </p:nvSpPr>
        <p:spPr>
          <a:xfrm>
            <a:off x="2926080" y="4178808"/>
            <a:ext cx="2377440" cy="54864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alive after 2 years</a:t>
            </a:r>
          </a:p>
        </p:txBody>
      </p:sp>
      <p:sp>
        <p:nvSpPr>
          <p:cNvPr id="14" name="Rounded Rectangle 13"/>
          <p:cNvSpPr/>
          <p:nvPr/>
        </p:nvSpPr>
        <p:spPr>
          <a:xfrm>
            <a:off x="548640" y="5074920"/>
            <a:ext cx="4754880" cy="114300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166360"/>
            <a:ext cx="4480560" cy="1005840"/>
          </a:xfrm>
          <a:prstGeom prst="rect">
            <a:avLst/>
          </a:prstGeom>
          <a:noFill/>
        </p:spPr>
        <p:txBody>
          <a:bodyPr wrap="square" anchor="t" lIns="36576" rIns="36576" tIns="18288" bIns="18288">
            <a:spAutoFit/>
          </a:bodyPr>
          <a:lstStyle/>
          <a:p>
            <a:pPr algn="l">
              <a:spcAft>
                <a:spcPts val="600"/>
              </a:spcAft>
            </a:pPr>
            <a:r>
              <a:rPr sz="1400" b="1" i="0">
                <a:solidFill>
                  <a:srgbClr val="3A4256"/>
                </a:solidFill>
                <a:latin typeface="Calibri"/>
              </a:rPr>
              <a:t>How to read the curve: </a:t>
            </a:r>
            <a:r>
              <a:rPr sz="1400" b="0" i="0">
                <a:solidFill>
                  <a:srgbClr val="3A4256"/>
                </a:solidFill>
                <a:latin typeface="Calibri"/>
              </a:rPr>
              <a:t>each step down is a death; where it crosses 50% is the median survival.</a:t>
            </a:r>
          </a:p>
        </p:txBody>
      </p:sp>
      <p:graphicFrame>
        <p:nvGraphicFramePr>
          <p:cNvPr id="16" name="Chart 15"/>
          <p:cNvGraphicFramePr>
            <a:graphicFrameLocks noGrp="1"/>
          </p:cNvGraphicFramePr>
          <p:nvPr/>
        </p:nvGraphicFramePr>
        <p:xfrm>
          <a:off x="5669280" y="1645920"/>
          <a:ext cx="5943600" cy="4572000"/>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The patient timeline</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We predict from t0, so a prediction may only use what is known at t0</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4</a:t>
            </a:r>
          </a:p>
        </p:txBody>
      </p:sp>
      <p:cxnSp>
        <p:nvCxnSpPr>
          <p:cNvPr id="6" name="Connector 5"/>
          <p:cNvCxnSpPr/>
          <p:nvPr/>
        </p:nvCxnSpPr>
        <p:spPr>
          <a:xfrm>
            <a:off x="640080" y="2514600"/>
            <a:ext cx="11018520" cy="0"/>
          </a:xfrm>
          <a:prstGeom prst="line">
            <a:avLst/>
          </a:prstGeom>
          <a:ln w="38100">
            <a:solidFill>
              <a:srgbClr val="C3C2B7"/>
            </a:solidFill>
            <a:tailEnd type="triangle"/>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371600" y="2148840"/>
            <a:ext cx="731520" cy="7315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t0</a:t>
            </a:r>
          </a:p>
        </p:txBody>
      </p:sp>
      <p:sp>
        <p:nvSpPr>
          <p:cNvPr id="8" name="TextBox 7"/>
          <p:cNvSpPr txBox="1"/>
          <p:nvPr/>
        </p:nvSpPr>
        <p:spPr>
          <a:xfrm>
            <a:off x="548639" y="1600200"/>
            <a:ext cx="2377440" cy="411480"/>
          </a:xfrm>
          <a:prstGeom prst="rect">
            <a:avLst/>
          </a:prstGeom>
          <a:noFill/>
        </p:spPr>
        <p:txBody>
          <a:bodyPr wrap="square" anchor="t" lIns="36576" rIns="36576" tIns="18288" bIns="18288">
            <a:spAutoFit/>
          </a:bodyPr>
          <a:lstStyle/>
          <a:p>
            <a:pPr algn="ctr">
              <a:spcAft>
                <a:spcPts val="600"/>
              </a:spcAft>
            </a:pPr>
            <a:r>
              <a:rPr sz="1500" b="1" i="0">
                <a:solidFill>
                  <a:srgbClr val="172033"/>
                </a:solidFill>
                <a:latin typeface="Calibri"/>
              </a:rPr>
              <a:t>Baseline MRI</a:t>
            </a:r>
          </a:p>
        </p:txBody>
      </p:sp>
      <p:sp>
        <p:nvSpPr>
          <p:cNvPr id="9" name="TextBox 8"/>
          <p:cNvSpPr txBox="1"/>
          <p:nvPr/>
        </p:nvSpPr>
        <p:spPr>
          <a:xfrm>
            <a:off x="548639" y="2926080"/>
            <a:ext cx="2377440" cy="365760"/>
          </a:xfrm>
          <a:prstGeom prst="rect">
            <a:avLst/>
          </a:prstGeom>
          <a:noFill/>
        </p:spPr>
        <p:txBody>
          <a:bodyPr wrap="square" anchor="t" lIns="36576" rIns="36576" tIns="18288" bIns="18288">
            <a:spAutoFit/>
          </a:bodyPr>
          <a:lstStyle/>
          <a:p>
            <a:pPr algn="ctr">
              <a:spcAft>
                <a:spcPts val="600"/>
              </a:spcAft>
            </a:pPr>
            <a:r>
              <a:rPr sz="1200" b="0" i="1">
                <a:solidFill>
                  <a:srgbClr val="3A4256"/>
                </a:solidFill>
                <a:latin typeface="Calibri"/>
              </a:rPr>
              <a:t>diagnosis · time zero</a:t>
            </a:r>
          </a:p>
        </p:txBody>
      </p:sp>
      <p:sp>
        <p:nvSpPr>
          <p:cNvPr id="10" name="Oval 9"/>
          <p:cNvSpPr/>
          <p:nvPr/>
        </p:nvSpPr>
        <p:spPr>
          <a:xfrm>
            <a:off x="4023359" y="2148840"/>
            <a:ext cx="731520" cy="73152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RT</a:t>
            </a:r>
          </a:p>
        </p:txBody>
      </p:sp>
      <p:sp>
        <p:nvSpPr>
          <p:cNvPr id="11" name="TextBox 10"/>
          <p:cNvSpPr txBox="1"/>
          <p:nvPr/>
        </p:nvSpPr>
        <p:spPr>
          <a:xfrm>
            <a:off x="3200400" y="1600200"/>
            <a:ext cx="2377440" cy="411480"/>
          </a:xfrm>
          <a:prstGeom prst="rect">
            <a:avLst/>
          </a:prstGeom>
          <a:noFill/>
        </p:spPr>
        <p:txBody>
          <a:bodyPr wrap="square" anchor="t" lIns="36576" rIns="36576" tIns="18288" bIns="18288">
            <a:spAutoFit/>
          </a:bodyPr>
          <a:lstStyle/>
          <a:p>
            <a:pPr algn="ctr">
              <a:spcAft>
                <a:spcPts val="600"/>
              </a:spcAft>
            </a:pPr>
            <a:r>
              <a:rPr sz="1500" b="1" i="0">
                <a:solidFill>
                  <a:srgbClr val="172033"/>
                </a:solidFill>
                <a:latin typeface="Calibri"/>
              </a:rPr>
              <a:t>Radiotherapy</a:t>
            </a:r>
          </a:p>
        </p:txBody>
      </p:sp>
      <p:sp>
        <p:nvSpPr>
          <p:cNvPr id="12" name="TextBox 11"/>
          <p:cNvSpPr txBox="1"/>
          <p:nvPr/>
        </p:nvSpPr>
        <p:spPr>
          <a:xfrm>
            <a:off x="3200400" y="2926080"/>
            <a:ext cx="2377440" cy="365760"/>
          </a:xfrm>
          <a:prstGeom prst="rect">
            <a:avLst/>
          </a:prstGeom>
          <a:noFill/>
        </p:spPr>
        <p:txBody>
          <a:bodyPr wrap="square" anchor="t" lIns="36576" rIns="36576" tIns="18288" bIns="18288">
            <a:spAutoFit/>
          </a:bodyPr>
          <a:lstStyle/>
          <a:p>
            <a:pPr algn="ctr">
              <a:spcAft>
                <a:spcPts val="600"/>
              </a:spcAft>
            </a:pPr>
            <a:r>
              <a:rPr sz="1200" b="0" i="1">
                <a:solidFill>
                  <a:srgbClr val="3A4256"/>
                </a:solidFill>
                <a:latin typeface="Calibri"/>
              </a:rPr>
              <a:t>3 or 6 weeks</a:t>
            </a:r>
          </a:p>
        </p:txBody>
      </p:sp>
      <p:sp>
        <p:nvSpPr>
          <p:cNvPr id="13" name="Oval 12"/>
          <p:cNvSpPr/>
          <p:nvPr/>
        </p:nvSpPr>
        <p:spPr>
          <a:xfrm>
            <a:off x="6675120" y="214884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t1</a:t>
            </a:r>
          </a:p>
        </p:txBody>
      </p:sp>
      <p:sp>
        <p:nvSpPr>
          <p:cNvPr id="14" name="TextBox 13"/>
          <p:cNvSpPr txBox="1"/>
          <p:nvPr/>
        </p:nvSpPr>
        <p:spPr>
          <a:xfrm>
            <a:off x="5852160" y="1600200"/>
            <a:ext cx="2377440" cy="411480"/>
          </a:xfrm>
          <a:prstGeom prst="rect">
            <a:avLst/>
          </a:prstGeom>
          <a:noFill/>
        </p:spPr>
        <p:txBody>
          <a:bodyPr wrap="square" anchor="t" lIns="36576" rIns="36576" tIns="18288" bIns="18288">
            <a:spAutoFit/>
          </a:bodyPr>
          <a:lstStyle/>
          <a:p>
            <a:pPr algn="ctr">
              <a:spcAft>
                <a:spcPts val="600"/>
              </a:spcAft>
            </a:pPr>
            <a:r>
              <a:rPr sz="1500" b="1" i="0">
                <a:solidFill>
                  <a:srgbClr val="172033"/>
                </a:solidFill>
                <a:latin typeface="Calibri"/>
              </a:rPr>
              <a:t>1st check-up MRI</a:t>
            </a:r>
          </a:p>
        </p:txBody>
      </p:sp>
      <p:sp>
        <p:nvSpPr>
          <p:cNvPr id="15" name="TextBox 14"/>
          <p:cNvSpPr txBox="1"/>
          <p:nvPr/>
        </p:nvSpPr>
        <p:spPr>
          <a:xfrm>
            <a:off x="5852160" y="2926080"/>
            <a:ext cx="2377440" cy="365760"/>
          </a:xfrm>
          <a:prstGeom prst="rect">
            <a:avLst/>
          </a:prstGeom>
          <a:noFill/>
        </p:spPr>
        <p:txBody>
          <a:bodyPr wrap="square" anchor="t" lIns="36576" rIns="36576" tIns="18288" bIns="18288">
            <a:spAutoFit/>
          </a:bodyPr>
          <a:lstStyle/>
          <a:p>
            <a:pPr algn="ctr">
              <a:spcAft>
                <a:spcPts val="600"/>
              </a:spcAft>
            </a:pPr>
            <a:r>
              <a:rPr sz="1200" b="0" i="1">
                <a:solidFill>
                  <a:srgbClr val="3A4256"/>
                </a:solidFill>
                <a:latin typeface="Calibri"/>
              </a:rPr>
              <a:t>after treatment</a:t>
            </a:r>
          </a:p>
        </p:txBody>
      </p:sp>
      <p:sp>
        <p:nvSpPr>
          <p:cNvPr id="16" name="Oval 15"/>
          <p:cNvSpPr/>
          <p:nvPr/>
        </p:nvSpPr>
        <p:spPr>
          <a:xfrm>
            <a:off x="9326880" y="2148840"/>
            <a:ext cx="731520" cy="73152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t2</a:t>
            </a:r>
          </a:p>
        </p:txBody>
      </p:sp>
      <p:sp>
        <p:nvSpPr>
          <p:cNvPr id="17" name="TextBox 16"/>
          <p:cNvSpPr txBox="1"/>
          <p:nvPr/>
        </p:nvSpPr>
        <p:spPr>
          <a:xfrm>
            <a:off x="8503919" y="1600200"/>
            <a:ext cx="2377440" cy="411480"/>
          </a:xfrm>
          <a:prstGeom prst="rect">
            <a:avLst/>
          </a:prstGeom>
          <a:noFill/>
        </p:spPr>
        <p:txBody>
          <a:bodyPr wrap="square" anchor="t" lIns="36576" rIns="36576" tIns="18288" bIns="18288">
            <a:spAutoFit/>
          </a:bodyPr>
          <a:lstStyle/>
          <a:p>
            <a:pPr algn="ctr">
              <a:spcAft>
                <a:spcPts val="600"/>
              </a:spcAft>
            </a:pPr>
            <a:r>
              <a:rPr sz="1500" b="1" i="0">
                <a:solidFill>
                  <a:srgbClr val="172033"/>
                </a:solidFill>
                <a:latin typeface="Calibri"/>
              </a:rPr>
              <a:t>2nd check-up MRI</a:t>
            </a:r>
          </a:p>
        </p:txBody>
      </p:sp>
      <p:sp>
        <p:nvSpPr>
          <p:cNvPr id="18" name="TextBox 17"/>
          <p:cNvSpPr txBox="1"/>
          <p:nvPr/>
        </p:nvSpPr>
        <p:spPr>
          <a:xfrm>
            <a:off x="8503919" y="2926080"/>
            <a:ext cx="2377440" cy="365760"/>
          </a:xfrm>
          <a:prstGeom prst="rect">
            <a:avLst/>
          </a:prstGeom>
          <a:noFill/>
        </p:spPr>
        <p:txBody>
          <a:bodyPr wrap="square" anchor="t" lIns="36576" rIns="36576" tIns="18288" bIns="18288">
            <a:spAutoFit/>
          </a:bodyPr>
          <a:lstStyle/>
          <a:p>
            <a:pPr algn="ctr">
              <a:spcAft>
                <a:spcPts val="600"/>
              </a:spcAft>
            </a:pPr>
            <a:r>
              <a:rPr sz="1200" b="0" i="1">
                <a:solidFill>
                  <a:srgbClr val="3A4256"/>
                </a:solidFill>
                <a:latin typeface="Calibri"/>
              </a:rPr>
              <a:t>later follow-up</a:t>
            </a:r>
          </a:p>
        </p:txBody>
      </p:sp>
      <p:sp>
        <p:nvSpPr>
          <p:cNvPr id="19" name="Oval 18"/>
          <p:cNvSpPr/>
          <p:nvPr/>
        </p:nvSpPr>
        <p:spPr>
          <a:xfrm>
            <a:off x="10835640" y="2148840"/>
            <a:ext cx="731520" cy="73152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end</a:t>
            </a:r>
          </a:p>
        </p:txBody>
      </p:sp>
      <p:sp>
        <p:nvSpPr>
          <p:cNvPr id="20" name="TextBox 19"/>
          <p:cNvSpPr txBox="1"/>
          <p:nvPr/>
        </p:nvSpPr>
        <p:spPr>
          <a:xfrm>
            <a:off x="10012680" y="1600200"/>
            <a:ext cx="2377440" cy="411480"/>
          </a:xfrm>
          <a:prstGeom prst="rect">
            <a:avLst/>
          </a:prstGeom>
          <a:noFill/>
        </p:spPr>
        <p:txBody>
          <a:bodyPr wrap="square" anchor="t" lIns="36576" rIns="36576" tIns="18288" bIns="18288">
            <a:spAutoFit/>
          </a:bodyPr>
          <a:lstStyle/>
          <a:p>
            <a:pPr algn="ctr">
              <a:spcAft>
                <a:spcPts val="600"/>
              </a:spcAft>
            </a:pPr>
            <a:r>
              <a:rPr sz="1500" b="1" i="0">
                <a:solidFill>
                  <a:srgbClr val="172033"/>
                </a:solidFill>
                <a:latin typeface="Calibri"/>
              </a:rPr>
              <a:t>Death</a:t>
            </a:r>
          </a:p>
        </p:txBody>
      </p:sp>
      <p:sp>
        <p:nvSpPr>
          <p:cNvPr id="21" name="TextBox 20"/>
          <p:cNvSpPr txBox="1"/>
          <p:nvPr/>
        </p:nvSpPr>
        <p:spPr>
          <a:xfrm>
            <a:off x="10012680" y="2926080"/>
            <a:ext cx="2377440" cy="365760"/>
          </a:xfrm>
          <a:prstGeom prst="rect">
            <a:avLst/>
          </a:prstGeom>
          <a:noFill/>
        </p:spPr>
        <p:txBody>
          <a:bodyPr wrap="square" anchor="t" lIns="36576" rIns="36576" tIns="18288" bIns="18288">
            <a:spAutoFit/>
          </a:bodyPr>
          <a:lstStyle/>
          <a:p>
            <a:pPr algn="ctr">
              <a:spcAft>
                <a:spcPts val="600"/>
              </a:spcAft>
            </a:pPr>
            <a:r>
              <a:rPr sz="1200" b="0" i="1">
                <a:solidFill>
                  <a:srgbClr val="3A4256"/>
                </a:solidFill>
                <a:latin typeface="Calibri"/>
              </a:rPr>
              <a:t>end of survival time</a:t>
            </a:r>
          </a:p>
        </p:txBody>
      </p:sp>
      <p:sp>
        <p:nvSpPr>
          <p:cNvPr id="22" name="Rounded Rectangle 21"/>
          <p:cNvSpPr/>
          <p:nvPr/>
        </p:nvSpPr>
        <p:spPr>
          <a:xfrm>
            <a:off x="548639" y="3429000"/>
            <a:ext cx="2377440" cy="2240280"/>
          </a:xfrm>
          <a:prstGeom prst="roundRect">
            <a:avLst>
              <a:gd name="adj" fmla="val 7346"/>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520440"/>
            <a:ext cx="2103120" cy="36576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Known at t0</a:t>
            </a:r>
          </a:p>
        </p:txBody>
      </p:sp>
      <p:sp>
        <p:nvSpPr>
          <p:cNvPr id="24" name="TextBox 23"/>
          <p:cNvSpPr txBox="1"/>
          <p:nvPr/>
        </p:nvSpPr>
        <p:spPr>
          <a:xfrm>
            <a:off x="685800" y="3886200"/>
            <a:ext cx="2148840" cy="1463040"/>
          </a:xfrm>
          <a:prstGeom prst="rect">
            <a:avLst/>
          </a:prstGeom>
          <a:noFill/>
        </p:spPr>
        <p:txBody>
          <a:bodyPr wrap="square" anchor="t" lIns="36576" rIns="36576" tIns="18288" bIns="18288">
            <a:spAutoFit/>
          </a:bodyPr>
          <a:lstStyle/>
          <a:p>
            <a:pPr algn="l" marL="256032" indent="-219456">
              <a:spcAft>
                <a:spcPts val="200"/>
              </a:spcAft>
              <a:buFont typeface="Arial"/>
              <a:buChar char="•"/>
            </a:pPr>
            <a:r>
              <a:rPr sz="1200" b="0" i="0">
                <a:solidFill>
                  <a:srgbClr val="172033"/>
                </a:solidFill>
                <a:latin typeface="Calibri"/>
              </a:rPr>
              <a:t>Age, sex, height, weight</a:t>
            </a:r>
          </a:p>
          <a:p>
            <a:pPr algn="l" marL="256032" indent="-219456">
              <a:spcAft>
                <a:spcPts val="200"/>
              </a:spcAft>
              <a:buFont typeface="Arial"/>
              <a:buChar char="•"/>
            </a:pPr>
            <a:r>
              <a:rPr sz="1200" b="0" i="0">
                <a:solidFill>
                  <a:srgbClr val="172033"/>
                </a:solidFill>
                <a:latin typeface="Calibri"/>
              </a:rPr>
              <a:t>Performance status (fitness)</a:t>
            </a:r>
          </a:p>
          <a:p>
            <a:pPr algn="l" marL="256032" indent="-219456">
              <a:spcAft>
                <a:spcPts val="200"/>
              </a:spcAft>
              <a:buFont typeface="Arial"/>
              <a:buChar char="•"/>
            </a:pPr>
            <a:r>
              <a:rPr sz="1200" b="0" i="0">
                <a:solidFill>
                  <a:srgbClr val="172033"/>
                </a:solidFill>
                <a:latin typeface="Calibri"/>
              </a:rPr>
              <a:t>WHO classification edition</a:t>
            </a:r>
          </a:p>
          <a:p>
            <a:pPr algn="l" marL="256032" indent="-219456">
              <a:spcAft>
                <a:spcPts val="200"/>
              </a:spcAft>
              <a:buFont typeface="Arial"/>
              <a:buChar char="•"/>
            </a:pPr>
            <a:r>
              <a:rPr sz="1200" b="0" i="0">
                <a:solidFill>
                  <a:srgbClr val="172033"/>
                </a:solidFill>
                <a:latin typeface="Calibri"/>
              </a:rPr>
              <a:t>Tumour volume</a:t>
            </a:r>
          </a:p>
          <a:p>
            <a:pPr algn="l" marL="256032" indent="-219456">
              <a:spcAft>
                <a:spcPts val="200"/>
              </a:spcAft>
              <a:buFont typeface="Arial"/>
              <a:buChar char="•"/>
            </a:pPr>
            <a:r>
              <a:rPr sz="1200" b="0" i="0">
                <a:solidFill>
                  <a:srgbClr val="172033"/>
                </a:solidFill>
                <a:latin typeface="Calibri"/>
              </a:rPr>
              <a:t>Radiomic features (MRI numbers)</a:t>
            </a:r>
          </a:p>
        </p:txBody>
      </p:sp>
      <p:sp>
        <p:nvSpPr>
          <p:cNvPr id="25" name="TextBox 24"/>
          <p:cNvSpPr txBox="1"/>
          <p:nvPr/>
        </p:nvSpPr>
        <p:spPr>
          <a:xfrm>
            <a:off x="685800" y="5303520"/>
            <a:ext cx="2103120" cy="320040"/>
          </a:xfrm>
          <a:prstGeom prst="rect">
            <a:avLst/>
          </a:prstGeom>
          <a:noFill/>
        </p:spPr>
        <p:txBody>
          <a:bodyPr wrap="square" anchor="t" lIns="36576" rIns="36576" tIns="18288" bIns="18288">
            <a:spAutoFit/>
          </a:bodyPr>
          <a:lstStyle/>
          <a:p>
            <a:pPr algn="l">
              <a:spcAft>
                <a:spcPts val="600"/>
              </a:spcAft>
            </a:pPr>
            <a:r>
              <a:rPr sz="1200" b="0" i="1">
                <a:solidFill>
                  <a:srgbClr val="6B7280"/>
                </a:solidFill>
                <a:latin typeface="Calibri"/>
              </a:rPr>
              <a:t>261–264 patients</a:t>
            </a:r>
          </a:p>
        </p:txBody>
      </p:sp>
      <p:sp>
        <p:nvSpPr>
          <p:cNvPr id="26" name="Rounded Rectangle 25"/>
          <p:cNvSpPr/>
          <p:nvPr/>
        </p:nvSpPr>
        <p:spPr>
          <a:xfrm>
            <a:off x="3200400" y="3429000"/>
            <a:ext cx="2377440" cy="2240280"/>
          </a:xfrm>
          <a:prstGeom prst="roundRect">
            <a:avLst>
              <a:gd name="adj" fmla="val 7346"/>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37560" y="3520440"/>
            <a:ext cx="2103120" cy="36576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Treatment</a:t>
            </a:r>
          </a:p>
        </p:txBody>
      </p:sp>
      <p:sp>
        <p:nvSpPr>
          <p:cNvPr id="28" name="TextBox 27"/>
          <p:cNvSpPr txBox="1"/>
          <p:nvPr/>
        </p:nvSpPr>
        <p:spPr>
          <a:xfrm>
            <a:off x="3337560" y="3886200"/>
            <a:ext cx="2148840" cy="1463040"/>
          </a:xfrm>
          <a:prstGeom prst="rect">
            <a:avLst/>
          </a:prstGeom>
          <a:noFill/>
        </p:spPr>
        <p:txBody>
          <a:bodyPr wrap="square" anchor="t" lIns="36576" rIns="36576" tIns="18288" bIns="18288">
            <a:spAutoFit/>
          </a:bodyPr>
          <a:lstStyle/>
          <a:p>
            <a:pPr algn="l" marL="256032" indent="-219456">
              <a:spcAft>
                <a:spcPts val="200"/>
              </a:spcAft>
              <a:buFont typeface="Arial"/>
              <a:buChar char="•"/>
            </a:pPr>
            <a:r>
              <a:rPr sz="1200" b="0" i="0">
                <a:solidFill>
                  <a:srgbClr val="172033"/>
                </a:solidFill>
                <a:latin typeface="Calibri"/>
              </a:rPr>
              <a:t>Dose (Gy)</a:t>
            </a:r>
          </a:p>
          <a:p>
            <a:pPr algn="l" marL="256032" indent="-219456">
              <a:spcAft>
                <a:spcPts val="200"/>
              </a:spcAft>
              <a:buFont typeface="Arial"/>
              <a:buChar char="•"/>
            </a:pPr>
            <a:r>
              <a:rPr sz="1200" b="0" i="0">
                <a:solidFill>
                  <a:srgbClr val="172033"/>
                </a:solidFill>
                <a:latin typeface="Calibri"/>
              </a:rPr>
              <a:t>Number of sessions</a:t>
            </a:r>
          </a:p>
          <a:p>
            <a:pPr algn="l" marL="256032" indent="-219456">
              <a:spcAft>
                <a:spcPts val="200"/>
              </a:spcAft>
              <a:buFont typeface="Arial"/>
              <a:buChar char="•"/>
            </a:pPr>
            <a:r>
              <a:rPr sz="1200" b="0" i="0">
                <a:solidFill>
                  <a:srgbClr val="172033"/>
                </a:solidFill>
                <a:latin typeface="Calibri"/>
              </a:rPr>
              <a:t>Delay from t0 to start</a:t>
            </a:r>
          </a:p>
        </p:txBody>
      </p:sp>
      <p:sp>
        <p:nvSpPr>
          <p:cNvPr id="29" name="TextBox 28"/>
          <p:cNvSpPr txBox="1"/>
          <p:nvPr/>
        </p:nvSpPr>
        <p:spPr>
          <a:xfrm>
            <a:off x="3337560" y="5303520"/>
            <a:ext cx="2103120" cy="320040"/>
          </a:xfrm>
          <a:prstGeom prst="rect">
            <a:avLst/>
          </a:prstGeom>
          <a:noFill/>
        </p:spPr>
        <p:txBody>
          <a:bodyPr wrap="square" anchor="t" lIns="36576" rIns="36576" tIns="18288" bIns="18288">
            <a:spAutoFit/>
          </a:bodyPr>
          <a:lstStyle/>
          <a:p>
            <a:pPr algn="l">
              <a:spcAft>
                <a:spcPts val="600"/>
              </a:spcAft>
            </a:pPr>
            <a:r>
              <a:rPr sz="1200" b="0" i="1">
                <a:solidFill>
                  <a:srgbClr val="6B7280"/>
                </a:solidFill>
                <a:latin typeface="Calibri"/>
              </a:rPr>
              <a:t>194 patients</a:t>
            </a:r>
          </a:p>
        </p:txBody>
      </p:sp>
      <p:sp>
        <p:nvSpPr>
          <p:cNvPr id="30" name="Rounded Rectangle 29"/>
          <p:cNvSpPr/>
          <p:nvPr/>
        </p:nvSpPr>
        <p:spPr>
          <a:xfrm>
            <a:off x="5852160" y="3429000"/>
            <a:ext cx="2377440" cy="2240280"/>
          </a:xfrm>
          <a:prstGeom prst="roundRect">
            <a:avLst>
              <a:gd name="adj" fmla="val 7346"/>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89320" y="3520440"/>
            <a:ext cx="2103120" cy="36576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At t1</a:t>
            </a:r>
          </a:p>
        </p:txBody>
      </p:sp>
      <p:sp>
        <p:nvSpPr>
          <p:cNvPr id="32" name="TextBox 31"/>
          <p:cNvSpPr txBox="1"/>
          <p:nvPr/>
        </p:nvSpPr>
        <p:spPr>
          <a:xfrm>
            <a:off x="5989320" y="3886200"/>
            <a:ext cx="2148840" cy="1463040"/>
          </a:xfrm>
          <a:prstGeom prst="rect">
            <a:avLst/>
          </a:prstGeom>
          <a:noFill/>
        </p:spPr>
        <p:txBody>
          <a:bodyPr wrap="square" anchor="t" lIns="36576" rIns="36576" tIns="18288" bIns="18288">
            <a:spAutoFit/>
          </a:bodyPr>
          <a:lstStyle/>
          <a:p>
            <a:pPr algn="l" marL="256032" indent="-219456">
              <a:spcAft>
                <a:spcPts val="200"/>
              </a:spcAft>
              <a:buFont typeface="Arial"/>
              <a:buChar char="•"/>
            </a:pPr>
            <a:r>
              <a:rPr sz="1200" b="0" i="0">
                <a:solidFill>
                  <a:srgbClr val="172033"/>
                </a:solidFill>
                <a:latin typeface="Calibri"/>
              </a:rPr>
              <a:t>Tumour size change t0 → t1</a:t>
            </a:r>
          </a:p>
          <a:p>
            <a:pPr algn="l" marL="256032" indent="-219456">
              <a:spcAft>
                <a:spcPts val="200"/>
              </a:spcAft>
              <a:buFont typeface="Arial"/>
              <a:buChar char="•"/>
            </a:pPr>
            <a:r>
              <a:rPr sz="1200" b="0" i="0">
                <a:solidFill>
                  <a:srgbClr val="172033"/>
                </a:solidFill>
                <a:latin typeface="Calibri"/>
              </a:rPr>
              <a:t>RANO response category</a:t>
            </a:r>
          </a:p>
        </p:txBody>
      </p:sp>
      <p:sp>
        <p:nvSpPr>
          <p:cNvPr id="33" name="TextBox 32"/>
          <p:cNvSpPr txBox="1"/>
          <p:nvPr/>
        </p:nvSpPr>
        <p:spPr>
          <a:xfrm>
            <a:off x="5989320" y="5303520"/>
            <a:ext cx="2103120" cy="320040"/>
          </a:xfrm>
          <a:prstGeom prst="rect">
            <a:avLst/>
          </a:prstGeom>
          <a:noFill/>
        </p:spPr>
        <p:txBody>
          <a:bodyPr wrap="square" anchor="t" lIns="36576" rIns="36576" tIns="18288" bIns="18288">
            <a:spAutoFit/>
          </a:bodyPr>
          <a:lstStyle/>
          <a:p>
            <a:pPr algn="l">
              <a:spcAft>
                <a:spcPts val="600"/>
              </a:spcAft>
            </a:pPr>
            <a:r>
              <a:rPr sz="1200" b="0" i="1">
                <a:solidFill>
                  <a:srgbClr val="6B7280"/>
                </a:solidFill>
                <a:latin typeface="Calibri"/>
              </a:rPr>
              <a:t>160 patients</a:t>
            </a:r>
          </a:p>
        </p:txBody>
      </p:sp>
      <p:sp>
        <p:nvSpPr>
          <p:cNvPr id="34" name="Rounded Rectangle 33"/>
          <p:cNvSpPr/>
          <p:nvPr/>
        </p:nvSpPr>
        <p:spPr>
          <a:xfrm>
            <a:off x="8503919" y="3429000"/>
            <a:ext cx="2377440" cy="2240280"/>
          </a:xfrm>
          <a:prstGeom prst="roundRect">
            <a:avLst>
              <a:gd name="adj" fmla="val 7346"/>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1080" y="3520440"/>
            <a:ext cx="2103120" cy="36576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At t2</a:t>
            </a:r>
          </a:p>
        </p:txBody>
      </p:sp>
      <p:sp>
        <p:nvSpPr>
          <p:cNvPr id="36" name="TextBox 35"/>
          <p:cNvSpPr txBox="1"/>
          <p:nvPr/>
        </p:nvSpPr>
        <p:spPr>
          <a:xfrm>
            <a:off x="8641080" y="3886200"/>
            <a:ext cx="2148840" cy="1463040"/>
          </a:xfrm>
          <a:prstGeom prst="rect">
            <a:avLst/>
          </a:prstGeom>
          <a:noFill/>
        </p:spPr>
        <p:txBody>
          <a:bodyPr wrap="square" anchor="t" lIns="36576" rIns="36576" tIns="18288" bIns="18288">
            <a:spAutoFit/>
          </a:bodyPr>
          <a:lstStyle/>
          <a:p>
            <a:pPr algn="l" marL="256032" indent="-219456">
              <a:spcAft>
                <a:spcPts val="200"/>
              </a:spcAft>
              <a:buFont typeface="Arial"/>
              <a:buChar char="•"/>
            </a:pPr>
            <a:r>
              <a:rPr sz="1200" b="0" i="0">
                <a:solidFill>
                  <a:srgbClr val="172033"/>
                </a:solidFill>
                <a:latin typeface="Calibri"/>
              </a:rPr>
              <a:t>Tumour size change t0 → t2</a:t>
            </a:r>
          </a:p>
          <a:p>
            <a:pPr algn="l" marL="256032" indent="-219456">
              <a:spcAft>
                <a:spcPts val="200"/>
              </a:spcAft>
              <a:buFont typeface="Arial"/>
              <a:buChar char="•"/>
            </a:pPr>
            <a:r>
              <a:rPr sz="1200" b="0" i="0">
                <a:solidFill>
                  <a:srgbClr val="172033"/>
                </a:solidFill>
                <a:latin typeface="Calibri"/>
              </a:rPr>
              <a:t>RANO response category</a:t>
            </a:r>
          </a:p>
        </p:txBody>
      </p:sp>
      <p:sp>
        <p:nvSpPr>
          <p:cNvPr id="37" name="TextBox 36"/>
          <p:cNvSpPr txBox="1"/>
          <p:nvPr/>
        </p:nvSpPr>
        <p:spPr>
          <a:xfrm>
            <a:off x="8641080" y="5303520"/>
            <a:ext cx="2103120" cy="320040"/>
          </a:xfrm>
          <a:prstGeom prst="rect">
            <a:avLst/>
          </a:prstGeom>
          <a:noFill/>
        </p:spPr>
        <p:txBody>
          <a:bodyPr wrap="square" anchor="t" lIns="36576" rIns="36576" tIns="18288" bIns="18288">
            <a:spAutoFit/>
          </a:bodyPr>
          <a:lstStyle/>
          <a:p>
            <a:pPr algn="l">
              <a:spcAft>
                <a:spcPts val="600"/>
              </a:spcAft>
            </a:pPr>
            <a:r>
              <a:rPr sz="1200" b="0" i="1">
                <a:solidFill>
                  <a:srgbClr val="6B7280"/>
                </a:solidFill>
                <a:latin typeface="Calibri"/>
              </a:rPr>
              <a:t>112 patients</a:t>
            </a:r>
          </a:p>
        </p:txBody>
      </p:sp>
      <p:cxnSp>
        <p:nvCxnSpPr>
          <p:cNvPr id="38" name="Connector 37"/>
          <p:cNvCxnSpPr/>
          <p:nvPr/>
        </p:nvCxnSpPr>
        <p:spPr>
          <a:xfrm>
            <a:off x="1737360" y="5943600"/>
            <a:ext cx="9464040" cy="0"/>
          </a:xfrm>
          <a:prstGeom prst="line">
            <a:avLst/>
          </a:prstGeom>
          <a:ln w="31750">
            <a:solidFill>
              <a:srgbClr val="EB683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43200" y="5989320"/>
            <a:ext cx="7498079" cy="365760"/>
          </a:xfrm>
          <a:prstGeom prst="rect">
            <a:avLst/>
          </a:prstGeom>
          <a:noFill/>
        </p:spPr>
        <p:txBody>
          <a:bodyPr wrap="square" anchor="t" lIns="36576" rIns="36576" tIns="18288" bIns="18288">
            <a:spAutoFit/>
          </a:bodyPr>
          <a:lstStyle/>
          <a:p>
            <a:pPr algn="ctr">
              <a:spcAft>
                <a:spcPts val="600"/>
              </a:spcAft>
            </a:pPr>
            <a:r>
              <a:rPr sz="1400" b="1" i="0">
                <a:solidFill>
                  <a:srgbClr val="B4441A"/>
                </a:solidFill>
                <a:latin typeface="Calibri"/>
              </a:rPr>
              <a:t>Survival time = weeks from the t0 MRI to death  (what we want to predict)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Four data tables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Clinical facts, treatment, tumour response and image measurements</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5</a:t>
            </a:r>
          </a:p>
        </p:txBody>
      </p:sp>
      <p:sp>
        <p:nvSpPr>
          <p:cNvPr id="6" name="Rounded Rectangle 5"/>
          <p:cNvSpPr/>
          <p:nvPr/>
        </p:nvSpPr>
        <p:spPr>
          <a:xfrm>
            <a:off x="548640" y="1737360"/>
            <a:ext cx="2560320" cy="4297680"/>
          </a:xfrm>
          <a:prstGeom prst="roundRect">
            <a:avLst>
              <a:gd name="adj" fmla="val 6428"/>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96596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1</a:t>
            </a:r>
          </a:p>
        </p:txBody>
      </p:sp>
      <p:sp>
        <p:nvSpPr>
          <p:cNvPr id="8" name="TextBox 7"/>
          <p:cNvSpPr txBox="1"/>
          <p:nvPr/>
        </p:nvSpPr>
        <p:spPr>
          <a:xfrm>
            <a:off x="777240" y="2743200"/>
            <a:ext cx="2194560" cy="457200"/>
          </a:xfrm>
          <a:prstGeom prst="rect">
            <a:avLst/>
          </a:prstGeom>
          <a:noFill/>
        </p:spPr>
        <p:txBody>
          <a:bodyPr wrap="square" anchor="t" lIns="36576" rIns="36576" tIns="18288" bIns="18288">
            <a:spAutoFit/>
          </a:bodyPr>
          <a:lstStyle/>
          <a:p>
            <a:pPr algn="l">
              <a:spcAft>
                <a:spcPts val="600"/>
              </a:spcAft>
            </a:pPr>
            <a:r>
              <a:rPr sz="2000" b="1" i="0">
                <a:solidFill>
                  <a:srgbClr val="172033"/>
                </a:solidFill>
                <a:latin typeface="Cambria"/>
              </a:rPr>
              <a:t>Clinical</a:t>
            </a:r>
          </a:p>
        </p:txBody>
      </p:sp>
      <p:sp>
        <p:nvSpPr>
          <p:cNvPr id="9" name="TextBox 8"/>
          <p:cNvSpPr txBox="1"/>
          <p:nvPr/>
        </p:nvSpPr>
        <p:spPr>
          <a:xfrm>
            <a:off x="777240" y="3291840"/>
            <a:ext cx="2240280" cy="2011680"/>
          </a:xfrm>
          <a:prstGeom prst="rect">
            <a:avLst/>
          </a:prstGeom>
          <a:noFill/>
        </p:spPr>
        <p:txBody>
          <a:bodyPr wrap="square" anchor="t" lIns="36576" rIns="36576" tIns="18288" bIns="18288">
            <a:spAutoFit/>
          </a:bodyPr>
          <a:lstStyle/>
          <a:p>
            <a:pPr algn="l" marL="256032" indent="-219456">
              <a:spcAft>
                <a:spcPts val="600"/>
              </a:spcAft>
              <a:buFont typeface="Arial"/>
              <a:buChar char="•"/>
            </a:pPr>
            <a:r>
              <a:rPr sz="1500" b="0" i="0">
                <a:solidFill>
                  <a:srgbClr val="172033"/>
                </a:solidFill>
                <a:latin typeface="Calibri"/>
              </a:rPr>
              <a:t>Survival (weeks)</a:t>
            </a:r>
          </a:p>
          <a:p>
            <a:pPr algn="l" marL="256032" indent="-219456">
              <a:spcAft>
                <a:spcPts val="600"/>
              </a:spcAft>
              <a:buFont typeface="Arial"/>
              <a:buChar char="•"/>
            </a:pPr>
            <a:r>
              <a:rPr sz="1500" b="0" i="0">
                <a:solidFill>
                  <a:srgbClr val="172033"/>
                </a:solidFill>
                <a:latin typeface="Calibri"/>
              </a:rPr>
              <a:t>Age, sex</a:t>
            </a:r>
          </a:p>
          <a:p>
            <a:pPr algn="l" marL="256032" indent="-219456">
              <a:spcAft>
                <a:spcPts val="600"/>
              </a:spcAft>
              <a:buFont typeface="Arial"/>
              <a:buChar char="•"/>
            </a:pPr>
            <a:r>
              <a:rPr sz="1500" b="0" i="0">
                <a:solidFill>
                  <a:srgbClr val="172033"/>
                </a:solidFill>
                <a:latin typeface="Calibri"/>
              </a:rPr>
              <a:t>Height, weight</a:t>
            </a:r>
          </a:p>
          <a:p>
            <a:pPr algn="l" marL="256032" indent="-219456">
              <a:spcAft>
                <a:spcPts val="600"/>
              </a:spcAft>
              <a:buFont typeface="Arial"/>
              <a:buChar char="•"/>
            </a:pPr>
            <a:r>
              <a:rPr sz="1500" b="0" i="0">
                <a:solidFill>
                  <a:srgbClr val="172033"/>
                </a:solidFill>
                <a:latin typeface="Calibri"/>
              </a:rPr>
              <a:t>Performance status</a:t>
            </a:r>
          </a:p>
          <a:p>
            <a:pPr algn="l" marL="256032" indent="-219456">
              <a:spcAft>
                <a:spcPts val="600"/>
              </a:spcAft>
              <a:buFont typeface="Arial"/>
              <a:buChar char="•"/>
            </a:pPr>
            <a:r>
              <a:rPr sz="1500" b="0" i="0">
                <a:solidFill>
                  <a:srgbClr val="172033"/>
                </a:solidFill>
                <a:latin typeface="Calibri"/>
              </a:rPr>
              <a:t>WHO edition</a:t>
            </a:r>
          </a:p>
        </p:txBody>
      </p:sp>
      <p:sp>
        <p:nvSpPr>
          <p:cNvPr id="10" name="TextBox 9"/>
          <p:cNvSpPr txBox="1"/>
          <p:nvPr/>
        </p:nvSpPr>
        <p:spPr>
          <a:xfrm>
            <a:off x="777240" y="5349240"/>
            <a:ext cx="2194560" cy="548640"/>
          </a:xfrm>
          <a:prstGeom prst="rect">
            <a:avLst/>
          </a:prstGeom>
          <a:noFill/>
        </p:spPr>
        <p:txBody>
          <a:bodyPr wrap="square" anchor="t" lIns="36576" rIns="36576" tIns="18288" bIns="18288">
            <a:spAutoFit/>
          </a:bodyPr>
          <a:lstStyle/>
          <a:p>
            <a:pPr algn="l">
              <a:spcAft>
                <a:spcPts val="600"/>
              </a:spcAft>
            </a:pPr>
            <a:r>
              <a:rPr sz="1300" b="0" i="1">
                <a:solidFill>
                  <a:srgbClr val="3A4256"/>
                </a:solidFill>
                <a:latin typeface="Calibri"/>
              </a:rPr>
              <a:t>264 patients</a:t>
            </a:r>
          </a:p>
        </p:txBody>
      </p:sp>
      <p:sp>
        <p:nvSpPr>
          <p:cNvPr id="11" name="Rounded Rectangle 10"/>
          <p:cNvSpPr/>
          <p:nvPr/>
        </p:nvSpPr>
        <p:spPr>
          <a:xfrm>
            <a:off x="3383280" y="1737360"/>
            <a:ext cx="2560320" cy="4297680"/>
          </a:xfrm>
          <a:prstGeom prst="roundRect">
            <a:avLst>
              <a:gd name="adj" fmla="val 6428"/>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1965960"/>
            <a:ext cx="640080" cy="64008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2</a:t>
            </a:r>
          </a:p>
        </p:txBody>
      </p:sp>
      <p:sp>
        <p:nvSpPr>
          <p:cNvPr id="13" name="TextBox 12"/>
          <p:cNvSpPr txBox="1"/>
          <p:nvPr/>
        </p:nvSpPr>
        <p:spPr>
          <a:xfrm>
            <a:off x="3611880" y="2743200"/>
            <a:ext cx="2194560" cy="457200"/>
          </a:xfrm>
          <a:prstGeom prst="rect">
            <a:avLst/>
          </a:prstGeom>
          <a:noFill/>
        </p:spPr>
        <p:txBody>
          <a:bodyPr wrap="square" anchor="t" lIns="36576" rIns="36576" tIns="18288" bIns="18288">
            <a:spAutoFit/>
          </a:bodyPr>
          <a:lstStyle/>
          <a:p>
            <a:pPr algn="l">
              <a:spcAft>
                <a:spcPts val="600"/>
              </a:spcAft>
            </a:pPr>
            <a:r>
              <a:rPr sz="2000" b="1" i="0">
                <a:solidFill>
                  <a:srgbClr val="172033"/>
                </a:solidFill>
                <a:latin typeface="Cambria"/>
              </a:rPr>
              <a:t>Treatment</a:t>
            </a:r>
          </a:p>
        </p:txBody>
      </p:sp>
      <p:sp>
        <p:nvSpPr>
          <p:cNvPr id="14" name="TextBox 13"/>
          <p:cNvSpPr txBox="1"/>
          <p:nvPr/>
        </p:nvSpPr>
        <p:spPr>
          <a:xfrm>
            <a:off x="3611880" y="3291840"/>
            <a:ext cx="2240280" cy="2011680"/>
          </a:xfrm>
          <a:prstGeom prst="rect">
            <a:avLst/>
          </a:prstGeom>
          <a:noFill/>
        </p:spPr>
        <p:txBody>
          <a:bodyPr wrap="square" anchor="t" lIns="36576" rIns="36576" tIns="18288" bIns="18288">
            <a:spAutoFit/>
          </a:bodyPr>
          <a:lstStyle/>
          <a:p>
            <a:pPr algn="l" marL="256032" indent="-219456">
              <a:spcAft>
                <a:spcPts val="600"/>
              </a:spcAft>
              <a:buFont typeface="Arial"/>
              <a:buChar char="•"/>
            </a:pPr>
            <a:r>
              <a:rPr sz="1500" b="0" i="0">
                <a:solidFill>
                  <a:srgbClr val="172033"/>
                </a:solidFill>
                <a:latin typeface="Calibri"/>
              </a:rPr>
              <a:t>Delay to radiotherapy</a:t>
            </a:r>
          </a:p>
          <a:p>
            <a:pPr algn="l" marL="256032" indent="-219456">
              <a:spcAft>
                <a:spcPts val="600"/>
              </a:spcAft>
              <a:buFont typeface="Arial"/>
              <a:buChar char="•"/>
            </a:pPr>
            <a:r>
              <a:rPr sz="1500" b="0" i="0">
                <a:solidFill>
                  <a:srgbClr val="172033"/>
                </a:solidFill>
                <a:latin typeface="Calibri"/>
              </a:rPr>
              <a:t>Dose (Gy)</a:t>
            </a:r>
          </a:p>
          <a:p>
            <a:pPr algn="l" marL="256032" indent="-219456">
              <a:spcAft>
                <a:spcPts val="600"/>
              </a:spcAft>
              <a:buFont typeface="Arial"/>
              <a:buChar char="•"/>
            </a:pPr>
            <a:r>
              <a:rPr sz="1500" b="0" i="0">
                <a:solidFill>
                  <a:srgbClr val="172033"/>
                </a:solidFill>
                <a:latin typeface="Calibri"/>
              </a:rPr>
              <a:t>Number of sessions</a:t>
            </a:r>
          </a:p>
        </p:txBody>
      </p:sp>
      <p:sp>
        <p:nvSpPr>
          <p:cNvPr id="15" name="TextBox 14"/>
          <p:cNvSpPr txBox="1"/>
          <p:nvPr/>
        </p:nvSpPr>
        <p:spPr>
          <a:xfrm>
            <a:off x="3611880" y="5349240"/>
            <a:ext cx="2194560" cy="548640"/>
          </a:xfrm>
          <a:prstGeom prst="rect">
            <a:avLst/>
          </a:prstGeom>
          <a:noFill/>
        </p:spPr>
        <p:txBody>
          <a:bodyPr wrap="square" anchor="t" lIns="36576" rIns="36576" tIns="18288" bIns="18288">
            <a:spAutoFit/>
          </a:bodyPr>
          <a:lstStyle/>
          <a:p>
            <a:pPr algn="l">
              <a:spcAft>
                <a:spcPts val="600"/>
              </a:spcAft>
            </a:pPr>
            <a:r>
              <a:rPr sz="1300" b="0" i="1">
                <a:solidFill>
                  <a:srgbClr val="3A4256"/>
                </a:solidFill>
                <a:latin typeface="Calibri"/>
              </a:rPr>
              <a:t>194 patients (70 missing)</a:t>
            </a:r>
          </a:p>
        </p:txBody>
      </p:sp>
      <p:sp>
        <p:nvSpPr>
          <p:cNvPr id="16" name="Rounded Rectangle 15"/>
          <p:cNvSpPr/>
          <p:nvPr/>
        </p:nvSpPr>
        <p:spPr>
          <a:xfrm>
            <a:off x="6217920" y="1737360"/>
            <a:ext cx="2560320" cy="4297680"/>
          </a:xfrm>
          <a:prstGeom prst="roundRect">
            <a:avLst>
              <a:gd name="adj" fmla="val 6428"/>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1965960"/>
            <a:ext cx="640080" cy="6400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3</a:t>
            </a:r>
          </a:p>
        </p:txBody>
      </p:sp>
      <p:sp>
        <p:nvSpPr>
          <p:cNvPr id="18" name="TextBox 17"/>
          <p:cNvSpPr txBox="1"/>
          <p:nvPr/>
        </p:nvSpPr>
        <p:spPr>
          <a:xfrm>
            <a:off x="6446520" y="2743200"/>
            <a:ext cx="2194560" cy="457200"/>
          </a:xfrm>
          <a:prstGeom prst="rect">
            <a:avLst/>
          </a:prstGeom>
          <a:noFill/>
        </p:spPr>
        <p:txBody>
          <a:bodyPr wrap="square" anchor="t" lIns="36576" rIns="36576" tIns="18288" bIns="18288">
            <a:spAutoFit/>
          </a:bodyPr>
          <a:lstStyle/>
          <a:p>
            <a:pPr algn="l">
              <a:spcAft>
                <a:spcPts val="600"/>
              </a:spcAft>
            </a:pPr>
            <a:r>
              <a:rPr sz="2000" b="1" i="0">
                <a:solidFill>
                  <a:srgbClr val="172033"/>
                </a:solidFill>
                <a:latin typeface="Cambria"/>
              </a:rPr>
              <a:t>Response (RANO)</a:t>
            </a:r>
          </a:p>
        </p:txBody>
      </p:sp>
      <p:sp>
        <p:nvSpPr>
          <p:cNvPr id="19" name="TextBox 18"/>
          <p:cNvSpPr txBox="1"/>
          <p:nvPr/>
        </p:nvSpPr>
        <p:spPr>
          <a:xfrm>
            <a:off x="6446520" y="3291840"/>
            <a:ext cx="2240280" cy="2011680"/>
          </a:xfrm>
          <a:prstGeom prst="rect">
            <a:avLst/>
          </a:prstGeom>
          <a:noFill/>
        </p:spPr>
        <p:txBody>
          <a:bodyPr wrap="square" anchor="t" lIns="36576" rIns="36576" tIns="18288" bIns="18288">
            <a:spAutoFit/>
          </a:bodyPr>
          <a:lstStyle/>
          <a:p>
            <a:pPr algn="l" marL="256032" indent="-219456">
              <a:spcAft>
                <a:spcPts val="600"/>
              </a:spcAft>
              <a:buFont typeface="Arial"/>
              <a:buChar char="•"/>
            </a:pPr>
            <a:r>
              <a:rPr sz="1500" b="0" i="0">
                <a:solidFill>
                  <a:srgbClr val="172033"/>
                </a:solidFill>
                <a:latin typeface="Calibri"/>
              </a:rPr>
              <a:t>Tumour size at t0, t1, t2</a:t>
            </a:r>
          </a:p>
          <a:p>
            <a:pPr algn="l" marL="256032" indent="-219456">
              <a:spcAft>
                <a:spcPts val="600"/>
              </a:spcAft>
              <a:buFont typeface="Arial"/>
              <a:buChar char="•"/>
            </a:pPr>
            <a:r>
              <a:rPr sz="1500" b="0" i="0">
                <a:solidFill>
                  <a:srgbClr val="172033"/>
                </a:solidFill>
                <a:latin typeface="Calibri"/>
              </a:rPr>
              <a:t>Shrinkage rate</a:t>
            </a:r>
          </a:p>
          <a:p>
            <a:pPr algn="l" marL="256032" indent="-219456">
              <a:spcAft>
                <a:spcPts val="600"/>
              </a:spcAft>
              <a:buFont typeface="Arial"/>
              <a:buChar char="•"/>
            </a:pPr>
            <a:r>
              <a:rPr sz="1500" b="0" i="0">
                <a:solidFill>
                  <a:srgbClr val="172033"/>
                </a:solidFill>
                <a:latin typeface="Calibri"/>
              </a:rPr>
              <a:t>Response category</a:t>
            </a:r>
          </a:p>
        </p:txBody>
      </p:sp>
      <p:sp>
        <p:nvSpPr>
          <p:cNvPr id="20" name="TextBox 19"/>
          <p:cNvSpPr txBox="1"/>
          <p:nvPr/>
        </p:nvSpPr>
        <p:spPr>
          <a:xfrm>
            <a:off x="6446520" y="5349240"/>
            <a:ext cx="2194560" cy="548640"/>
          </a:xfrm>
          <a:prstGeom prst="rect">
            <a:avLst/>
          </a:prstGeom>
          <a:noFill/>
        </p:spPr>
        <p:txBody>
          <a:bodyPr wrap="square" anchor="t" lIns="36576" rIns="36576" tIns="18288" bIns="18288">
            <a:spAutoFit/>
          </a:bodyPr>
          <a:lstStyle/>
          <a:p>
            <a:pPr algn="l">
              <a:spcAft>
                <a:spcPts val="600"/>
              </a:spcAft>
            </a:pPr>
            <a:r>
              <a:rPr sz="1300" b="0" i="1">
                <a:solidFill>
                  <a:srgbClr val="3A4256"/>
                </a:solidFill>
                <a:latin typeface="Calibri"/>
              </a:rPr>
              <a:t>165 patients</a:t>
            </a:r>
          </a:p>
        </p:txBody>
      </p:sp>
      <p:sp>
        <p:nvSpPr>
          <p:cNvPr id="21" name="Rounded Rectangle 20"/>
          <p:cNvSpPr/>
          <p:nvPr/>
        </p:nvSpPr>
        <p:spPr>
          <a:xfrm>
            <a:off x="9052560" y="1737360"/>
            <a:ext cx="2560320" cy="4297680"/>
          </a:xfrm>
          <a:prstGeom prst="roundRect">
            <a:avLst>
              <a:gd name="adj" fmla="val 6428"/>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81160" y="1965960"/>
            <a:ext cx="640080" cy="64008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4</a:t>
            </a:r>
          </a:p>
        </p:txBody>
      </p:sp>
      <p:sp>
        <p:nvSpPr>
          <p:cNvPr id="23" name="TextBox 22"/>
          <p:cNvSpPr txBox="1"/>
          <p:nvPr/>
        </p:nvSpPr>
        <p:spPr>
          <a:xfrm>
            <a:off x="9281160" y="2743200"/>
            <a:ext cx="2194560" cy="457200"/>
          </a:xfrm>
          <a:prstGeom prst="rect">
            <a:avLst/>
          </a:prstGeom>
          <a:noFill/>
        </p:spPr>
        <p:txBody>
          <a:bodyPr wrap="square" anchor="t" lIns="36576" rIns="36576" tIns="18288" bIns="18288">
            <a:spAutoFit/>
          </a:bodyPr>
          <a:lstStyle/>
          <a:p>
            <a:pPr algn="l">
              <a:spcAft>
                <a:spcPts val="600"/>
              </a:spcAft>
            </a:pPr>
            <a:r>
              <a:rPr sz="2000" b="1" i="0">
                <a:solidFill>
                  <a:srgbClr val="172033"/>
                </a:solidFill>
                <a:latin typeface="Cambria"/>
              </a:rPr>
              <a:t>Radiomics</a:t>
            </a:r>
          </a:p>
        </p:txBody>
      </p:sp>
      <p:sp>
        <p:nvSpPr>
          <p:cNvPr id="24" name="TextBox 23"/>
          <p:cNvSpPr txBox="1"/>
          <p:nvPr/>
        </p:nvSpPr>
        <p:spPr>
          <a:xfrm>
            <a:off x="9281160" y="3291840"/>
            <a:ext cx="2240280" cy="2011680"/>
          </a:xfrm>
          <a:prstGeom prst="rect">
            <a:avLst/>
          </a:prstGeom>
          <a:noFill/>
        </p:spPr>
        <p:txBody>
          <a:bodyPr wrap="square" anchor="t" lIns="36576" rIns="36576" tIns="18288" bIns="18288">
            <a:spAutoFit/>
          </a:bodyPr>
          <a:lstStyle/>
          <a:p>
            <a:pPr algn="l" marL="256032" indent="-219456">
              <a:spcAft>
                <a:spcPts val="600"/>
              </a:spcAft>
              <a:buFont typeface="Arial"/>
              <a:buChar char="•"/>
            </a:pPr>
            <a:r>
              <a:rPr sz="1500" b="0" i="0">
                <a:solidFill>
                  <a:srgbClr val="172033"/>
                </a:solidFill>
                <a:latin typeface="Calibri"/>
              </a:rPr>
              <a:t>107 numbers per MRI scan</a:t>
            </a:r>
          </a:p>
          <a:p>
            <a:pPr algn="l" marL="256032" indent="-219456">
              <a:spcAft>
                <a:spcPts val="600"/>
              </a:spcAft>
              <a:buFont typeface="Arial"/>
              <a:buChar char="•"/>
            </a:pPr>
            <a:r>
              <a:rPr sz="1500" b="0" i="0">
                <a:solidFill>
                  <a:srgbClr val="172033"/>
                </a:solidFill>
                <a:latin typeface="Calibri"/>
              </a:rPr>
              <a:t>Shape, brightness, texture</a:t>
            </a:r>
          </a:p>
          <a:p>
            <a:pPr algn="l" marL="256032" indent="-219456">
              <a:spcAft>
                <a:spcPts val="600"/>
              </a:spcAft>
              <a:buFont typeface="Arial"/>
              <a:buChar char="•"/>
            </a:pPr>
            <a:r>
              <a:rPr sz="1500" b="0" i="0">
                <a:solidFill>
                  <a:srgbClr val="172033"/>
                </a:solidFill>
                <a:latin typeface="Calibri"/>
              </a:rPr>
              <a:t>7 MRI types × 3 time points</a:t>
            </a:r>
          </a:p>
        </p:txBody>
      </p:sp>
      <p:sp>
        <p:nvSpPr>
          <p:cNvPr id="25" name="TextBox 24"/>
          <p:cNvSpPr txBox="1"/>
          <p:nvPr/>
        </p:nvSpPr>
        <p:spPr>
          <a:xfrm>
            <a:off x="9281160" y="5349240"/>
            <a:ext cx="2194560" cy="548640"/>
          </a:xfrm>
          <a:prstGeom prst="rect">
            <a:avLst/>
          </a:prstGeom>
          <a:noFill/>
        </p:spPr>
        <p:txBody>
          <a:bodyPr wrap="square" anchor="t" lIns="36576" rIns="36576" tIns="18288" bIns="18288">
            <a:spAutoFit/>
          </a:bodyPr>
          <a:lstStyle/>
          <a:p>
            <a:pPr algn="l">
              <a:spcAft>
                <a:spcPts val="600"/>
              </a:spcAft>
            </a:pPr>
            <a:r>
              <a:rPr sz="1300" b="0" i="1">
                <a:solidFill>
                  <a:srgbClr val="3A4256"/>
                </a:solidFill>
                <a:latin typeface="Calibri"/>
              </a:rPr>
              <a:t>261 patients · 2,424 scans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The variables in plain words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Everything except survival is a candidate predictor</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6</a:t>
            </a:r>
          </a:p>
        </p:txBody>
      </p:sp>
      <p:graphicFrame>
        <p:nvGraphicFramePr>
          <p:cNvPr id="6" name="Table 5"/>
          <p:cNvGraphicFramePr>
            <a:graphicFrameLocks noGrp="1"/>
          </p:cNvGraphicFramePr>
          <p:nvPr/>
        </p:nvGraphicFramePr>
        <p:xfrm>
          <a:off x="548640" y="1645920"/>
          <a:ext cx="11064240" cy="4608576"/>
        </p:xfrm>
        <a:graphic>
          <a:graphicData uri="http://schemas.openxmlformats.org/drawingml/2006/table">
            <a:tbl>
              <a:tblPr firstRow="1" bandRow="1">
                <a:tableStyleId>{5C22544A-7EE6-4342-B048-85BDC9FD1C3A}</a:tableStyleId>
              </a:tblPr>
              <a:tblGrid>
                <a:gridCol w="2377440"/>
                <a:gridCol w="4297680"/>
                <a:gridCol w="2926080"/>
                <a:gridCol w="1463040"/>
              </a:tblGrid>
              <a:tr h="384048">
                <a:tc>
                  <a:txBody>
                    <a:bodyPr wrap="square"/>
                    <a:lstStyle/>
                    <a:p>
                      <a:r>
                        <a:rPr sz="1300" b="1">
                          <a:solidFill>
                            <a:srgbClr val="FFFFFF"/>
                          </a:solidFill>
                          <a:latin typeface="Calibri"/>
                        </a:rPr>
                        <a:t>Variable</a:t>
                      </a:r>
                    </a:p>
                  </a:txBody>
                  <a:tcPr marL="73152" marR="73152" marT="27432" marB="27432" anchor="ctr">
                    <a:solidFill>
                      <a:srgbClr val="172033"/>
                    </a:solidFill>
                  </a:tcPr>
                </a:tc>
                <a:tc>
                  <a:txBody>
                    <a:bodyPr wrap="square"/>
                    <a:lstStyle/>
                    <a:p>
                      <a:r>
                        <a:rPr sz="1300" b="1">
                          <a:solidFill>
                            <a:srgbClr val="FFFFFF"/>
                          </a:solidFill>
                          <a:latin typeface="Calibri"/>
                        </a:rPr>
                        <a:t>What it means</a:t>
                      </a:r>
                    </a:p>
                  </a:txBody>
                  <a:tcPr marL="73152" marR="73152" marT="27432" marB="27432" anchor="ctr">
                    <a:solidFill>
                      <a:srgbClr val="172033"/>
                    </a:solidFill>
                  </a:tcPr>
                </a:tc>
                <a:tc>
                  <a:txBody>
                    <a:bodyPr wrap="square"/>
                    <a:lstStyle/>
                    <a:p>
                      <a:r>
                        <a:rPr sz="1300" b="1">
                          <a:solidFill>
                            <a:srgbClr val="FFFFFF"/>
                          </a:solidFill>
                          <a:latin typeface="Calibri"/>
                        </a:rPr>
                        <a:t>In our data</a:t>
                      </a:r>
                    </a:p>
                  </a:txBody>
                  <a:tcPr marL="73152" marR="73152" marT="27432" marB="27432" anchor="ctr">
                    <a:solidFill>
                      <a:srgbClr val="172033"/>
                    </a:solidFill>
                  </a:tcPr>
                </a:tc>
                <a:tc>
                  <a:txBody>
                    <a:bodyPr wrap="square"/>
                    <a:lstStyle/>
                    <a:p>
                      <a:r>
                        <a:rPr sz="1300" b="1">
                          <a:solidFill>
                            <a:srgbClr val="FFFFFF"/>
                          </a:solidFill>
                          <a:latin typeface="Calibri"/>
                        </a:rPr>
                        <a:t>Known at</a:t>
                      </a:r>
                    </a:p>
                  </a:txBody>
                  <a:tcPr marL="73152" marR="73152" marT="27432" marB="27432" anchor="ctr">
                    <a:solidFill>
                      <a:srgbClr val="172033"/>
                    </a:solidFill>
                  </a:tcPr>
                </a:tc>
              </a:tr>
              <a:tr h="384048">
                <a:tc>
                  <a:txBody>
                    <a:bodyPr wrap="square"/>
                    <a:lstStyle/>
                    <a:p>
                      <a:r>
                        <a:rPr sz="1300" b="1">
                          <a:solidFill>
                            <a:srgbClr val="172033"/>
                          </a:solidFill>
                          <a:latin typeface="Calibri"/>
                        </a:rPr>
                        <a:t>Survival (outcome)</a:t>
                      </a:r>
                    </a:p>
                  </a:txBody>
                  <a:tcPr marL="73152" marR="73152" marT="27432" marB="27432" anchor="ctr">
                    <a:solidFill>
                      <a:srgbClr val="FFFFFF"/>
                    </a:solidFill>
                  </a:tcPr>
                </a:tc>
                <a:tc>
                  <a:txBody>
                    <a:bodyPr wrap="square"/>
                    <a:lstStyle/>
                    <a:p>
                      <a:r>
                        <a:rPr sz="1300" b="0">
                          <a:solidFill>
                            <a:srgbClr val="172033"/>
                          </a:solidFill>
                          <a:latin typeface="Calibri"/>
                        </a:rPr>
                        <a:t>Weeks from the t0 MRI until death</a:t>
                      </a:r>
                    </a:p>
                  </a:txBody>
                  <a:tcPr marL="73152" marR="73152" marT="27432" marB="27432" anchor="ctr">
                    <a:solidFill>
                      <a:srgbClr val="FFFFFF"/>
                    </a:solidFill>
                  </a:tcPr>
                </a:tc>
                <a:tc>
                  <a:txBody>
                    <a:bodyPr wrap="square"/>
                    <a:lstStyle/>
                    <a:p>
                      <a:r>
                        <a:rPr sz="1300" b="0">
                          <a:solidFill>
                            <a:srgbClr val="172033"/>
                          </a:solidFill>
                          <a:latin typeface="Calibri"/>
                        </a:rPr>
                        <a:t>3–238 weeks, median 50</a:t>
                      </a:r>
                    </a:p>
                  </a:txBody>
                  <a:tcPr marL="73152" marR="73152" marT="27432" marB="27432" anchor="ctr">
                    <a:solidFill>
                      <a:srgbClr val="FFFFFF"/>
                    </a:solidFill>
                  </a:tcPr>
                </a:tc>
                <a:tc>
                  <a:txBody>
                    <a:bodyPr wrap="square"/>
                    <a:lstStyle/>
                    <a:p>
                      <a:r>
                        <a:rPr sz="1300" b="0">
                          <a:solidFill>
                            <a:srgbClr val="172033"/>
                          </a:solidFill>
                          <a:latin typeface="Calibri"/>
                        </a:rPr>
                        <a:t>end</a:t>
                      </a:r>
                    </a:p>
                  </a:txBody>
                  <a:tcPr marL="73152" marR="73152" marT="27432" marB="27432" anchor="ctr">
                    <a:solidFill>
                      <a:srgbClr val="FFFFFF"/>
                    </a:solidFill>
                  </a:tcPr>
                </a:tc>
              </a:tr>
              <a:tr h="384048">
                <a:tc>
                  <a:txBody>
                    <a:bodyPr wrap="square"/>
                    <a:lstStyle/>
                    <a:p>
                      <a:r>
                        <a:rPr sz="1300" b="1">
                          <a:solidFill>
                            <a:srgbClr val="172033"/>
                          </a:solidFill>
                          <a:latin typeface="Calibri"/>
                        </a:rPr>
                        <a:t>Age</a:t>
                      </a:r>
                    </a:p>
                  </a:txBody>
                  <a:tcPr marL="73152" marR="73152" marT="27432" marB="27432" anchor="ctr">
                    <a:solidFill>
                      <a:srgbClr val="EEF2F8"/>
                    </a:solidFill>
                  </a:tcPr>
                </a:tc>
                <a:tc>
                  <a:txBody>
                    <a:bodyPr wrap="square"/>
                    <a:lstStyle/>
                    <a:p>
                      <a:r>
                        <a:rPr sz="1300" b="0">
                          <a:solidFill>
                            <a:srgbClr val="172033"/>
                          </a:solidFill>
                          <a:latin typeface="Calibri"/>
                        </a:rPr>
                        <a:t>Age at the t0 scan</a:t>
                      </a:r>
                    </a:p>
                  </a:txBody>
                  <a:tcPr marL="73152" marR="73152" marT="27432" marB="27432" anchor="ctr">
                    <a:solidFill>
                      <a:srgbClr val="EEF2F8"/>
                    </a:solidFill>
                  </a:tcPr>
                </a:tc>
                <a:tc>
                  <a:txBody>
                    <a:bodyPr wrap="square"/>
                    <a:lstStyle/>
                    <a:p>
                      <a:r>
                        <a:rPr sz="1300" b="0">
                          <a:solidFill>
                            <a:srgbClr val="172033"/>
                          </a:solidFill>
                          <a:latin typeface="Calibri"/>
                        </a:rPr>
                        <a:t>25–90 years, median 70</a:t>
                      </a:r>
                    </a:p>
                  </a:txBody>
                  <a:tcPr marL="73152" marR="73152" marT="27432" marB="27432" anchor="ctr">
                    <a:solidFill>
                      <a:srgbClr val="EEF2F8"/>
                    </a:solidFill>
                  </a:tcPr>
                </a:tc>
                <a:tc>
                  <a:txBody>
                    <a:bodyPr wrap="square"/>
                    <a:lstStyle/>
                    <a:p>
                      <a:r>
                        <a:rPr sz="1300" b="0">
                          <a:solidFill>
                            <a:srgbClr val="172033"/>
                          </a:solidFill>
                          <a:latin typeface="Calibri"/>
                        </a:rPr>
                        <a:t>t0</a:t>
                      </a:r>
                    </a:p>
                  </a:txBody>
                  <a:tcPr marL="73152" marR="73152" marT="27432" marB="27432" anchor="ctr">
                    <a:solidFill>
                      <a:srgbClr val="EEF2F8"/>
                    </a:solidFill>
                  </a:tcPr>
                </a:tc>
              </a:tr>
              <a:tr h="384048">
                <a:tc>
                  <a:txBody>
                    <a:bodyPr wrap="square"/>
                    <a:lstStyle/>
                    <a:p>
                      <a:r>
                        <a:rPr sz="1300" b="1">
                          <a:solidFill>
                            <a:srgbClr val="172033"/>
                          </a:solidFill>
                          <a:latin typeface="Calibri"/>
                        </a:rPr>
                        <a:t>Sex</a:t>
                      </a:r>
                    </a:p>
                  </a:txBody>
                  <a:tcPr marL="73152" marR="73152" marT="27432" marB="27432" anchor="ctr">
                    <a:solidFill>
                      <a:srgbClr val="FFFFFF"/>
                    </a:solidFill>
                  </a:tcPr>
                </a:tc>
                <a:tc>
                  <a:txBody>
                    <a:bodyPr wrap="square"/>
                    <a:lstStyle/>
                    <a:p>
                      <a:r>
                        <a:rPr sz="1300" b="0">
                          <a:solidFill>
                            <a:srgbClr val="172033"/>
                          </a:solidFill>
                          <a:latin typeface="Calibri"/>
                        </a:rPr>
                        <a:t>Female or male</a:t>
                      </a:r>
                    </a:p>
                  </a:txBody>
                  <a:tcPr marL="73152" marR="73152" marT="27432" marB="27432" anchor="ctr">
                    <a:solidFill>
                      <a:srgbClr val="FFFFFF"/>
                    </a:solidFill>
                  </a:tcPr>
                </a:tc>
                <a:tc>
                  <a:txBody>
                    <a:bodyPr wrap="square"/>
                    <a:lstStyle/>
                    <a:p>
                      <a:r>
                        <a:rPr sz="1300" b="0">
                          <a:solidFill>
                            <a:srgbClr val="172033"/>
                          </a:solidFill>
                          <a:latin typeface="Calibri"/>
                        </a:rPr>
                        <a:t>106 women, 158 men</a:t>
                      </a:r>
                    </a:p>
                  </a:txBody>
                  <a:tcPr marL="73152" marR="73152" marT="27432" marB="27432" anchor="ctr">
                    <a:solidFill>
                      <a:srgbClr val="FFFFFF"/>
                    </a:solidFill>
                  </a:tcPr>
                </a:tc>
                <a:tc>
                  <a:txBody>
                    <a:bodyPr wrap="square"/>
                    <a:lstStyle/>
                    <a:p>
                      <a:r>
                        <a:rPr sz="1300" b="0">
                          <a:solidFill>
                            <a:srgbClr val="172033"/>
                          </a:solidFill>
                          <a:latin typeface="Calibri"/>
                        </a:rPr>
                        <a:t>t0</a:t>
                      </a:r>
                    </a:p>
                  </a:txBody>
                  <a:tcPr marL="73152" marR="73152" marT="27432" marB="27432" anchor="ctr">
                    <a:solidFill>
                      <a:srgbClr val="FFFFFF"/>
                    </a:solidFill>
                  </a:tcPr>
                </a:tc>
              </a:tr>
              <a:tr h="384048">
                <a:tc>
                  <a:txBody>
                    <a:bodyPr wrap="square"/>
                    <a:lstStyle/>
                    <a:p>
                      <a:r>
                        <a:rPr sz="1300" b="1">
                          <a:solidFill>
                            <a:srgbClr val="172033"/>
                          </a:solidFill>
                          <a:latin typeface="Calibri"/>
                        </a:rPr>
                        <a:t>Height, weight, BMI</a:t>
                      </a:r>
                    </a:p>
                  </a:txBody>
                  <a:tcPr marL="73152" marR="73152" marT="27432" marB="27432" anchor="ctr">
                    <a:solidFill>
                      <a:srgbClr val="EEF2F8"/>
                    </a:solidFill>
                  </a:tcPr>
                </a:tc>
                <a:tc>
                  <a:txBody>
                    <a:bodyPr wrap="square"/>
                    <a:lstStyle/>
                    <a:p>
                      <a:r>
                        <a:rPr sz="1300" b="0">
                          <a:solidFill>
                            <a:srgbClr val="172033"/>
                          </a:solidFill>
                          <a:latin typeface="Calibri"/>
                        </a:rPr>
                        <a:t>Body size; BMI = weight (kg) ÷ height (m)²</a:t>
                      </a:r>
                    </a:p>
                  </a:txBody>
                  <a:tcPr marL="73152" marR="73152" marT="27432" marB="27432" anchor="ctr">
                    <a:solidFill>
                      <a:srgbClr val="EEF2F8"/>
                    </a:solidFill>
                  </a:tcPr>
                </a:tc>
                <a:tc>
                  <a:txBody>
                    <a:bodyPr wrap="square"/>
                    <a:lstStyle/>
                    <a:p>
                      <a:r>
                        <a:rPr sz="1300" b="0">
                          <a:solidFill>
                            <a:srgbClr val="172033"/>
                          </a:solidFill>
                          <a:latin typeface="Calibri"/>
                        </a:rPr>
                        <a:t>BMI median 25</a:t>
                      </a:r>
                    </a:p>
                  </a:txBody>
                  <a:tcPr marL="73152" marR="73152" marT="27432" marB="27432" anchor="ctr">
                    <a:solidFill>
                      <a:srgbClr val="EEF2F8"/>
                    </a:solidFill>
                  </a:tcPr>
                </a:tc>
                <a:tc>
                  <a:txBody>
                    <a:bodyPr wrap="square"/>
                    <a:lstStyle/>
                    <a:p>
                      <a:r>
                        <a:rPr sz="1300" b="0">
                          <a:solidFill>
                            <a:srgbClr val="172033"/>
                          </a:solidFill>
                          <a:latin typeface="Calibri"/>
                        </a:rPr>
                        <a:t>t0</a:t>
                      </a:r>
                    </a:p>
                  </a:txBody>
                  <a:tcPr marL="73152" marR="73152" marT="27432" marB="27432" anchor="ctr">
                    <a:solidFill>
                      <a:srgbClr val="EEF2F8"/>
                    </a:solidFill>
                  </a:tcPr>
                </a:tc>
              </a:tr>
              <a:tr h="384048">
                <a:tc>
                  <a:txBody>
                    <a:bodyPr wrap="square"/>
                    <a:lstStyle/>
                    <a:p>
                      <a:r>
                        <a:rPr sz="1300" b="1">
                          <a:solidFill>
                            <a:srgbClr val="172033"/>
                          </a:solidFill>
                          <a:latin typeface="Calibri"/>
                        </a:rPr>
                        <a:t>Performance status (PS)</a:t>
                      </a:r>
                    </a:p>
                  </a:txBody>
                  <a:tcPr marL="73152" marR="73152" marT="27432" marB="27432" anchor="ctr">
                    <a:solidFill>
                      <a:srgbClr val="FFFFFF"/>
                    </a:solidFill>
                  </a:tcPr>
                </a:tc>
                <a:tc>
                  <a:txBody>
                    <a:bodyPr wrap="square"/>
                    <a:lstStyle/>
                    <a:p>
                      <a:r>
                        <a:rPr sz="1300" b="0">
                          <a:solidFill>
                            <a:srgbClr val="172033"/>
                          </a:solidFill>
                          <a:latin typeface="Calibri"/>
                        </a:rPr>
                        <a:t>Fitness score: 0 = fully active … 4 = bedbound</a:t>
                      </a:r>
                    </a:p>
                  </a:txBody>
                  <a:tcPr marL="73152" marR="73152" marT="27432" marB="27432" anchor="ctr">
                    <a:solidFill>
                      <a:srgbClr val="FFFFFF"/>
                    </a:solidFill>
                  </a:tcPr>
                </a:tc>
                <a:tc>
                  <a:txBody>
                    <a:bodyPr wrap="square"/>
                    <a:lstStyle/>
                    <a:p>
                      <a:r>
                        <a:rPr sz="1300" b="0">
                          <a:solidFill>
                            <a:srgbClr val="172033"/>
                          </a:solidFill>
                          <a:latin typeface="Calibri"/>
                        </a:rPr>
                        <a:t>0 to 3</a:t>
                      </a:r>
                    </a:p>
                  </a:txBody>
                  <a:tcPr marL="73152" marR="73152" marT="27432" marB="27432" anchor="ctr">
                    <a:solidFill>
                      <a:srgbClr val="FFFFFF"/>
                    </a:solidFill>
                  </a:tcPr>
                </a:tc>
                <a:tc>
                  <a:txBody>
                    <a:bodyPr wrap="square"/>
                    <a:lstStyle/>
                    <a:p>
                      <a:r>
                        <a:rPr sz="1300" b="0">
                          <a:solidFill>
                            <a:srgbClr val="172033"/>
                          </a:solidFill>
                          <a:latin typeface="Calibri"/>
                        </a:rPr>
                        <a:t>t0</a:t>
                      </a:r>
                    </a:p>
                  </a:txBody>
                  <a:tcPr marL="73152" marR="73152" marT="27432" marB="27432" anchor="ctr">
                    <a:solidFill>
                      <a:srgbClr val="FFFFFF"/>
                    </a:solidFill>
                  </a:tcPr>
                </a:tc>
              </a:tr>
              <a:tr h="384048">
                <a:tc>
                  <a:txBody>
                    <a:bodyPr wrap="square"/>
                    <a:lstStyle/>
                    <a:p>
                      <a:r>
                        <a:rPr sz="1300" b="1">
                          <a:solidFill>
                            <a:srgbClr val="172033"/>
                          </a:solidFill>
                          <a:latin typeface="Calibri"/>
                        </a:rPr>
                        <a:t>WHO edition</a:t>
                      </a:r>
                    </a:p>
                  </a:txBody>
                  <a:tcPr marL="73152" marR="73152" marT="27432" marB="27432" anchor="ctr">
                    <a:solidFill>
                      <a:srgbClr val="EEF2F8"/>
                    </a:solidFill>
                  </a:tcPr>
                </a:tc>
                <a:tc>
                  <a:txBody>
                    <a:bodyPr wrap="square"/>
                    <a:lstStyle/>
                    <a:p>
                      <a:r>
                        <a:rPr sz="1300" b="0">
                          <a:solidFill>
                            <a:srgbClr val="172033"/>
                          </a:solidFill>
                          <a:latin typeface="Calibri"/>
                        </a:rPr>
                        <a:t>Rulebook used for the diagnosis: 2016 or 2021</a:t>
                      </a:r>
                    </a:p>
                  </a:txBody>
                  <a:tcPr marL="73152" marR="73152" marT="27432" marB="27432" anchor="ctr">
                    <a:solidFill>
                      <a:srgbClr val="EEF2F8"/>
                    </a:solidFill>
                  </a:tcPr>
                </a:tc>
                <a:tc>
                  <a:txBody>
                    <a:bodyPr wrap="square"/>
                    <a:lstStyle/>
                    <a:p>
                      <a:r>
                        <a:rPr sz="1300" b="0">
                          <a:solidFill>
                            <a:srgbClr val="172033"/>
                          </a:solidFill>
                          <a:latin typeface="Calibri"/>
                        </a:rPr>
                        <a:t>185 vs 79</a:t>
                      </a:r>
                    </a:p>
                  </a:txBody>
                  <a:tcPr marL="73152" marR="73152" marT="27432" marB="27432" anchor="ctr">
                    <a:solidFill>
                      <a:srgbClr val="EEF2F8"/>
                    </a:solidFill>
                  </a:tcPr>
                </a:tc>
                <a:tc>
                  <a:txBody>
                    <a:bodyPr wrap="square"/>
                    <a:lstStyle/>
                    <a:p>
                      <a:r>
                        <a:rPr sz="1300" b="0">
                          <a:solidFill>
                            <a:srgbClr val="172033"/>
                          </a:solidFill>
                          <a:latin typeface="Calibri"/>
                        </a:rPr>
                        <a:t>t0</a:t>
                      </a:r>
                    </a:p>
                  </a:txBody>
                  <a:tcPr marL="73152" marR="73152" marT="27432" marB="27432" anchor="ctr">
                    <a:solidFill>
                      <a:srgbClr val="EEF2F8"/>
                    </a:solidFill>
                  </a:tcPr>
                </a:tc>
              </a:tr>
              <a:tr h="384048">
                <a:tc>
                  <a:txBody>
                    <a:bodyPr wrap="square"/>
                    <a:lstStyle/>
                    <a:p>
                      <a:r>
                        <a:rPr sz="1300" b="1">
                          <a:solidFill>
                            <a:srgbClr val="172033"/>
                          </a:solidFill>
                          <a:latin typeface="Calibri"/>
                        </a:rPr>
                        <a:t>Radiotherapy schedule</a:t>
                      </a:r>
                    </a:p>
                  </a:txBody>
                  <a:tcPr marL="73152" marR="73152" marT="27432" marB="27432" anchor="ctr">
                    <a:solidFill>
                      <a:srgbClr val="FFFFFF"/>
                    </a:solidFill>
                  </a:tcPr>
                </a:tc>
                <a:tc>
                  <a:txBody>
                    <a:bodyPr wrap="square"/>
                    <a:lstStyle/>
                    <a:p>
                      <a:r>
                        <a:rPr sz="1300" b="0">
                          <a:solidFill>
                            <a:srgbClr val="172033"/>
                          </a:solidFill>
                          <a:latin typeface="Calibri"/>
                        </a:rPr>
                        <a:t>60 Gy in 30 sessions, or 40 Gy in 15 sessions</a:t>
                      </a:r>
                    </a:p>
                  </a:txBody>
                  <a:tcPr marL="73152" marR="73152" marT="27432" marB="27432" anchor="ctr">
                    <a:solidFill>
                      <a:srgbClr val="FFFFFF"/>
                    </a:solidFill>
                  </a:tcPr>
                </a:tc>
                <a:tc>
                  <a:txBody>
                    <a:bodyPr wrap="square"/>
                    <a:lstStyle/>
                    <a:p>
                      <a:r>
                        <a:rPr sz="1300" b="0">
                          <a:solidFill>
                            <a:srgbClr val="172033"/>
                          </a:solidFill>
                          <a:latin typeface="Calibri"/>
                        </a:rPr>
                        <a:t>130 / 64 / 70 unknown</a:t>
                      </a:r>
                    </a:p>
                  </a:txBody>
                  <a:tcPr marL="73152" marR="73152" marT="27432" marB="27432" anchor="ctr">
                    <a:solidFill>
                      <a:srgbClr val="FFFFFF"/>
                    </a:solidFill>
                  </a:tcPr>
                </a:tc>
                <a:tc>
                  <a:txBody>
                    <a:bodyPr wrap="square"/>
                    <a:lstStyle/>
                    <a:p>
                      <a:r>
                        <a:rPr sz="1300" b="0">
                          <a:solidFill>
                            <a:srgbClr val="172033"/>
                          </a:solidFill>
                          <a:latin typeface="Calibri"/>
                        </a:rPr>
                        <a:t>planned at t0</a:t>
                      </a:r>
                    </a:p>
                  </a:txBody>
                  <a:tcPr marL="73152" marR="73152" marT="27432" marB="27432" anchor="ctr">
                    <a:solidFill>
                      <a:srgbClr val="FFFFFF"/>
                    </a:solidFill>
                  </a:tcPr>
                </a:tc>
              </a:tr>
              <a:tr h="384048">
                <a:tc>
                  <a:txBody>
                    <a:bodyPr wrap="square"/>
                    <a:lstStyle/>
                    <a:p>
                      <a:r>
                        <a:rPr sz="1300" b="1">
                          <a:solidFill>
                            <a:srgbClr val="172033"/>
                          </a:solidFill>
                          <a:latin typeface="Calibri"/>
                        </a:rPr>
                        <a:t>Delay to radiotherapy</a:t>
                      </a:r>
                    </a:p>
                  </a:txBody>
                  <a:tcPr marL="73152" marR="73152" marT="27432" marB="27432" anchor="ctr">
                    <a:solidFill>
                      <a:srgbClr val="EEF2F8"/>
                    </a:solidFill>
                  </a:tcPr>
                </a:tc>
                <a:tc>
                  <a:txBody>
                    <a:bodyPr wrap="square"/>
                    <a:lstStyle/>
                    <a:p>
                      <a:r>
                        <a:rPr sz="1300" b="0">
                          <a:solidFill>
                            <a:srgbClr val="172033"/>
                          </a:solidFill>
                          <a:latin typeface="Calibri"/>
                        </a:rPr>
                        <a:t>Weeks from t0 to the first session</a:t>
                      </a:r>
                    </a:p>
                  </a:txBody>
                  <a:tcPr marL="73152" marR="73152" marT="27432" marB="27432" anchor="ctr">
                    <a:solidFill>
                      <a:srgbClr val="EEF2F8"/>
                    </a:solidFill>
                  </a:tcPr>
                </a:tc>
                <a:tc>
                  <a:txBody>
                    <a:bodyPr wrap="square"/>
                    <a:lstStyle/>
                    <a:p>
                      <a:r>
                        <a:rPr sz="1300" b="0">
                          <a:solidFill>
                            <a:srgbClr val="172033"/>
                          </a:solidFill>
                          <a:latin typeface="Calibri"/>
                        </a:rPr>
                        <a:t>0–8 weeks</a:t>
                      </a:r>
                    </a:p>
                  </a:txBody>
                  <a:tcPr marL="73152" marR="73152" marT="27432" marB="27432" anchor="ctr">
                    <a:solidFill>
                      <a:srgbClr val="EEF2F8"/>
                    </a:solidFill>
                  </a:tcPr>
                </a:tc>
                <a:tc>
                  <a:txBody>
                    <a:bodyPr wrap="square"/>
                    <a:lstStyle/>
                    <a:p>
                      <a:r>
                        <a:rPr sz="1300" b="0">
                          <a:solidFill>
                            <a:srgbClr val="172033"/>
                          </a:solidFill>
                          <a:latin typeface="Calibri"/>
                        </a:rPr>
                        <a:t>RT start</a:t>
                      </a:r>
                    </a:p>
                  </a:txBody>
                  <a:tcPr marL="73152" marR="73152" marT="27432" marB="27432" anchor="ctr">
                    <a:solidFill>
                      <a:srgbClr val="EEF2F8"/>
                    </a:solidFill>
                  </a:tcPr>
                </a:tc>
              </a:tr>
              <a:tr h="384048">
                <a:tc>
                  <a:txBody>
                    <a:bodyPr wrap="square"/>
                    <a:lstStyle/>
                    <a:p>
                      <a:r>
                        <a:rPr sz="1300" b="1">
                          <a:solidFill>
                            <a:srgbClr val="172033"/>
                          </a:solidFill>
                          <a:latin typeface="Calibri"/>
                        </a:rPr>
                        <a:t>Tumour volume</a:t>
                      </a:r>
                    </a:p>
                  </a:txBody>
                  <a:tcPr marL="73152" marR="73152" marT="27432" marB="27432" anchor="ctr">
                    <a:solidFill>
                      <a:srgbClr val="FFFFFF"/>
                    </a:solidFill>
                  </a:tcPr>
                </a:tc>
                <a:tc>
                  <a:txBody>
                    <a:bodyPr wrap="square"/>
                    <a:lstStyle/>
                    <a:p>
                      <a:r>
                        <a:rPr sz="1300" b="0">
                          <a:solidFill>
                            <a:srgbClr val="172033"/>
                          </a:solidFill>
                          <a:latin typeface="Calibri"/>
                        </a:rPr>
                        <a:t>Size of the outlined tumour</a:t>
                      </a:r>
                    </a:p>
                  </a:txBody>
                  <a:tcPr marL="73152" marR="73152" marT="27432" marB="27432" anchor="ctr">
                    <a:solidFill>
                      <a:srgbClr val="FFFFFF"/>
                    </a:solidFill>
                  </a:tcPr>
                </a:tc>
                <a:tc>
                  <a:txBody>
                    <a:bodyPr wrap="square"/>
                    <a:lstStyle/>
                    <a:p>
                      <a:r>
                        <a:rPr sz="1300" b="0">
                          <a:solidFill>
                            <a:srgbClr val="172033"/>
                          </a:solidFill>
                          <a:latin typeface="Calibri"/>
                        </a:rPr>
                        <a:t>1–181 cm³, median 37</a:t>
                      </a:r>
                    </a:p>
                  </a:txBody>
                  <a:tcPr marL="73152" marR="73152" marT="27432" marB="27432" anchor="ctr">
                    <a:solidFill>
                      <a:srgbClr val="FFFFFF"/>
                    </a:solidFill>
                  </a:tcPr>
                </a:tc>
                <a:tc>
                  <a:txBody>
                    <a:bodyPr wrap="square"/>
                    <a:lstStyle/>
                    <a:p>
                      <a:r>
                        <a:rPr sz="1300" b="0">
                          <a:solidFill>
                            <a:srgbClr val="172033"/>
                          </a:solidFill>
                          <a:latin typeface="Calibri"/>
                        </a:rPr>
                        <a:t>t0</a:t>
                      </a:r>
                    </a:p>
                  </a:txBody>
                  <a:tcPr marL="73152" marR="73152" marT="27432" marB="27432" anchor="ctr">
                    <a:solidFill>
                      <a:srgbClr val="FFFFFF"/>
                    </a:solidFill>
                  </a:tcPr>
                </a:tc>
              </a:tr>
              <a:tr h="384048">
                <a:tc>
                  <a:txBody>
                    <a:bodyPr wrap="square"/>
                    <a:lstStyle/>
                    <a:p>
                      <a:r>
                        <a:rPr sz="1300" b="1">
                          <a:solidFill>
                            <a:srgbClr val="172033"/>
                          </a:solidFill>
                          <a:latin typeface="Calibri"/>
                        </a:rPr>
                        <a:t>Radiomic features</a:t>
                      </a:r>
                    </a:p>
                  </a:txBody>
                  <a:tcPr marL="73152" marR="73152" marT="27432" marB="27432" anchor="ctr">
                    <a:solidFill>
                      <a:srgbClr val="EEF2F8"/>
                    </a:solidFill>
                  </a:tcPr>
                </a:tc>
                <a:tc>
                  <a:txBody>
                    <a:bodyPr wrap="square"/>
                    <a:lstStyle/>
                    <a:p>
                      <a:r>
                        <a:rPr sz="1300" b="0">
                          <a:solidFill>
                            <a:srgbClr val="172033"/>
                          </a:solidFill>
                          <a:latin typeface="Calibri"/>
                        </a:rPr>
                        <a:t>107 numbers on shape, brightness, texture</a:t>
                      </a:r>
                    </a:p>
                  </a:txBody>
                  <a:tcPr marL="73152" marR="73152" marT="27432" marB="27432" anchor="ctr">
                    <a:solidFill>
                      <a:srgbClr val="EEF2F8"/>
                    </a:solidFill>
                  </a:tcPr>
                </a:tc>
                <a:tc>
                  <a:txBody>
                    <a:bodyPr wrap="square"/>
                    <a:lstStyle/>
                    <a:p>
                      <a:r>
                        <a:rPr sz="1300" b="0">
                          <a:solidFill>
                            <a:srgbClr val="172033"/>
                          </a:solidFill>
                          <a:latin typeface="Calibri"/>
                        </a:rPr>
                        <a:t>T1-Gd and FLAIR used</a:t>
                      </a:r>
                    </a:p>
                  </a:txBody>
                  <a:tcPr marL="73152" marR="73152" marT="27432" marB="27432" anchor="ctr">
                    <a:solidFill>
                      <a:srgbClr val="EEF2F8"/>
                    </a:solidFill>
                  </a:tcPr>
                </a:tc>
                <a:tc>
                  <a:txBody>
                    <a:bodyPr wrap="square"/>
                    <a:lstStyle/>
                    <a:p>
                      <a:r>
                        <a:rPr sz="1300" b="0">
                          <a:solidFill>
                            <a:srgbClr val="172033"/>
                          </a:solidFill>
                          <a:latin typeface="Calibri"/>
                        </a:rPr>
                        <a:t>t0</a:t>
                      </a:r>
                    </a:p>
                  </a:txBody>
                  <a:tcPr marL="73152" marR="73152" marT="27432" marB="27432" anchor="ctr">
                    <a:solidFill>
                      <a:srgbClr val="EEF2F8"/>
                    </a:solidFill>
                  </a:tcPr>
                </a:tc>
              </a:tr>
              <a:tr h="384048">
                <a:tc>
                  <a:txBody>
                    <a:bodyPr wrap="square"/>
                    <a:lstStyle/>
                    <a:p>
                      <a:r>
                        <a:rPr sz="1300" b="1">
                          <a:solidFill>
                            <a:srgbClr val="172033"/>
                          </a:solidFill>
                          <a:latin typeface="Calibri"/>
                        </a:rPr>
                        <a:t>RANO response</a:t>
                      </a:r>
                    </a:p>
                  </a:txBody>
                  <a:tcPr marL="73152" marR="73152" marT="27432" marB="27432" anchor="ctr">
                    <a:solidFill>
                      <a:srgbClr val="FFFFFF"/>
                    </a:solidFill>
                  </a:tcPr>
                </a:tc>
                <a:tc>
                  <a:txBody>
                    <a:bodyPr wrap="square"/>
                    <a:lstStyle/>
                    <a:p>
                      <a:r>
                        <a:rPr sz="1300" b="0">
                          <a:solidFill>
                            <a:srgbClr val="172033"/>
                          </a:solidFill>
                          <a:latin typeface="Calibri"/>
                        </a:rPr>
                        <a:t>Did the tumour shrink or grow?</a:t>
                      </a:r>
                    </a:p>
                  </a:txBody>
                  <a:tcPr marL="73152" marR="73152" marT="27432" marB="27432" anchor="ctr">
                    <a:solidFill>
                      <a:srgbClr val="FFFFFF"/>
                    </a:solidFill>
                  </a:tcPr>
                </a:tc>
                <a:tc>
                  <a:txBody>
                    <a:bodyPr wrap="square"/>
                    <a:lstStyle/>
                    <a:p>
                      <a:r>
                        <a:rPr sz="1300" b="0">
                          <a:solidFill>
                            <a:srgbClr val="172033"/>
                          </a:solidFill>
                          <a:latin typeface="Calibri"/>
                        </a:rPr>
                        <a:t>4 categories</a:t>
                      </a:r>
                    </a:p>
                  </a:txBody>
                  <a:tcPr marL="73152" marR="73152" marT="27432" marB="27432" anchor="ctr">
                    <a:solidFill>
                      <a:srgbClr val="FFFFFF"/>
                    </a:solidFill>
                  </a:tcPr>
                </a:tc>
                <a:tc>
                  <a:txBody>
                    <a:bodyPr wrap="square"/>
                    <a:lstStyle/>
                    <a:p>
                      <a:r>
                        <a:rPr sz="1300" b="0">
                          <a:solidFill>
                            <a:srgbClr val="172033"/>
                          </a:solidFill>
                          <a:latin typeface="Calibri"/>
                        </a:rPr>
                        <a:t>t1, t2</a:t>
                      </a:r>
                    </a:p>
                  </a:txBody>
                  <a:tcPr marL="73152" marR="73152"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Fitness: WHO performance status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Less fit patients (PS 2–3) live about half as long</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7</a:t>
            </a:r>
          </a:p>
        </p:txBody>
      </p:sp>
      <p:sp>
        <p:nvSpPr>
          <p:cNvPr id="6" name="TextBox 5"/>
          <p:cNvSpPr txBox="1"/>
          <p:nvPr/>
        </p:nvSpPr>
        <p:spPr>
          <a:xfrm>
            <a:off x="548640" y="1691640"/>
            <a:ext cx="4572000" cy="36576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The score (0 = best)</a:t>
            </a:r>
          </a:p>
        </p:txBody>
      </p:sp>
      <p:sp>
        <p:nvSpPr>
          <p:cNvPr id="7" name="Oval 6"/>
          <p:cNvSpPr/>
          <p:nvPr/>
        </p:nvSpPr>
        <p:spPr>
          <a:xfrm>
            <a:off x="548640" y="2194560"/>
            <a:ext cx="548640" cy="5486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700" b="1">
                <a:solidFill>
                  <a:srgbClr val="FFFFFF"/>
                </a:solidFill>
                <a:latin typeface="Calibri"/>
              </a:rPr>
              <a:t>0</a:t>
            </a:r>
          </a:p>
        </p:txBody>
      </p:sp>
      <p:sp>
        <p:nvSpPr>
          <p:cNvPr id="8" name="TextBox 7"/>
          <p:cNvSpPr txBox="1"/>
          <p:nvPr/>
        </p:nvSpPr>
        <p:spPr>
          <a:xfrm>
            <a:off x="1280160" y="2258568"/>
            <a:ext cx="3566160" cy="457200"/>
          </a:xfrm>
          <a:prstGeom prst="rect">
            <a:avLst/>
          </a:prstGeom>
          <a:noFill/>
        </p:spPr>
        <p:txBody>
          <a:bodyPr wrap="square" anchor="t" lIns="36576" rIns="36576" tIns="18288" bIns="18288">
            <a:spAutoFit/>
          </a:bodyPr>
          <a:lstStyle/>
          <a:p>
            <a:pPr algn="l">
              <a:spcAft>
                <a:spcPts val="600"/>
              </a:spcAft>
            </a:pPr>
            <a:r>
              <a:rPr sz="1600" b="0" i="0">
                <a:solidFill>
                  <a:srgbClr val="172033"/>
                </a:solidFill>
                <a:latin typeface="Calibri"/>
              </a:rPr>
              <a:t>Fully active</a:t>
            </a:r>
          </a:p>
        </p:txBody>
      </p:sp>
      <p:sp>
        <p:nvSpPr>
          <p:cNvPr id="9" name="Oval 8"/>
          <p:cNvSpPr/>
          <p:nvPr/>
        </p:nvSpPr>
        <p:spPr>
          <a:xfrm>
            <a:off x="548640" y="2944368"/>
            <a:ext cx="548640" cy="5486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700" b="1">
                <a:solidFill>
                  <a:srgbClr val="FFFFFF"/>
                </a:solidFill>
                <a:latin typeface="Calibri"/>
              </a:rPr>
              <a:t>1</a:t>
            </a:r>
          </a:p>
        </p:txBody>
      </p:sp>
      <p:sp>
        <p:nvSpPr>
          <p:cNvPr id="10" name="TextBox 9"/>
          <p:cNvSpPr txBox="1"/>
          <p:nvPr/>
        </p:nvSpPr>
        <p:spPr>
          <a:xfrm>
            <a:off x="1280160" y="3008375"/>
            <a:ext cx="3566160" cy="457200"/>
          </a:xfrm>
          <a:prstGeom prst="rect">
            <a:avLst/>
          </a:prstGeom>
          <a:noFill/>
        </p:spPr>
        <p:txBody>
          <a:bodyPr wrap="square" anchor="t" lIns="36576" rIns="36576" tIns="18288" bIns="18288">
            <a:spAutoFit/>
          </a:bodyPr>
          <a:lstStyle/>
          <a:p>
            <a:pPr algn="l">
              <a:spcAft>
                <a:spcPts val="600"/>
              </a:spcAft>
            </a:pPr>
            <a:r>
              <a:rPr sz="1600" b="0" i="0">
                <a:solidFill>
                  <a:srgbClr val="172033"/>
                </a:solidFill>
                <a:latin typeface="Calibri"/>
              </a:rPr>
              <a:t>Symptoms, but walking around</a:t>
            </a:r>
          </a:p>
        </p:txBody>
      </p:sp>
      <p:sp>
        <p:nvSpPr>
          <p:cNvPr id="11" name="Oval 10"/>
          <p:cNvSpPr/>
          <p:nvPr/>
        </p:nvSpPr>
        <p:spPr>
          <a:xfrm>
            <a:off x="548640" y="3694176"/>
            <a:ext cx="548640" cy="548640"/>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700" b="1">
                <a:solidFill>
                  <a:srgbClr val="FFFFFF"/>
                </a:solidFill>
                <a:latin typeface="Calibri"/>
              </a:rPr>
              <a:t>2</a:t>
            </a:r>
          </a:p>
        </p:txBody>
      </p:sp>
      <p:sp>
        <p:nvSpPr>
          <p:cNvPr id="12" name="TextBox 11"/>
          <p:cNvSpPr txBox="1"/>
          <p:nvPr/>
        </p:nvSpPr>
        <p:spPr>
          <a:xfrm>
            <a:off x="1280160" y="3758184"/>
            <a:ext cx="3566160" cy="457200"/>
          </a:xfrm>
          <a:prstGeom prst="rect">
            <a:avLst/>
          </a:prstGeom>
          <a:noFill/>
        </p:spPr>
        <p:txBody>
          <a:bodyPr wrap="square" anchor="t" lIns="36576" rIns="36576" tIns="18288" bIns="18288">
            <a:spAutoFit/>
          </a:bodyPr>
          <a:lstStyle/>
          <a:p>
            <a:pPr algn="l">
              <a:spcAft>
                <a:spcPts val="600"/>
              </a:spcAft>
            </a:pPr>
            <a:r>
              <a:rPr sz="1600" b="0" i="0">
                <a:solidFill>
                  <a:srgbClr val="172033"/>
                </a:solidFill>
                <a:latin typeface="Calibri"/>
              </a:rPr>
              <a:t>In bed &lt; 50% of the day</a:t>
            </a:r>
          </a:p>
        </p:txBody>
      </p:sp>
      <p:sp>
        <p:nvSpPr>
          <p:cNvPr id="13" name="Oval 12"/>
          <p:cNvSpPr/>
          <p:nvPr/>
        </p:nvSpPr>
        <p:spPr>
          <a:xfrm>
            <a:off x="548640" y="4443983"/>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700" b="1">
                <a:solidFill>
                  <a:srgbClr val="FFFFFF"/>
                </a:solidFill>
                <a:latin typeface="Calibri"/>
              </a:rPr>
              <a:t>3</a:t>
            </a:r>
          </a:p>
        </p:txBody>
      </p:sp>
      <p:sp>
        <p:nvSpPr>
          <p:cNvPr id="14" name="TextBox 13"/>
          <p:cNvSpPr txBox="1"/>
          <p:nvPr/>
        </p:nvSpPr>
        <p:spPr>
          <a:xfrm>
            <a:off x="1280160" y="4507992"/>
            <a:ext cx="3566160" cy="457200"/>
          </a:xfrm>
          <a:prstGeom prst="rect">
            <a:avLst/>
          </a:prstGeom>
          <a:noFill/>
        </p:spPr>
        <p:txBody>
          <a:bodyPr wrap="square" anchor="t" lIns="36576" rIns="36576" tIns="18288" bIns="18288">
            <a:spAutoFit/>
          </a:bodyPr>
          <a:lstStyle/>
          <a:p>
            <a:pPr algn="l">
              <a:spcAft>
                <a:spcPts val="600"/>
              </a:spcAft>
            </a:pPr>
            <a:r>
              <a:rPr sz="1600" b="0" i="0">
                <a:solidFill>
                  <a:srgbClr val="172033"/>
                </a:solidFill>
                <a:latin typeface="Calibri"/>
              </a:rPr>
              <a:t>In bed &gt; 50% of the day</a:t>
            </a:r>
          </a:p>
        </p:txBody>
      </p:sp>
      <p:sp>
        <p:nvSpPr>
          <p:cNvPr id="15" name="Oval 14"/>
          <p:cNvSpPr/>
          <p:nvPr/>
        </p:nvSpPr>
        <p:spPr>
          <a:xfrm>
            <a:off x="548640" y="5193792"/>
            <a:ext cx="548640" cy="54864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700" b="1">
                <a:solidFill>
                  <a:srgbClr val="FFFFFF"/>
                </a:solidFill>
                <a:latin typeface="Calibri"/>
              </a:rPr>
              <a:t>4</a:t>
            </a:r>
          </a:p>
        </p:txBody>
      </p:sp>
      <p:sp>
        <p:nvSpPr>
          <p:cNvPr id="16" name="TextBox 15"/>
          <p:cNvSpPr txBox="1"/>
          <p:nvPr/>
        </p:nvSpPr>
        <p:spPr>
          <a:xfrm>
            <a:off x="1280160" y="5257800"/>
            <a:ext cx="3566160" cy="457200"/>
          </a:xfrm>
          <a:prstGeom prst="rect">
            <a:avLst/>
          </a:prstGeom>
          <a:noFill/>
        </p:spPr>
        <p:txBody>
          <a:bodyPr wrap="square" anchor="t" lIns="36576" rIns="36576" tIns="18288" bIns="18288">
            <a:spAutoFit/>
          </a:bodyPr>
          <a:lstStyle/>
          <a:p>
            <a:pPr algn="l">
              <a:spcAft>
                <a:spcPts val="600"/>
              </a:spcAft>
            </a:pPr>
            <a:r>
              <a:rPr sz="1600" b="0" i="0">
                <a:solidFill>
                  <a:srgbClr val="172033"/>
                </a:solidFill>
                <a:latin typeface="Calibri"/>
              </a:rPr>
              <a:t>Bedbound (none in our data)</a:t>
            </a:r>
          </a:p>
        </p:txBody>
      </p:sp>
      <p:graphicFrame>
        <p:nvGraphicFramePr>
          <p:cNvPr id="17" name="Chart 16"/>
          <p:cNvGraphicFramePr>
            <a:graphicFrameLocks noGrp="1"/>
          </p:cNvGraphicFramePr>
          <p:nvPr/>
        </p:nvGraphicFramePr>
        <p:xfrm>
          <a:off x="5120640" y="1600200"/>
          <a:ext cx="649224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Age</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Survival drops after 70</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8</a:t>
            </a:r>
          </a:p>
        </p:txBody>
      </p:sp>
      <p:sp>
        <p:nvSpPr>
          <p:cNvPr id="6" name="TextBox 5"/>
          <p:cNvSpPr txBox="1"/>
          <p:nvPr/>
        </p:nvSpPr>
        <p:spPr>
          <a:xfrm>
            <a:off x="548640" y="1737360"/>
            <a:ext cx="4206240" cy="438912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What it is</a:t>
            </a:r>
          </a:p>
          <a:p>
            <a:pPr algn="l">
              <a:spcAft>
                <a:spcPts val="1600"/>
              </a:spcAft>
            </a:pPr>
            <a:r>
              <a:rPr sz="1600" b="0" i="0">
                <a:solidFill>
                  <a:srgbClr val="3A4256"/>
                </a:solidFill>
                <a:latin typeface="Calibri"/>
              </a:rPr>
              <a:t>Age at the t0 scan: 25 to 90 years, median 70.</a:t>
            </a:r>
          </a:p>
          <a:p>
            <a:pPr algn="l">
              <a:spcAft>
                <a:spcPts val="600"/>
              </a:spcAft>
            </a:pPr>
            <a:r>
              <a:rPr sz="1700" b="1" i="0">
                <a:solidFill>
                  <a:srgbClr val="172033"/>
                </a:solidFill>
                <a:latin typeface="Calibri"/>
              </a:rPr>
              <a:t>What we found</a:t>
            </a:r>
          </a:p>
          <a:p>
            <a:pPr algn="l" marL="256032" indent="-219456">
              <a:spcAft>
                <a:spcPts val="800"/>
              </a:spcAft>
              <a:buFont typeface="Arial"/>
              <a:buChar char="•"/>
            </a:pPr>
            <a:r>
              <a:rPr sz="1600" b="0" i="0">
                <a:solidFill>
                  <a:srgbClr val="3A4256"/>
                </a:solidFill>
                <a:latin typeface="Calibri"/>
              </a:rPr>
              <a:t>Under 70: median ≈ 61 weeks</a:t>
            </a:r>
          </a:p>
          <a:p>
            <a:pPr algn="l" marL="256032" indent="-219456">
              <a:spcAft>
                <a:spcPts val="800"/>
              </a:spcAft>
              <a:buFont typeface="Arial"/>
              <a:buChar char="•"/>
            </a:pPr>
            <a:r>
              <a:rPr sz="1600" b="0" i="0">
                <a:solidFill>
                  <a:srgbClr val="3A4256"/>
                </a:solidFill>
                <a:latin typeface="Calibri"/>
              </a:rPr>
              <a:t>75 and over: median ≈ 31 weeks</a:t>
            </a:r>
          </a:p>
          <a:p>
            <a:pPr algn="l" marL="256032" indent="-219456">
              <a:spcAft>
                <a:spcPts val="800"/>
              </a:spcAft>
              <a:buFont typeface="Arial"/>
              <a:buChar char="•"/>
            </a:pPr>
            <a:r>
              <a:rPr sz="1600" b="0" i="0">
                <a:solidFill>
                  <a:srgbClr val="3A4256"/>
                </a:solidFill>
                <a:latin typeface="Calibri"/>
              </a:rPr>
              <a:t>Little difference below 70; risk climbs after that</a:t>
            </a:r>
          </a:p>
        </p:txBody>
      </p:sp>
      <p:graphicFrame>
        <p:nvGraphicFramePr>
          <p:cNvPr id="7" name="Chart 6"/>
          <p:cNvGraphicFramePr>
            <a:graphicFrameLocks noGrp="1"/>
          </p:cNvGraphicFramePr>
          <p:nvPr/>
        </p:nvGraphicFramePr>
        <p:xfrm>
          <a:off x="5120640" y="1600200"/>
          <a:ext cx="649224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Diagnosis rulebook: WHO 2016 vs 2021</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Patients diagnosed under the 2021 rules do worse</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9</a:t>
            </a:r>
          </a:p>
        </p:txBody>
      </p:sp>
      <p:sp>
        <p:nvSpPr>
          <p:cNvPr id="6" name="TextBox 5"/>
          <p:cNvSpPr txBox="1"/>
          <p:nvPr/>
        </p:nvSpPr>
        <p:spPr>
          <a:xfrm>
            <a:off x="548640" y="1737360"/>
            <a:ext cx="4206240" cy="438912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What it is</a:t>
            </a:r>
          </a:p>
          <a:p>
            <a:pPr algn="l">
              <a:spcAft>
                <a:spcPts val="1600"/>
              </a:spcAft>
            </a:pPr>
            <a:r>
              <a:rPr sz="1600" b="0" i="0">
                <a:solidFill>
                  <a:srgbClr val="3A4256"/>
                </a:solidFill>
                <a:latin typeface="Calibri"/>
              </a:rPr>
              <a:t>Which edition of the WHO tumour rulebook was used to diagnose the patient.</a:t>
            </a:r>
          </a:p>
          <a:p>
            <a:pPr algn="l">
              <a:spcAft>
                <a:spcPts val="600"/>
              </a:spcAft>
            </a:pPr>
            <a:r>
              <a:rPr sz="1700" b="1" i="0">
                <a:solidFill>
                  <a:srgbClr val="172033"/>
                </a:solidFill>
                <a:latin typeface="Calibri"/>
              </a:rPr>
              <a:t>Why it matters</a:t>
            </a:r>
          </a:p>
          <a:p>
            <a:pPr algn="l" marL="256032" indent="-219456">
              <a:spcAft>
                <a:spcPts val="800"/>
              </a:spcAft>
              <a:buFont typeface="Arial"/>
              <a:buChar char="•"/>
            </a:pPr>
            <a:r>
              <a:rPr sz="1600" b="0" i="0">
                <a:solidFill>
                  <a:srgbClr val="3A4256"/>
                </a:solidFill>
                <a:latin typeface="Calibri"/>
              </a:rPr>
              <a:t>Since 2021, tumours with an IDH mutation (slower growing) are no longer called glioblastoma</a:t>
            </a:r>
          </a:p>
          <a:p>
            <a:pPr algn="l" marL="256032" indent="-219456">
              <a:spcAft>
                <a:spcPts val="800"/>
              </a:spcAft>
              <a:buFont typeface="Arial"/>
              <a:buChar char="•"/>
            </a:pPr>
            <a:r>
              <a:rPr sz="1600" b="0" i="0">
                <a:solidFill>
                  <a:srgbClr val="3A4256"/>
                </a:solidFill>
                <a:latin typeface="Calibri"/>
              </a:rPr>
              <a:t>So the 2016 group likely includes some slower tumours</a:t>
            </a:r>
          </a:p>
          <a:p>
            <a:pPr algn="l" marL="256032" indent="-219456">
              <a:spcAft>
                <a:spcPts val="800"/>
              </a:spcAft>
              <a:buFont typeface="Arial"/>
              <a:buChar char="•"/>
            </a:pPr>
            <a:r>
              <a:rPr sz="1600" b="0" i="0">
                <a:solidFill>
                  <a:srgbClr val="3A4256"/>
                </a:solidFill>
                <a:latin typeface="Calibri"/>
              </a:rPr>
              <a:t>New patients are all diagnosed under 2021 rules</a:t>
            </a:r>
          </a:p>
        </p:txBody>
      </p:sp>
      <p:graphicFrame>
        <p:nvGraphicFramePr>
          <p:cNvPr id="7" name="Chart 6"/>
          <p:cNvGraphicFramePr>
            <a:graphicFrameLocks noGrp="1"/>
          </p:cNvGraphicFramePr>
          <p:nvPr/>
        </p:nvGraphicFramePr>
        <p:xfrm>
          <a:off x="5120640" y="1600200"/>
          <a:ext cx="649224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Treatment: two radiotherapy schedules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The short course goes with shorter survival, because older, frailer patients get it</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10</a:t>
            </a:r>
          </a:p>
        </p:txBody>
      </p:sp>
      <p:sp>
        <p:nvSpPr>
          <p:cNvPr id="6" name="Rounded Rectangle 5"/>
          <p:cNvSpPr/>
          <p:nvPr/>
        </p:nvSpPr>
        <p:spPr>
          <a:xfrm>
            <a:off x="548640" y="1691640"/>
            <a:ext cx="4389120" cy="11887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993392"/>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60</a:t>
            </a:r>
          </a:p>
        </p:txBody>
      </p:sp>
      <p:sp>
        <p:nvSpPr>
          <p:cNvPr id="8" name="TextBox 7"/>
          <p:cNvSpPr txBox="1"/>
          <p:nvPr/>
        </p:nvSpPr>
        <p:spPr>
          <a:xfrm>
            <a:off x="1463040" y="1801368"/>
            <a:ext cx="3383280" cy="36576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Standard (conventional)</a:t>
            </a:r>
          </a:p>
        </p:txBody>
      </p:sp>
      <p:sp>
        <p:nvSpPr>
          <p:cNvPr id="9" name="TextBox 8"/>
          <p:cNvSpPr txBox="1"/>
          <p:nvPr/>
        </p:nvSpPr>
        <p:spPr>
          <a:xfrm>
            <a:off x="1463040" y="2148840"/>
            <a:ext cx="3383280" cy="731520"/>
          </a:xfrm>
          <a:prstGeom prst="rect">
            <a:avLst/>
          </a:prstGeom>
          <a:noFill/>
        </p:spPr>
        <p:txBody>
          <a:bodyPr wrap="square" anchor="t" lIns="36576" rIns="36576" tIns="18288" bIns="18288">
            <a:spAutoFit/>
          </a:bodyPr>
          <a:lstStyle/>
          <a:p>
            <a:pPr algn="l">
              <a:spcAft>
                <a:spcPts val="200"/>
              </a:spcAft>
            </a:pPr>
            <a:r>
              <a:rPr sz="1400" b="0" i="0">
                <a:solidFill>
                  <a:srgbClr val="3A4256"/>
                </a:solidFill>
                <a:latin typeface="Calibri"/>
              </a:rPr>
              <a:t>60 Gy in 30 sessions · 6 weeks</a:t>
            </a:r>
          </a:p>
          <a:p>
            <a:pPr algn="l">
              <a:spcAft>
                <a:spcPts val="200"/>
              </a:spcAft>
            </a:pPr>
            <a:r>
              <a:rPr sz="1400" b="0" i="0">
                <a:solidFill>
                  <a:srgbClr val="3A4256"/>
                </a:solidFill>
                <a:latin typeface="Calibri"/>
              </a:rPr>
              <a:t>130 patients · median age 65</a:t>
            </a:r>
          </a:p>
        </p:txBody>
      </p:sp>
      <p:sp>
        <p:nvSpPr>
          <p:cNvPr id="10" name="Rounded Rectangle 9"/>
          <p:cNvSpPr/>
          <p:nvPr/>
        </p:nvSpPr>
        <p:spPr>
          <a:xfrm>
            <a:off x="548640" y="3063240"/>
            <a:ext cx="4389120" cy="1188720"/>
          </a:xfrm>
          <a:prstGeom prst="roundRect">
            <a:avLst>
              <a:gd name="adj" fmla="val 12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3364992"/>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40</a:t>
            </a:r>
          </a:p>
        </p:txBody>
      </p:sp>
      <p:sp>
        <p:nvSpPr>
          <p:cNvPr id="12" name="TextBox 11"/>
          <p:cNvSpPr txBox="1"/>
          <p:nvPr/>
        </p:nvSpPr>
        <p:spPr>
          <a:xfrm>
            <a:off x="1463040" y="3172968"/>
            <a:ext cx="3383280" cy="36576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Short course (hypofractionated)</a:t>
            </a:r>
          </a:p>
        </p:txBody>
      </p:sp>
      <p:sp>
        <p:nvSpPr>
          <p:cNvPr id="13" name="TextBox 12"/>
          <p:cNvSpPr txBox="1"/>
          <p:nvPr/>
        </p:nvSpPr>
        <p:spPr>
          <a:xfrm>
            <a:off x="1463040" y="3520440"/>
            <a:ext cx="3383280" cy="731520"/>
          </a:xfrm>
          <a:prstGeom prst="rect">
            <a:avLst/>
          </a:prstGeom>
          <a:noFill/>
        </p:spPr>
        <p:txBody>
          <a:bodyPr wrap="square" anchor="t" lIns="36576" rIns="36576" tIns="18288" bIns="18288">
            <a:spAutoFit/>
          </a:bodyPr>
          <a:lstStyle/>
          <a:p>
            <a:pPr algn="l">
              <a:spcAft>
                <a:spcPts val="200"/>
              </a:spcAft>
            </a:pPr>
            <a:r>
              <a:rPr sz="1400" b="0" i="0">
                <a:solidFill>
                  <a:srgbClr val="3A4256"/>
                </a:solidFill>
                <a:latin typeface="Calibri"/>
              </a:rPr>
              <a:t>40 Gy in 15 sessions · 3 weeks</a:t>
            </a:r>
          </a:p>
          <a:p>
            <a:pPr algn="l">
              <a:spcAft>
                <a:spcPts val="200"/>
              </a:spcAft>
            </a:pPr>
            <a:r>
              <a:rPr sz="1400" b="0" i="0">
                <a:solidFill>
                  <a:srgbClr val="3A4256"/>
                </a:solidFill>
                <a:latin typeface="Calibri"/>
              </a:rPr>
              <a:t>64 patients · median age 75</a:t>
            </a:r>
          </a:p>
        </p:txBody>
      </p:sp>
      <p:sp>
        <p:nvSpPr>
          <p:cNvPr id="14" name="Rounded Rectangle 13"/>
          <p:cNvSpPr/>
          <p:nvPr/>
        </p:nvSpPr>
        <p:spPr>
          <a:xfrm>
            <a:off x="548640" y="4434840"/>
            <a:ext cx="4389120" cy="11887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4736592"/>
            <a:ext cx="548640" cy="54864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a:t>
            </a:r>
          </a:p>
        </p:txBody>
      </p:sp>
      <p:sp>
        <p:nvSpPr>
          <p:cNvPr id="16" name="TextBox 15"/>
          <p:cNvSpPr txBox="1"/>
          <p:nvPr/>
        </p:nvSpPr>
        <p:spPr>
          <a:xfrm>
            <a:off x="1463040" y="4544568"/>
            <a:ext cx="3383280" cy="36576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Unknown</a:t>
            </a:r>
          </a:p>
        </p:txBody>
      </p:sp>
      <p:sp>
        <p:nvSpPr>
          <p:cNvPr id="17" name="TextBox 16"/>
          <p:cNvSpPr txBox="1"/>
          <p:nvPr/>
        </p:nvSpPr>
        <p:spPr>
          <a:xfrm>
            <a:off x="1463040" y="4892040"/>
            <a:ext cx="3383280" cy="731520"/>
          </a:xfrm>
          <a:prstGeom prst="rect">
            <a:avLst/>
          </a:prstGeom>
          <a:noFill/>
        </p:spPr>
        <p:txBody>
          <a:bodyPr wrap="square" anchor="t" lIns="36576" rIns="36576" tIns="18288" bIns="18288">
            <a:spAutoFit/>
          </a:bodyPr>
          <a:lstStyle/>
          <a:p>
            <a:pPr algn="l">
              <a:spcAft>
                <a:spcPts val="200"/>
              </a:spcAft>
            </a:pPr>
            <a:r>
              <a:rPr sz="1400" b="0" i="0">
                <a:solidFill>
                  <a:srgbClr val="3A4256"/>
                </a:solidFill>
                <a:latin typeface="Calibri"/>
              </a:rPr>
              <a:t>No treatment record</a:t>
            </a:r>
          </a:p>
          <a:p>
            <a:pPr algn="l">
              <a:spcAft>
                <a:spcPts val="200"/>
              </a:spcAft>
            </a:pPr>
            <a:r>
              <a:rPr sz="1400" b="0" i="0">
                <a:solidFill>
                  <a:srgbClr val="3A4256"/>
                </a:solidFill>
                <a:latin typeface="Calibri"/>
              </a:rPr>
              <a:t>70 patients · median age 70</a:t>
            </a:r>
          </a:p>
        </p:txBody>
      </p:sp>
      <p:sp>
        <p:nvSpPr>
          <p:cNvPr id="18" name="TextBox 17"/>
          <p:cNvSpPr txBox="1"/>
          <p:nvPr/>
        </p:nvSpPr>
        <p:spPr>
          <a:xfrm>
            <a:off x="548640" y="5852160"/>
            <a:ext cx="4389120" cy="457200"/>
          </a:xfrm>
          <a:prstGeom prst="rect">
            <a:avLst/>
          </a:prstGeom>
          <a:noFill/>
        </p:spPr>
        <p:txBody>
          <a:bodyPr wrap="square" anchor="t" lIns="36576" rIns="36576" tIns="18288" bIns="18288">
            <a:spAutoFit/>
          </a:bodyPr>
          <a:lstStyle/>
          <a:p>
            <a:pPr algn="l">
              <a:spcAft>
                <a:spcPts val="600"/>
              </a:spcAft>
            </a:pPr>
            <a:r>
              <a:rPr sz="1300" b="1" i="0">
                <a:solidFill>
                  <a:srgbClr val="3A4256"/>
                </a:solidFill>
                <a:latin typeface="Calibri"/>
              </a:rPr>
              <a:t>Gy (gray): </a:t>
            </a:r>
            <a:r>
              <a:rPr sz="1300" b="0" i="0">
                <a:solidFill>
                  <a:srgbClr val="3A4256"/>
                </a:solidFill>
                <a:latin typeface="Calibri"/>
              </a:rPr>
              <a:t>radiation energy per kg of tissue</a:t>
            </a:r>
          </a:p>
        </p:txBody>
      </p:sp>
      <p:graphicFrame>
        <p:nvGraphicFramePr>
          <p:cNvPr id="19" name="Chart 18"/>
          <p:cNvGraphicFramePr>
            <a:graphicFrameLocks noGrp="1"/>
          </p:cNvGraphicFramePr>
          <p:nvPr/>
        </p:nvGraphicFramePr>
        <p:xfrm>
          <a:off x="5120640" y="1600200"/>
          <a:ext cx="649224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Imaging: from MRI to numbers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Radiomics turns each tumour image into 107 numbers</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11</a:t>
            </a:r>
          </a:p>
        </p:txBody>
      </p:sp>
      <p:sp>
        <p:nvSpPr>
          <p:cNvPr id="6" name="Rounded Rectangle 5"/>
          <p:cNvSpPr/>
          <p:nvPr/>
        </p:nvSpPr>
        <p:spPr>
          <a:xfrm>
            <a:off x="548640" y="1737360"/>
            <a:ext cx="3383280" cy="3566160"/>
          </a:xfrm>
          <a:prstGeom prst="roundRect">
            <a:avLst>
              <a:gd name="adj" fmla="val 4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92024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1</a:t>
            </a:r>
          </a:p>
        </p:txBody>
      </p:sp>
      <p:sp>
        <p:nvSpPr>
          <p:cNvPr id="8" name="TextBox 7"/>
          <p:cNvSpPr txBox="1"/>
          <p:nvPr/>
        </p:nvSpPr>
        <p:spPr>
          <a:xfrm>
            <a:off x="1554480" y="2011680"/>
            <a:ext cx="2286000" cy="457200"/>
          </a:xfrm>
          <a:prstGeom prst="rect">
            <a:avLst/>
          </a:prstGeom>
          <a:noFill/>
        </p:spPr>
        <p:txBody>
          <a:bodyPr wrap="square" anchor="t" lIns="36576" rIns="36576" tIns="18288" bIns="18288">
            <a:spAutoFit/>
          </a:bodyPr>
          <a:lstStyle/>
          <a:p>
            <a:pPr algn="l">
              <a:spcAft>
                <a:spcPts val="600"/>
              </a:spcAft>
            </a:pPr>
            <a:r>
              <a:rPr sz="1900" b="1" i="0">
                <a:solidFill>
                  <a:srgbClr val="172033"/>
                </a:solidFill>
                <a:latin typeface="Cambria"/>
              </a:rPr>
              <a:t>MRI scan</a:t>
            </a:r>
          </a:p>
        </p:txBody>
      </p:sp>
      <p:sp>
        <p:nvSpPr>
          <p:cNvPr id="9" name="TextBox 8"/>
          <p:cNvSpPr txBox="1"/>
          <p:nvPr/>
        </p:nvSpPr>
        <p:spPr>
          <a:xfrm>
            <a:off x="777240" y="2743200"/>
            <a:ext cx="3017520" cy="2468880"/>
          </a:xfrm>
          <a:prstGeom prst="rect">
            <a:avLst/>
          </a:prstGeom>
          <a:noFill/>
        </p:spPr>
        <p:txBody>
          <a:bodyPr wrap="square" anchor="t" lIns="36576" rIns="36576" tIns="18288" bIns="18288">
            <a:spAutoFit/>
          </a:bodyPr>
          <a:lstStyle/>
          <a:p>
            <a:pPr algn="l">
              <a:spcAft>
                <a:spcPts val="1000"/>
              </a:spcAft>
            </a:pPr>
            <a:r>
              <a:rPr sz="1500" b="1" i="0">
                <a:solidFill>
                  <a:srgbClr val="3A4256"/>
                </a:solidFill>
                <a:latin typeface="Calibri"/>
              </a:rPr>
              <a:t>T1-Gd: </a:t>
            </a:r>
            <a:r>
              <a:rPr sz="1500" b="0" i="0">
                <a:solidFill>
                  <a:srgbClr val="3A4256"/>
                </a:solidFill>
                <a:latin typeface="Calibri"/>
              </a:rPr>
              <a:t>contrast makes the active tumour edge bright</a:t>
            </a:r>
          </a:p>
          <a:p>
            <a:pPr algn="l">
              <a:spcAft>
                <a:spcPts val="1000"/>
              </a:spcAft>
            </a:pPr>
            <a:r>
              <a:rPr sz="1500" b="1" i="0">
                <a:solidFill>
                  <a:srgbClr val="3A4256"/>
                </a:solidFill>
                <a:latin typeface="Calibri"/>
              </a:rPr>
              <a:t>FLAIR: </a:t>
            </a:r>
            <a:r>
              <a:rPr sz="1500" b="0" i="0">
                <a:solidFill>
                  <a:srgbClr val="3A4256"/>
                </a:solidFill>
                <a:latin typeface="Calibri"/>
              </a:rPr>
              <a:t>fluid is dark; swelling and spreading tumour are bright</a:t>
            </a:r>
          </a:p>
        </p:txBody>
      </p:sp>
      <p:cxnSp>
        <p:nvCxnSpPr>
          <p:cNvPr id="10" name="Connector 9"/>
          <p:cNvCxnSpPr/>
          <p:nvPr/>
        </p:nvCxnSpPr>
        <p:spPr>
          <a:xfrm>
            <a:off x="3977639" y="3520440"/>
            <a:ext cx="365761" cy="0"/>
          </a:xfrm>
          <a:prstGeom prst="line">
            <a:avLst/>
          </a:prstGeom>
          <a:ln w="3175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89120" y="1737360"/>
            <a:ext cx="3383280" cy="3566160"/>
          </a:xfrm>
          <a:prstGeom prst="roundRect">
            <a:avLst>
              <a:gd name="adj" fmla="val 4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17720" y="1920240"/>
            <a:ext cx="640080" cy="6400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2</a:t>
            </a:r>
          </a:p>
        </p:txBody>
      </p:sp>
      <p:sp>
        <p:nvSpPr>
          <p:cNvPr id="13" name="TextBox 12"/>
          <p:cNvSpPr txBox="1"/>
          <p:nvPr/>
        </p:nvSpPr>
        <p:spPr>
          <a:xfrm>
            <a:off x="5394960" y="2011680"/>
            <a:ext cx="2286000" cy="457200"/>
          </a:xfrm>
          <a:prstGeom prst="rect">
            <a:avLst/>
          </a:prstGeom>
          <a:noFill/>
        </p:spPr>
        <p:txBody>
          <a:bodyPr wrap="square" anchor="t" lIns="36576" rIns="36576" tIns="18288" bIns="18288">
            <a:spAutoFit/>
          </a:bodyPr>
          <a:lstStyle/>
          <a:p>
            <a:pPr algn="l">
              <a:spcAft>
                <a:spcPts val="600"/>
              </a:spcAft>
            </a:pPr>
            <a:r>
              <a:rPr sz="1900" b="1" i="0">
                <a:solidFill>
                  <a:srgbClr val="172033"/>
                </a:solidFill>
                <a:latin typeface="Cambria"/>
              </a:rPr>
              <a:t>Outline the tumour</a:t>
            </a:r>
          </a:p>
        </p:txBody>
      </p:sp>
      <p:sp>
        <p:nvSpPr>
          <p:cNvPr id="14" name="TextBox 13"/>
          <p:cNvSpPr txBox="1"/>
          <p:nvPr/>
        </p:nvSpPr>
        <p:spPr>
          <a:xfrm>
            <a:off x="4617720" y="2743200"/>
            <a:ext cx="3017520" cy="2468880"/>
          </a:xfrm>
          <a:prstGeom prst="rect">
            <a:avLst/>
          </a:prstGeom>
          <a:noFill/>
        </p:spPr>
        <p:txBody>
          <a:bodyPr wrap="square" anchor="t" lIns="36576" rIns="36576" tIns="18288" bIns="18288">
            <a:spAutoFit/>
          </a:bodyPr>
          <a:lstStyle/>
          <a:p>
            <a:pPr algn="l">
              <a:spcAft>
                <a:spcPts val="1000"/>
              </a:spcAft>
            </a:pPr>
            <a:r>
              <a:rPr sz="1500" b="1" i="0">
                <a:solidFill>
                  <a:srgbClr val="3A4256"/>
                </a:solidFill>
                <a:latin typeface="Calibri"/>
              </a:rPr>
              <a:t>GTV: </a:t>
            </a:r>
            <a:r>
              <a:rPr sz="1500" b="0" i="0">
                <a:solidFill>
                  <a:srgbClr val="3A4256"/>
                </a:solidFill>
                <a:latin typeface="Calibri"/>
              </a:rPr>
              <a:t>the doctor's outline of the visible tumour, also used to aim radiotherapy</a:t>
            </a:r>
          </a:p>
        </p:txBody>
      </p:sp>
      <p:cxnSp>
        <p:nvCxnSpPr>
          <p:cNvPr id="15" name="Connector 14"/>
          <p:cNvCxnSpPr/>
          <p:nvPr/>
        </p:nvCxnSpPr>
        <p:spPr>
          <a:xfrm>
            <a:off x="7818120" y="3520440"/>
            <a:ext cx="365759" cy="0"/>
          </a:xfrm>
          <a:prstGeom prst="line">
            <a:avLst/>
          </a:prstGeom>
          <a:ln w="3175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229600" y="1737360"/>
            <a:ext cx="3383280" cy="3566160"/>
          </a:xfrm>
          <a:prstGeom prst="roundRect">
            <a:avLst>
              <a:gd name="adj" fmla="val 4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58200" y="1920240"/>
            <a:ext cx="640080" cy="64008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3</a:t>
            </a:r>
          </a:p>
        </p:txBody>
      </p:sp>
      <p:sp>
        <p:nvSpPr>
          <p:cNvPr id="18" name="TextBox 17"/>
          <p:cNvSpPr txBox="1"/>
          <p:nvPr/>
        </p:nvSpPr>
        <p:spPr>
          <a:xfrm>
            <a:off x="9235440" y="2011680"/>
            <a:ext cx="2286000" cy="457200"/>
          </a:xfrm>
          <a:prstGeom prst="rect">
            <a:avLst/>
          </a:prstGeom>
          <a:noFill/>
        </p:spPr>
        <p:txBody>
          <a:bodyPr wrap="square" anchor="t" lIns="36576" rIns="36576" tIns="18288" bIns="18288">
            <a:spAutoFit/>
          </a:bodyPr>
          <a:lstStyle/>
          <a:p>
            <a:pPr algn="l">
              <a:spcAft>
                <a:spcPts val="600"/>
              </a:spcAft>
            </a:pPr>
            <a:r>
              <a:rPr sz="1900" b="1" i="0">
                <a:solidFill>
                  <a:srgbClr val="172033"/>
                </a:solidFill>
                <a:latin typeface="Cambria"/>
              </a:rPr>
              <a:t>Compute 107 numbers</a:t>
            </a:r>
          </a:p>
        </p:txBody>
      </p:sp>
      <p:sp>
        <p:nvSpPr>
          <p:cNvPr id="19" name="TextBox 18"/>
          <p:cNvSpPr txBox="1"/>
          <p:nvPr/>
        </p:nvSpPr>
        <p:spPr>
          <a:xfrm>
            <a:off x="8458200" y="2743200"/>
            <a:ext cx="3017520" cy="2468880"/>
          </a:xfrm>
          <a:prstGeom prst="rect">
            <a:avLst/>
          </a:prstGeom>
          <a:noFill/>
        </p:spPr>
        <p:txBody>
          <a:bodyPr wrap="square" anchor="t" lIns="36576" rIns="36576" tIns="18288" bIns="18288">
            <a:spAutoFit/>
          </a:bodyPr>
          <a:lstStyle/>
          <a:p>
            <a:pPr algn="l">
              <a:spcAft>
                <a:spcPts val="1000"/>
              </a:spcAft>
            </a:pPr>
            <a:r>
              <a:rPr sz="1500" b="1" i="0">
                <a:solidFill>
                  <a:srgbClr val="3A4256"/>
                </a:solidFill>
                <a:latin typeface="Calibri"/>
              </a:rPr>
              <a:t>Shape: </a:t>
            </a:r>
            <a:r>
              <a:rPr sz="1500" b="0" i="0">
                <a:solidFill>
                  <a:srgbClr val="3A4256"/>
                </a:solidFill>
                <a:latin typeface="Calibri"/>
              </a:rPr>
              <a:t>size, diameter, roundness</a:t>
            </a:r>
          </a:p>
          <a:p>
            <a:pPr algn="l">
              <a:spcAft>
                <a:spcPts val="1000"/>
              </a:spcAft>
            </a:pPr>
            <a:r>
              <a:rPr sz="1500" b="1" i="0">
                <a:solidFill>
                  <a:srgbClr val="3A4256"/>
                </a:solidFill>
                <a:latin typeface="Calibri"/>
              </a:rPr>
              <a:t>Brightness: </a:t>
            </a:r>
            <a:r>
              <a:rPr sz="1500" b="0" i="0">
                <a:solidFill>
                  <a:srgbClr val="3A4256"/>
                </a:solidFill>
                <a:latin typeface="Calibri"/>
              </a:rPr>
              <a:t>average, spread, extremes</a:t>
            </a:r>
          </a:p>
          <a:p>
            <a:pPr algn="l">
              <a:spcAft>
                <a:spcPts val="1000"/>
              </a:spcAft>
            </a:pPr>
            <a:r>
              <a:rPr sz="1500" b="1" i="0">
                <a:solidFill>
                  <a:srgbClr val="3A4256"/>
                </a:solidFill>
                <a:latin typeface="Calibri"/>
              </a:rPr>
              <a:t>Texture: </a:t>
            </a:r>
            <a:r>
              <a:rPr sz="1500" b="0" i="0">
                <a:solidFill>
                  <a:srgbClr val="3A4256"/>
                </a:solidFill>
                <a:latin typeface="Calibri"/>
              </a:rPr>
              <a:t>smooth or patchy</a:t>
            </a:r>
          </a:p>
        </p:txBody>
      </p:sp>
      <p:sp>
        <p:nvSpPr>
          <p:cNvPr id="20" name="Rounded Rectangle 19"/>
          <p:cNvSpPr/>
          <p:nvPr/>
        </p:nvSpPr>
        <p:spPr>
          <a:xfrm>
            <a:off x="548640" y="5532120"/>
            <a:ext cx="11064240" cy="731520"/>
          </a:xfrm>
          <a:prstGeom prst="roundRect">
            <a:avLst>
              <a:gd name="adj" fmla="val 12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641848"/>
            <a:ext cx="10698480" cy="54864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We used T1-Gd and FLAIR at t0 </a:t>
            </a:r>
            <a:r>
              <a:rPr sz="1500" b="0" i="0">
                <a:solidFill>
                  <a:srgbClr val="172033"/>
                </a:solidFill>
                <a:latin typeface="Calibri"/>
              </a:rPr>
              <a:t>(available for 261 and 255 patients). Other MRI types were missing for many patients.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Tumour size at t0</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Only the largest tumours clearly do worse</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12</a:t>
            </a:r>
          </a:p>
        </p:txBody>
      </p:sp>
      <p:sp>
        <p:nvSpPr>
          <p:cNvPr id="6" name="TextBox 5"/>
          <p:cNvSpPr txBox="1"/>
          <p:nvPr/>
        </p:nvSpPr>
        <p:spPr>
          <a:xfrm>
            <a:off x="548640" y="1737360"/>
            <a:ext cx="4206240" cy="438912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What it is</a:t>
            </a:r>
          </a:p>
          <a:p>
            <a:pPr algn="l">
              <a:spcAft>
                <a:spcPts val="1600"/>
              </a:spcAft>
            </a:pPr>
            <a:r>
              <a:rPr sz="1600" b="0" i="0">
                <a:solidFill>
                  <a:srgbClr val="3A4256"/>
                </a:solidFill>
                <a:latin typeface="Calibri"/>
              </a:rPr>
              <a:t>Volume of the outlined tumour: 1 to 181 cm³ (a golf ball is about 40 cm³).</a:t>
            </a:r>
          </a:p>
          <a:p>
            <a:pPr algn="l">
              <a:spcAft>
                <a:spcPts val="600"/>
              </a:spcAft>
            </a:pPr>
            <a:r>
              <a:rPr sz="1700" b="1" i="0">
                <a:solidFill>
                  <a:srgbClr val="172033"/>
                </a:solidFill>
                <a:latin typeface="Calibri"/>
              </a:rPr>
              <a:t>What we found</a:t>
            </a:r>
          </a:p>
          <a:p>
            <a:pPr algn="l" marL="256032" indent="-219456">
              <a:spcAft>
                <a:spcPts val="800"/>
              </a:spcAft>
              <a:buFont typeface="Arial"/>
              <a:buChar char="•"/>
            </a:pPr>
            <a:r>
              <a:rPr sz="1600" b="0" i="0">
                <a:solidFill>
                  <a:srgbClr val="3A4256"/>
                </a:solidFill>
                <a:latin typeface="Calibri"/>
              </a:rPr>
              <a:t>The three smaller quarters look alike</a:t>
            </a:r>
          </a:p>
          <a:p>
            <a:pPr algn="l" marL="256032" indent="-219456">
              <a:spcAft>
                <a:spcPts val="800"/>
              </a:spcAft>
              <a:buFont typeface="Arial"/>
              <a:buChar char="•"/>
            </a:pPr>
            <a:r>
              <a:rPr sz="1600" b="0" i="0">
                <a:solidFill>
                  <a:srgbClr val="3A4256"/>
                </a:solidFill>
                <a:latin typeface="Calibri"/>
              </a:rPr>
              <a:t>Largest quarter (over 65 cm³): median 28 weeks</a:t>
            </a:r>
          </a:p>
          <a:p>
            <a:pPr algn="l" marL="256032" indent="-219456">
              <a:spcAft>
                <a:spcPts val="800"/>
              </a:spcAft>
              <a:buFont typeface="Arial"/>
              <a:buChar char="•"/>
            </a:pPr>
            <a:r>
              <a:rPr sz="1600" b="0" i="0">
                <a:solidFill>
                  <a:srgbClr val="3A4256"/>
                </a:solidFill>
                <a:latin typeface="Calibri"/>
              </a:rPr>
              <a:t>A threshold effect, not a straight line</a:t>
            </a:r>
          </a:p>
        </p:txBody>
      </p:sp>
      <p:graphicFrame>
        <p:nvGraphicFramePr>
          <p:cNvPr id="7" name="Chart 6"/>
          <p:cNvGraphicFramePr>
            <a:graphicFrameLocks noGrp="1"/>
          </p:cNvGraphicFramePr>
          <p:nvPr/>
        </p:nvGraphicFramePr>
        <p:xfrm>
          <a:off x="5120640" y="1600200"/>
          <a:ext cx="649224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Response at the first check-up (t1)</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Growth at t1 doubles the risk of death, but it is only known after treatment</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13</a:t>
            </a:r>
          </a:p>
        </p:txBody>
      </p:sp>
      <p:sp>
        <p:nvSpPr>
          <p:cNvPr id="6" name="Oval 5"/>
          <p:cNvSpPr/>
          <p:nvPr/>
        </p:nvSpPr>
        <p:spPr>
          <a:xfrm>
            <a:off x="548640" y="1737360"/>
            <a:ext cx="502920" cy="502920"/>
          </a:xfrm>
          <a:prstGeom prst="ellipse">
            <a:avLst/>
          </a:prstGeom>
          <a:solidFill>
            <a:srgbClr val="6DA7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7" name="TextBox 6"/>
          <p:cNvSpPr txBox="1"/>
          <p:nvPr/>
        </p:nvSpPr>
        <p:spPr>
          <a:xfrm>
            <a:off x="1234440" y="1691640"/>
            <a:ext cx="3657600" cy="36576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CR / PR</a:t>
            </a:r>
          </a:p>
        </p:txBody>
      </p:sp>
      <p:sp>
        <p:nvSpPr>
          <p:cNvPr id="8" name="TextBox 7"/>
          <p:cNvSpPr txBox="1"/>
          <p:nvPr/>
        </p:nvSpPr>
        <p:spPr>
          <a:xfrm>
            <a:off x="1234440" y="2039112"/>
            <a:ext cx="365760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Gone, or at least 50% smaller</a:t>
            </a:r>
          </a:p>
        </p:txBody>
      </p:sp>
      <p:sp>
        <p:nvSpPr>
          <p:cNvPr id="9" name="Oval 8"/>
          <p:cNvSpPr/>
          <p:nvPr/>
        </p:nvSpPr>
        <p:spPr>
          <a:xfrm>
            <a:off x="548640" y="2606039"/>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10" name="TextBox 9"/>
          <p:cNvSpPr txBox="1"/>
          <p:nvPr/>
        </p:nvSpPr>
        <p:spPr>
          <a:xfrm>
            <a:off x="1234440" y="2560320"/>
            <a:ext cx="3657600" cy="36576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Stable</a:t>
            </a:r>
          </a:p>
        </p:txBody>
      </p:sp>
      <p:sp>
        <p:nvSpPr>
          <p:cNvPr id="11" name="TextBox 10"/>
          <p:cNvSpPr txBox="1"/>
          <p:nvPr/>
        </p:nvSpPr>
        <p:spPr>
          <a:xfrm>
            <a:off x="1234440" y="2907791"/>
            <a:ext cx="365760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Between the two thresholds</a:t>
            </a:r>
          </a:p>
        </p:txBody>
      </p:sp>
      <p:sp>
        <p:nvSpPr>
          <p:cNvPr id="12" name="Oval 11"/>
          <p:cNvSpPr/>
          <p:nvPr/>
        </p:nvSpPr>
        <p:spPr>
          <a:xfrm>
            <a:off x="548640" y="3474720"/>
            <a:ext cx="502920" cy="50292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13" name="TextBox 12"/>
          <p:cNvSpPr txBox="1"/>
          <p:nvPr/>
        </p:nvSpPr>
        <p:spPr>
          <a:xfrm>
            <a:off x="1234440" y="3429000"/>
            <a:ext cx="3657600" cy="36576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Progression</a:t>
            </a:r>
          </a:p>
        </p:txBody>
      </p:sp>
      <p:sp>
        <p:nvSpPr>
          <p:cNvPr id="14" name="TextBox 13"/>
          <p:cNvSpPr txBox="1"/>
          <p:nvPr/>
        </p:nvSpPr>
        <p:spPr>
          <a:xfrm>
            <a:off x="1234440" y="3776472"/>
            <a:ext cx="365760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At least 25% bigger</a:t>
            </a:r>
          </a:p>
        </p:txBody>
      </p:sp>
      <p:sp>
        <p:nvSpPr>
          <p:cNvPr id="15" name="Rounded Rectangle 14"/>
          <p:cNvSpPr/>
          <p:nvPr/>
        </p:nvSpPr>
        <p:spPr>
          <a:xfrm>
            <a:off x="548640" y="4434840"/>
            <a:ext cx="4389120" cy="1783080"/>
          </a:xfrm>
          <a:prstGeom prst="roundRect">
            <a:avLst>
              <a:gd name="adj" fmla="val 923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526280"/>
            <a:ext cx="4114800" cy="164592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Careful</a:t>
            </a:r>
          </a:p>
          <a:p>
            <a:pPr algn="l" marL="256032" indent="-219456">
              <a:spcAft>
                <a:spcPts val="400"/>
              </a:spcAft>
              <a:buFont typeface="Arial"/>
              <a:buChar char="•"/>
            </a:pPr>
            <a:r>
              <a:rPr sz="1400" b="0" i="0">
                <a:solidFill>
                  <a:srgbClr val="3A4256"/>
                </a:solidFill>
                <a:latin typeface="Calibri"/>
              </a:rPr>
              <a:t>Only patients alive at t1 have it, so it can't be used at diagnosis</a:t>
            </a:r>
          </a:p>
          <a:p>
            <a:pPr algn="l" marL="256032" indent="-219456">
              <a:spcAft>
                <a:spcPts val="400"/>
              </a:spcAft>
              <a:buFont typeface="Arial"/>
              <a:buChar char="•"/>
            </a:pPr>
            <a:r>
              <a:rPr sz="1400" b="0" i="0">
                <a:solidFill>
                  <a:srgbClr val="3A4256"/>
                </a:solidFill>
                <a:latin typeface="Calibri"/>
              </a:rPr>
              <a:t>Some early 'growth' is radiation swelling (pseudoprogression)</a:t>
            </a:r>
          </a:p>
        </p:txBody>
      </p:sp>
      <p:graphicFrame>
        <p:nvGraphicFramePr>
          <p:cNvPr id="17" name="Chart 16"/>
          <p:cNvGraphicFramePr>
            <a:graphicFrameLocks noGrp="1"/>
          </p:cNvGraphicFramePr>
          <p:nvPr/>
        </p:nvGraphicFramePr>
        <p:xfrm>
          <a:off x="5120640" y="1600200"/>
          <a:ext cx="649224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Our assumptions and choices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Each choice protects the results from a known trap</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14</a:t>
            </a:r>
          </a:p>
        </p:txBody>
      </p:sp>
      <p:sp>
        <p:nvSpPr>
          <p:cNvPr id="6" name="Rounded Rectangle 5"/>
          <p:cNvSpPr/>
          <p:nvPr/>
        </p:nvSpPr>
        <p:spPr>
          <a:xfrm>
            <a:off x="548640" y="1737360"/>
            <a:ext cx="3474720" cy="20574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9202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1</a:t>
            </a:r>
          </a:p>
        </p:txBody>
      </p:sp>
      <p:sp>
        <p:nvSpPr>
          <p:cNvPr id="8" name="TextBox 7"/>
          <p:cNvSpPr txBox="1"/>
          <p:nvPr/>
        </p:nvSpPr>
        <p:spPr>
          <a:xfrm>
            <a:off x="1371600" y="1938528"/>
            <a:ext cx="2560320" cy="6400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Time zero = t0 MRI</a:t>
            </a:r>
          </a:p>
        </p:txBody>
      </p:sp>
      <p:sp>
        <p:nvSpPr>
          <p:cNvPr id="9" name="TextBox 8"/>
          <p:cNvSpPr txBox="1"/>
          <p:nvPr/>
        </p:nvSpPr>
        <p:spPr>
          <a:xfrm>
            <a:off x="731520" y="2606039"/>
            <a:ext cx="3154680" cy="11430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Survival counts from the baseline scan, so predictions use only t0 information.</a:t>
            </a:r>
          </a:p>
        </p:txBody>
      </p:sp>
      <p:sp>
        <p:nvSpPr>
          <p:cNvPr id="10" name="Rounded Rectangle 9"/>
          <p:cNvSpPr/>
          <p:nvPr/>
        </p:nvSpPr>
        <p:spPr>
          <a:xfrm>
            <a:off x="4297679" y="1737360"/>
            <a:ext cx="3474720" cy="20574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80559" y="19202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2</a:t>
            </a:r>
          </a:p>
        </p:txBody>
      </p:sp>
      <p:sp>
        <p:nvSpPr>
          <p:cNvPr id="12" name="TextBox 11"/>
          <p:cNvSpPr txBox="1"/>
          <p:nvPr/>
        </p:nvSpPr>
        <p:spPr>
          <a:xfrm>
            <a:off x="5120640" y="1938528"/>
            <a:ext cx="2560320" cy="6400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Every death is observed</a:t>
            </a:r>
          </a:p>
        </p:txBody>
      </p:sp>
      <p:sp>
        <p:nvSpPr>
          <p:cNvPr id="13" name="TextBox 12"/>
          <p:cNvSpPr txBox="1"/>
          <p:nvPr/>
        </p:nvSpPr>
        <p:spPr>
          <a:xfrm>
            <a:off x="4480559" y="2606039"/>
            <a:ext cx="3154680" cy="11430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No patient was lost to follow-up, so no 'censoring' corrections are needed.</a:t>
            </a:r>
          </a:p>
        </p:txBody>
      </p:sp>
      <p:sp>
        <p:nvSpPr>
          <p:cNvPr id="14" name="Rounded Rectangle 13"/>
          <p:cNvSpPr/>
          <p:nvPr/>
        </p:nvSpPr>
        <p:spPr>
          <a:xfrm>
            <a:off x="8046719" y="1737360"/>
            <a:ext cx="3474720" cy="20574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9" y="19202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3</a:t>
            </a:r>
          </a:p>
        </p:txBody>
      </p:sp>
      <p:sp>
        <p:nvSpPr>
          <p:cNvPr id="16" name="TextBox 15"/>
          <p:cNvSpPr txBox="1"/>
          <p:nvPr/>
        </p:nvSpPr>
        <p:spPr>
          <a:xfrm>
            <a:off x="8869680" y="1938528"/>
            <a:ext cx="2560320" cy="6400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Response is not a baseline predictor</a:t>
            </a:r>
          </a:p>
        </p:txBody>
      </p:sp>
      <p:sp>
        <p:nvSpPr>
          <p:cNvPr id="17" name="TextBox 16"/>
          <p:cNvSpPr txBox="1"/>
          <p:nvPr/>
        </p:nvSpPr>
        <p:spPr>
          <a:xfrm>
            <a:off x="8229599" y="2606039"/>
            <a:ext cx="3154680" cy="11430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Only survivors reach t1; using it at t0 would flatter it (immortal-time bias).</a:t>
            </a:r>
          </a:p>
        </p:txBody>
      </p:sp>
      <p:sp>
        <p:nvSpPr>
          <p:cNvPr id="18" name="Rounded Rectangle 17"/>
          <p:cNvSpPr/>
          <p:nvPr/>
        </p:nvSpPr>
        <p:spPr>
          <a:xfrm>
            <a:off x="548640" y="4023360"/>
            <a:ext cx="3474720" cy="20574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420624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4</a:t>
            </a:r>
          </a:p>
        </p:txBody>
      </p:sp>
      <p:sp>
        <p:nvSpPr>
          <p:cNvPr id="20" name="TextBox 19"/>
          <p:cNvSpPr txBox="1"/>
          <p:nvPr/>
        </p:nvSpPr>
        <p:spPr>
          <a:xfrm>
            <a:off x="1371600" y="4224528"/>
            <a:ext cx="2560320" cy="6400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Treatment was not randomized</a:t>
            </a:r>
          </a:p>
        </p:txBody>
      </p:sp>
      <p:sp>
        <p:nvSpPr>
          <p:cNvPr id="21" name="TextBox 20"/>
          <p:cNvSpPr txBox="1"/>
          <p:nvPr/>
        </p:nvSpPr>
        <p:spPr>
          <a:xfrm>
            <a:off x="731520" y="4892040"/>
            <a:ext cx="3154680" cy="11430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Doctors choose the schedule by age and fitness, so its effects are associations, not causes.</a:t>
            </a:r>
          </a:p>
        </p:txBody>
      </p:sp>
      <p:sp>
        <p:nvSpPr>
          <p:cNvPr id="22" name="Rounded Rectangle 21"/>
          <p:cNvSpPr/>
          <p:nvPr/>
        </p:nvSpPr>
        <p:spPr>
          <a:xfrm>
            <a:off x="4297679" y="4023360"/>
            <a:ext cx="3474720" cy="20574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80559" y="420624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5</a:t>
            </a:r>
          </a:p>
        </p:txBody>
      </p:sp>
      <p:sp>
        <p:nvSpPr>
          <p:cNvPr id="24" name="TextBox 23"/>
          <p:cNvSpPr txBox="1"/>
          <p:nvPr/>
        </p:nvSpPr>
        <p:spPr>
          <a:xfrm>
            <a:off x="5120640" y="4224528"/>
            <a:ext cx="2560320" cy="6400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Missing data kept, not dropped</a:t>
            </a:r>
          </a:p>
        </p:txBody>
      </p:sp>
      <p:sp>
        <p:nvSpPr>
          <p:cNvPr id="25" name="TextBox 24"/>
          <p:cNvSpPr txBox="1"/>
          <p:nvPr/>
        </p:nvSpPr>
        <p:spPr>
          <a:xfrm>
            <a:off x="4480559" y="4892040"/>
            <a:ext cx="3154680" cy="11430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70 patients without treatment records form an 'Unknown' group; 1 missing PS set to 1.</a:t>
            </a:r>
          </a:p>
        </p:txBody>
      </p:sp>
      <p:sp>
        <p:nvSpPr>
          <p:cNvPr id="26" name="Rounded Rectangle 25"/>
          <p:cNvSpPr/>
          <p:nvPr/>
        </p:nvSpPr>
        <p:spPr>
          <a:xfrm>
            <a:off x="8046719" y="4023360"/>
            <a:ext cx="3474720" cy="20574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599" y="420624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6</a:t>
            </a:r>
          </a:p>
        </p:txBody>
      </p:sp>
      <p:sp>
        <p:nvSpPr>
          <p:cNvPr id="28" name="TextBox 27"/>
          <p:cNvSpPr txBox="1"/>
          <p:nvPr/>
        </p:nvSpPr>
        <p:spPr>
          <a:xfrm>
            <a:off x="8869680" y="4224528"/>
            <a:ext cx="2560320" cy="6400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Model assumption checked</a:t>
            </a:r>
          </a:p>
        </p:txBody>
      </p:sp>
      <p:sp>
        <p:nvSpPr>
          <p:cNvPr id="29" name="TextBox 28"/>
          <p:cNvSpPr txBox="1"/>
          <p:nvPr/>
        </p:nvSpPr>
        <p:spPr>
          <a:xfrm>
            <a:off x="8229599" y="4892040"/>
            <a:ext cx="3154680" cy="11430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Cox models assume each effect is constant over time; we tested it and found where it isn't.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Three tools we use</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Curves to see differences, hazard ratios to measure them</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15</a:t>
            </a:r>
          </a:p>
        </p:txBody>
      </p:sp>
      <p:sp>
        <p:nvSpPr>
          <p:cNvPr id="6" name="Rounded Rectangle 5"/>
          <p:cNvSpPr/>
          <p:nvPr/>
        </p:nvSpPr>
        <p:spPr>
          <a:xfrm>
            <a:off x="548640" y="1737360"/>
            <a:ext cx="3474720" cy="4480560"/>
          </a:xfrm>
          <a:prstGeom prst="roundRect">
            <a:avLst>
              <a:gd name="adj" fmla="val 4736"/>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92024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1">
                <a:solidFill>
                  <a:srgbClr val="FFFFFF"/>
                </a:solidFill>
                <a:latin typeface="Calibri"/>
              </a:rPr>
              <a:t>1</a:t>
            </a:r>
          </a:p>
        </p:txBody>
      </p:sp>
      <p:sp>
        <p:nvSpPr>
          <p:cNvPr id="8" name="TextBox 7"/>
          <p:cNvSpPr txBox="1"/>
          <p:nvPr/>
        </p:nvSpPr>
        <p:spPr>
          <a:xfrm>
            <a:off x="1463040" y="1965960"/>
            <a:ext cx="2468880" cy="457200"/>
          </a:xfrm>
          <a:prstGeom prst="rect">
            <a:avLst/>
          </a:prstGeom>
          <a:noFill/>
        </p:spPr>
        <p:txBody>
          <a:bodyPr wrap="square" anchor="t" lIns="36576" rIns="36576" tIns="18288" bIns="18288">
            <a:spAutoFit/>
          </a:bodyPr>
          <a:lstStyle/>
          <a:p>
            <a:pPr algn="l">
              <a:spcAft>
                <a:spcPts val="600"/>
              </a:spcAft>
            </a:pPr>
            <a:r>
              <a:rPr sz="1800" b="1" i="0">
                <a:solidFill>
                  <a:srgbClr val="172033"/>
                </a:solidFill>
                <a:latin typeface="Cambria"/>
              </a:rPr>
              <a:t>Kaplan–Meier curve</a:t>
            </a:r>
          </a:p>
        </p:txBody>
      </p:sp>
      <p:sp>
        <p:nvSpPr>
          <p:cNvPr id="9" name="TextBox 8"/>
          <p:cNvSpPr txBox="1"/>
          <p:nvPr/>
        </p:nvSpPr>
        <p:spPr>
          <a:xfrm>
            <a:off x="777240" y="2697480"/>
            <a:ext cx="3108960" cy="3291840"/>
          </a:xfrm>
          <a:prstGeom prst="rect">
            <a:avLst/>
          </a:prstGeom>
          <a:noFill/>
        </p:spPr>
        <p:txBody>
          <a:bodyPr wrap="square" anchor="t" lIns="36576" rIns="36576" tIns="18288" bIns="18288">
            <a:spAutoFit/>
          </a:bodyPr>
          <a:lstStyle/>
          <a:p>
            <a:pPr algn="l" marL="256032" indent="-219456">
              <a:spcAft>
                <a:spcPts val="1000"/>
              </a:spcAft>
              <a:buFont typeface="Arial"/>
              <a:buChar char="•"/>
            </a:pPr>
            <a:r>
              <a:rPr sz="1600" b="0" i="0">
                <a:solidFill>
                  <a:srgbClr val="3A4256"/>
                </a:solidFill>
                <a:latin typeface="Calibri"/>
              </a:rPr>
              <a:t>Share of patients still alive over time.</a:t>
            </a:r>
          </a:p>
          <a:p>
            <a:pPr algn="l" marL="256032" indent="-219456">
              <a:spcAft>
                <a:spcPts val="1000"/>
              </a:spcAft>
              <a:buFont typeface="Arial"/>
              <a:buChar char="•"/>
            </a:pPr>
            <a:r>
              <a:rPr sz="1600" b="0" i="0">
                <a:solidFill>
                  <a:srgbClr val="3A4256"/>
                </a:solidFill>
                <a:latin typeface="Calibri"/>
              </a:rPr>
              <a:t>Each step down is a death.</a:t>
            </a:r>
          </a:p>
          <a:p>
            <a:pPr algn="l" marL="256032" indent="-219456">
              <a:spcAft>
                <a:spcPts val="1000"/>
              </a:spcAft>
              <a:buFont typeface="Arial"/>
              <a:buChar char="•"/>
            </a:pPr>
            <a:r>
              <a:rPr sz="1600" b="0" i="0">
                <a:solidFill>
                  <a:srgbClr val="3A4256"/>
                </a:solidFill>
                <a:latin typeface="Calibri"/>
              </a:rPr>
              <a:t>Compare the curves of different groups.</a:t>
            </a:r>
          </a:p>
        </p:txBody>
      </p:sp>
      <p:sp>
        <p:nvSpPr>
          <p:cNvPr id="10" name="Rounded Rectangle 9"/>
          <p:cNvSpPr/>
          <p:nvPr/>
        </p:nvSpPr>
        <p:spPr>
          <a:xfrm>
            <a:off x="4297679" y="1737360"/>
            <a:ext cx="3474720" cy="4480560"/>
          </a:xfrm>
          <a:prstGeom prst="roundRect">
            <a:avLst>
              <a:gd name="adj" fmla="val 4736"/>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79" y="192024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1">
                <a:solidFill>
                  <a:srgbClr val="FFFFFF"/>
                </a:solidFill>
                <a:latin typeface="Calibri"/>
              </a:rPr>
              <a:t>2</a:t>
            </a:r>
          </a:p>
        </p:txBody>
      </p:sp>
      <p:sp>
        <p:nvSpPr>
          <p:cNvPr id="12" name="TextBox 11"/>
          <p:cNvSpPr txBox="1"/>
          <p:nvPr/>
        </p:nvSpPr>
        <p:spPr>
          <a:xfrm>
            <a:off x="5212079" y="1965960"/>
            <a:ext cx="2468880" cy="457200"/>
          </a:xfrm>
          <a:prstGeom prst="rect">
            <a:avLst/>
          </a:prstGeom>
          <a:noFill/>
        </p:spPr>
        <p:txBody>
          <a:bodyPr wrap="square" anchor="t" lIns="36576" rIns="36576" tIns="18288" bIns="18288">
            <a:spAutoFit/>
          </a:bodyPr>
          <a:lstStyle/>
          <a:p>
            <a:pPr algn="l">
              <a:spcAft>
                <a:spcPts val="600"/>
              </a:spcAft>
            </a:pPr>
            <a:r>
              <a:rPr sz="1800" b="1" i="0">
                <a:solidFill>
                  <a:srgbClr val="172033"/>
                </a:solidFill>
                <a:latin typeface="Cambria"/>
              </a:rPr>
              <a:t>Hazard ratio (HR)</a:t>
            </a:r>
          </a:p>
        </p:txBody>
      </p:sp>
      <p:sp>
        <p:nvSpPr>
          <p:cNvPr id="13" name="Rounded Rectangle 12"/>
          <p:cNvSpPr/>
          <p:nvPr/>
        </p:nvSpPr>
        <p:spPr>
          <a:xfrm>
            <a:off x="8046719" y="1737360"/>
            <a:ext cx="3474720" cy="4480560"/>
          </a:xfrm>
          <a:prstGeom prst="roundRect">
            <a:avLst>
              <a:gd name="adj" fmla="val 4736"/>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75319" y="1920240"/>
            <a:ext cx="548640" cy="54864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1">
                <a:solidFill>
                  <a:srgbClr val="FFFFFF"/>
                </a:solidFill>
                <a:latin typeface="Calibri"/>
              </a:rPr>
              <a:t>3</a:t>
            </a:r>
          </a:p>
        </p:txBody>
      </p:sp>
      <p:sp>
        <p:nvSpPr>
          <p:cNvPr id="15" name="TextBox 14"/>
          <p:cNvSpPr txBox="1"/>
          <p:nvPr/>
        </p:nvSpPr>
        <p:spPr>
          <a:xfrm>
            <a:off x="8961119" y="1965960"/>
            <a:ext cx="2468880" cy="457200"/>
          </a:xfrm>
          <a:prstGeom prst="rect">
            <a:avLst/>
          </a:prstGeom>
          <a:noFill/>
        </p:spPr>
        <p:txBody>
          <a:bodyPr wrap="square" anchor="t" lIns="36576" rIns="36576" tIns="18288" bIns="18288">
            <a:spAutoFit/>
          </a:bodyPr>
          <a:lstStyle/>
          <a:p>
            <a:pPr algn="l">
              <a:spcAft>
                <a:spcPts val="600"/>
              </a:spcAft>
            </a:pPr>
            <a:r>
              <a:rPr sz="1800" b="1" i="0">
                <a:solidFill>
                  <a:srgbClr val="172033"/>
                </a:solidFill>
                <a:latin typeface="Cambria"/>
              </a:rPr>
              <a:t>Cox regression</a:t>
            </a:r>
          </a:p>
        </p:txBody>
      </p:sp>
      <p:sp>
        <p:nvSpPr>
          <p:cNvPr id="16" name="TextBox 15"/>
          <p:cNvSpPr txBox="1"/>
          <p:nvPr/>
        </p:nvSpPr>
        <p:spPr>
          <a:xfrm>
            <a:off x="8275319" y="2697480"/>
            <a:ext cx="3108960" cy="3291840"/>
          </a:xfrm>
          <a:prstGeom prst="rect">
            <a:avLst/>
          </a:prstGeom>
          <a:noFill/>
        </p:spPr>
        <p:txBody>
          <a:bodyPr wrap="square" anchor="t" lIns="36576" rIns="36576" tIns="18288" bIns="18288">
            <a:spAutoFit/>
          </a:bodyPr>
          <a:lstStyle/>
          <a:p>
            <a:pPr algn="l" marL="256032" indent="-219456">
              <a:spcAft>
                <a:spcPts val="1000"/>
              </a:spcAft>
              <a:buFont typeface="Arial"/>
              <a:buChar char="•"/>
            </a:pPr>
            <a:r>
              <a:rPr sz="1600" b="0" i="0">
                <a:solidFill>
                  <a:srgbClr val="3A4256"/>
                </a:solidFill>
                <a:latin typeface="Calibri"/>
              </a:rPr>
              <a:t>Estimates the HR of several factors at once.</a:t>
            </a:r>
          </a:p>
          <a:p>
            <a:pPr algn="l" marL="256032" indent="-219456">
              <a:spcAft>
                <a:spcPts val="1000"/>
              </a:spcAft>
              <a:buFont typeface="Arial"/>
              <a:buChar char="•"/>
            </a:pPr>
            <a:r>
              <a:rPr sz="1600" b="0" i="0">
                <a:solidFill>
                  <a:srgbClr val="3A4256"/>
                </a:solidFill>
                <a:latin typeface="Calibri"/>
              </a:rPr>
              <a:t>Each HR is adjusted for the others.</a:t>
            </a:r>
          </a:p>
          <a:p>
            <a:pPr algn="l" marL="256032" indent="-219456">
              <a:spcAft>
                <a:spcPts val="1000"/>
              </a:spcAft>
              <a:buFont typeface="Arial"/>
              <a:buChar char="•"/>
            </a:pPr>
            <a:r>
              <a:rPr sz="1600" b="0" i="0">
                <a:solidFill>
                  <a:srgbClr val="3A4256"/>
                </a:solidFill>
                <a:latin typeface="Calibri"/>
              </a:rPr>
              <a:t>Example: the effect of age among patients with the same fitness.</a:t>
            </a:r>
          </a:p>
        </p:txBody>
      </p:sp>
      <p:sp>
        <p:nvSpPr>
          <p:cNvPr id="17" name="TextBox 16"/>
          <p:cNvSpPr txBox="1"/>
          <p:nvPr/>
        </p:nvSpPr>
        <p:spPr>
          <a:xfrm>
            <a:off x="4526280" y="2606040"/>
            <a:ext cx="3108960" cy="3474720"/>
          </a:xfrm>
          <a:prstGeom prst="rect">
            <a:avLst/>
          </a:prstGeom>
          <a:noFill/>
        </p:spPr>
        <p:txBody>
          <a:bodyPr wrap="square" anchor="t" lIns="36576" rIns="36576" tIns="18288" bIns="18288">
            <a:spAutoFit/>
          </a:bodyPr>
          <a:lstStyle/>
          <a:p>
            <a:pPr algn="l">
              <a:spcAft>
                <a:spcPts val="0"/>
              </a:spcAft>
            </a:pPr>
            <a:r>
              <a:rPr sz="2200" b="1" i="0">
                <a:solidFill>
                  <a:srgbClr val="B4441A"/>
                </a:solidFill>
                <a:latin typeface="Calibri"/>
              </a:rPr>
              <a:t>HR = 2</a:t>
            </a:r>
          </a:p>
          <a:p>
            <a:pPr algn="l">
              <a:spcAft>
                <a:spcPts val="1000"/>
              </a:spcAft>
            </a:pPr>
            <a:r>
              <a:rPr sz="1500" b="0" i="0">
                <a:solidFill>
                  <a:srgbClr val="3A4256"/>
                </a:solidFill>
                <a:latin typeface="Calibri"/>
              </a:rPr>
              <a:t>twice the death rate → shorter survival</a:t>
            </a:r>
          </a:p>
          <a:p>
            <a:pPr algn="l">
              <a:spcAft>
                <a:spcPts val="0"/>
              </a:spcAft>
            </a:pPr>
            <a:r>
              <a:rPr sz="2200" b="1" i="0">
                <a:solidFill>
                  <a:srgbClr val="2A78D6"/>
                </a:solidFill>
                <a:latin typeface="Calibri"/>
              </a:rPr>
              <a:t>HR = 0.5</a:t>
            </a:r>
          </a:p>
          <a:p>
            <a:pPr algn="l">
              <a:spcAft>
                <a:spcPts val="1000"/>
              </a:spcAft>
            </a:pPr>
            <a:r>
              <a:rPr sz="1500" b="0" i="0">
                <a:solidFill>
                  <a:srgbClr val="3A4256"/>
                </a:solidFill>
                <a:latin typeface="Calibri"/>
              </a:rPr>
              <a:t>half the death rate → longer survival</a:t>
            </a:r>
          </a:p>
          <a:p>
            <a:pPr algn="l">
              <a:spcAft>
                <a:spcPts val="0"/>
              </a:spcAft>
            </a:pPr>
            <a:r>
              <a:rPr sz="2200" b="1" i="0">
                <a:solidFill>
                  <a:srgbClr val="3A4256"/>
                </a:solidFill>
                <a:latin typeface="Calibri"/>
              </a:rPr>
              <a:t>HR = 1</a:t>
            </a:r>
          </a:p>
          <a:p>
            <a:pPr algn="l">
              <a:spcAft>
                <a:spcPts val="1000"/>
              </a:spcAft>
            </a:pPr>
            <a:r>
              <a:rPr sz="1500" b="0" i="0">
                <a:solidFill>
                  <a:srgbClr val="3A4256"/>
                </a:solidFill>
                <a:latin typeface="Calibri"/>
              </a:rPr>
              <a:t>no difference</a:t>
            </a:r>
          </a:p>
          <a:p>
            <a:pPr algn="l">
              <a:spcAft>
                <a:spcPts val="600"/>
              </a:spcAft>
            </a:pPr>
            <a:r>
              <a:rPr sz="1400" b="0" i="0">
                <a:solidFill>
                  <a:srgbClr val="3A4256"/>
                </a:solidFill>
                <a:latin typeface="Calibri"/>
              </a:rPr>
              <a:t>If the 95% confidence interval includes 1, there is no clear effect.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All factors together</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Age, fitness, WHO edition and treatment plan still matter after adjusting for each other</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16</a:t>
            </a:r>
          </a:p>
        </p:txBody>
      </p:sp>
      <p:pic>
        <p:nvPicPr>
          <p:cNvPr id="6" name="Picture 5" descr="forest_modelA.png"/>
          <p:cNvPicPr>
            <a:picLocks noChangeAspect="1"/>
          </p:cNvPicPr>
          <p:nvPr/>
        </p:nvPicPr>
        <p:blipFill>
          <a:blip r:embed="rId3"/>
          <a:stretch>
            <a:fillRect/>
          </a:stretch>
        </p:blipFill>
        <p:spPr>
          <a:xfrm>
            <a:off x="457200" y="1645920"/>
            <a:ext cx="6949440" cy="3701288"/>
          </a:xfrm>
          <a:prstGeom prst="rect">
            <a:avLst/>
          </a:prstGeom>
        </p:spPr>
      </p:pic>
      <p:sp>
        <p:nvSpPr>
          <p:cNvPr id="7" name="TextBox 6"/>
          <p:cNvSpPr txBox="1"/>
          <p:nvPr/>
        </p:nvSpPr>
        <p:spPr>
          <a:xfrm>
            <a:off x="7589520" y="1737360"/>
            <a:ext cx="4023360" cy="448056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How to read it</a:t>
            </a:r>
          </a:p>
          <a:p>
            <a:pPr algn="l">
              <a:spcAft>
                <a:spcPts val="1400"/>
              </a:spcAft>
            </a:pPr>
            <a:r>
              <a:rPr sz="1400" b="0" i="0">
                <a:solidFill>
                  <a:srgbClr val="3A4256"/>
                </a:solidFill>
                <a:latin typeface="Calibri"/>
              </a:rPr>
              <a:t>Dot = hazard ratio; line = 95% confidence interval. Right of 1 = shorter survival.</a:t>
            </a:r>
          </a:p>
          <a:p>
            <a:pPr algn="l">
              <a:spcAft>
                <a:spcPts val="600"/>
              </a:spcAft>
            </a:pPr>
            <a:r>
              <a:rPr sz="1700" b="1" i="0">
                <a:solidFill>
                  <a:srgbClr val="172033"/>
                </a:solidFill>
                <a:latin typeface="Calibri"/>
              </a:rPr>
              <a:t>Key results</a:t>
            </a:r>
          </a:p>
          <a:p>
            <a:pPr algn="l" marL="256032" indent="-219456">
              <a:spcAft>
                <a:spcPts val="600"/>
              </a:spcAft>
              <a:buFont typeface="Arial"/>
              <a:buChar char="•"/>
            </a:pPr>
            <a:r>
              <a:rPr sz="1500" b="0" i="0">
                <a:solidFill>
                  <a:srgbClr val="3A4256"/>
                </a:solidFill>
                <a:latin typeface="Calibri"/>
              </a:rPr>
              <a:t>Each +10 years: 20% higher death rate</a:t>
            </a:r>
          </a:p>
          <a:p>
            <a:pPr algn="l" marL="256032" indent="-219456">
              <a:spcAft>
                <a:spcPts val="600"/>
              </a:spcAft>
              <a:buFont typeface="Arial"/>
              <a:buChar char="•"/>
            </a:pPr>
            <a:r>
              <a:rPr sz="1500" b="0" i="0">
                <a:solidFill>
                  <a:srgbClr val="3A4256"/>
                </a:solidFill>
                <a:latin typeface="Calibri"/>
              </a:rPr>
              <a:t>PS 3: 2.0× the death rate</a:t>
            </a:r>
          </a:p>
          <a:p>
            <a:pPr algn="l" marL="256032" indent="-219456">
              <a:spcAft>
                <a:spcPts val="600"/>
              </a:spcAft>
              <a:buFont typeface="Arial"/>
              <a:buChar char="•"/>
            </a:pPr>
            <a:r>
              <a:rPr sz="1500" b="0" i="0">
                <a:solidFill>
                  <a:srgbClr val="3A4256"/>
                </a:solidFill>
                <a:latin typeface="Calibri"/>
              </a:rPr>
              <a:t>WHO 2021: 45% higher</a:t>
            </a:r>
          </a:p>
          <a:p>
            <a:pPr algn="l" marL="256032" indent="-219456">
              <a:spcAft>
                <a:spcPts val="600"/>
              </a:spcAft>
              <a:buFont typeface="Arial"/>
              <a:buChar char="•"/>
            </a:pPr>
            <a:r>
              <a:rPr sz="1500" b="0" i="0">
                <a:solidFill>
                  <a:srgbClr val="3A4256"/>
                </a:solidFill>
                <a:latin typeface="Calibri"/>
              </a:rPr>
              <a:t>Short-course RT: 70% higher (a frailty marker)</a:t>
            </a:r>
          </a:p>
          <a:p>
            <a:pPr algn="l" marL="256032" indent="-219456">
              <a:spcAft>
                <a:spcPts val="600"/>
              </a:spcAft>
              <a:buFont typeface="Arial"/>
              <a:buChar char="•"/>
            </a:pPr>
            <a:r>
              <a:rPr sz="1500" b="0" i="0">
                <a:solidFill>
                  <a:srgbClr val="3A4256"/>
                </a:solidFill>
                <a:latin typeface="Calibri"/>
              </a:rPr>
              <a:t>Sex and BMI: no effect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Which predictors matter most?</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Age, WHO edition and tumour size carry the most information</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17</a:t>
            </a:r>
          </a:p>
        </p:txBody>
      </p:sp>
      <p:graphicFrame>
        <p:nvGraphicFramePr>
          <p:cNvPr id="6" name="Chart 5"/>
          <p:cNvGraphicFramePr>
            <a:graphicFrameLocks noGrp="1"/>
          </p:cNvGraphicFramePr>
          <p:nvPr/>
        </p:nvGraphicFramePr>
        <p:xfrm>
          <a:off x="548640" y="1645920"/>
          <a:ext cx="6766560" cy="4572000"/>
        </p:xfrm>
        <a:graphic>
          <a:graphicData uri="http://schemas.openxmlformats.org/drawingml/2006/chart">
            <c:chart xmlns:c="http://schemas.openxmlformats.org/drawingml/2006/chart" r:id="rId3"/>
          </a:graphicData>
        </a:graphic>
      </p:graphicFrame>
      <p:sp>
        <p:nvSpPr>
          <p:cNvPr id="7" name="Rounded Rectangle 6"/>
          <p:cNvSpPr/>
          <p:nvPr/>
        </p:nvSpPr>
        <p:spPr>
          <a:xfrm>
            <a:off x="7680960" y="1737360"/>
            <a:ext cx="3931920" cy="4480560"/>
          </a:xfrm>
          <a:prstGeom prst="roundRect">
            <a:avLst>
              <a:gd name="adj" fmla="val 4186"/>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566160" cy="420624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How we rank them</a:t>
            </a:r>
          </a:p>
          <a:p>
            <a:pPr algn="l" marL="256032" indent="-219456">
              <a:spcAft>
                <a:spcPts val="800"/>
              </a:spcAft>
              <a:buFont typeface="Arial"/>
              <a:buChar char="•"/>
            </a:pPr>
            <a:r>
              <a:rPr sz="1500" b="0" i="0">
                <a:solidFill>
                  <a:srgbClr val="3A4256"/>
                </a:solidFill>
                <a:latin typeface="Calibri"/>
              </a:rPr>
              <a:t>Remove one predictor at a time</a:t>
            </a:r>
          </a:p>
          <a:p>
            <a:pPr algn="l" marL="256032" indent="-219456">
              <a:spcAft>
                <a:spcPts val="800"/>
              </a:spcAft>
              <a:buFont typeface="Arial"/>
              <a:buChar char="•"/>
            </a:pPr>
            <a:r>
              <a:rPr sz="1500" b="0" i="0">
                <a:solidFill>
                  <a:srgbClr val="3A4256"/>
                </a:solidFill>
                <a:latin typeface="Calibri"/>
              </a:rPr>
              <a:t>Measure how much worse the model fits</a:t>
            </a:r>
          </a:p>
          <a:p>
            <a:pPr algn="l" marL="256032" indent="-219456">
              <a:spcAft>
                <a:spcPts val="800"/>
              </a:spcAft>
              <a:buFont typeface="Arial"/>
              <a:buChar char="•"/>
            </a:pPr>
            <a:r>
              <a:rPr sz="1500" b="0" i="0">
                <a:solidFill>
                  <a:srgbClr val="3A4256"/>
                </a:solidFill>
                <a:latin typeface="Calibri"/>
              </a:rPr>
              <a:t>Bigger loss = more important</a:t>
            </a:r>
          </a:p>
          <a:p>
            <a:pPr algn="l">
              <a:spcAft>
                <a:spcPts val="600"/>
              </a:spcAft>
            </a:pPr>
            <a:r>
              <a:rPr sz="1700" b="1" i="0">
                <a:solidFill>
                  <a:srgbClr val="172033"/>
                </a:solidFill>
                <a:latin typeface="Calibri"/>
              </a:rPr>
              <a:t>Result</a:t>
            </a:r>
          </a:p>
          <a:p>
            <a:pPr algn="l" marL="256032" indent="-219456">
              <a:spcAft>
                <a:spcPts val="800"/>
              </a:spcAft>
              <a:buFont typeface="Arial"/>
              <a:buChar char="•"/>
            </a:pPr>
            <a:r>
              <a:rPr sz="1500" b="0" i="0">
                <a:solidFill>
                  <a:srgbClr val="3A4256"/>
                </a:solidFill>
                <a:latin typeface="Calibri"/>
              </a:rPr>
              <a:t>Age is first</a:t>
            </a:r>
          </a:p>
          <a:p>
            <a:pPr algn="l" marL="256032" indent="-219456">
              <a:spcAft>
                <a:spcPts val="800"/>
              </a:spcAft>
              <a:buFont typeface="Arial"/>
              <a:buChar char="•"/>
            </a:pPr>
            <a:r>
              <a:rPr sz="1500" b="0" i="0">
                <a:solidFill>
                  <a:srgbClr val="3A4256"/>
                </a:solidFill>
                <a:latin typeface="Calibri"/>
              </a:rPr>
              <a:t>WHO edition and tumour size close behind</a:t>
            </a:r>
          </a:p>
          <a:p>
            <a:pPr algn="l" marL="256032" indent="-219456">
              <a:spcAft>
                <a:spcPts val="800"/>
              </a:spcAft>
              <a:buFont typeface="Arial"/>
              <a:buChar char="•"/>
            </a:pPr>
            <a:r>
              <a:rPr sz="1500" b="0" i="0">
                <a:solidFill>
                  <a:srgbClr val="3A4256"/>
                </a:solidFill>
                <a:latin typeface="Calibri"/>
              </a:rPr>
              <a:t>Fitness and RT schedule add a bit 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Effects are curves, not straight lines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Risk rises after about 65–70 years and for tumours above ~40 cm³</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18</a:t>
            </a:r>
          </a:p>
        </p:txBody>
      </p:sp>
      <p:pic>
        <p:nvPicPr>
          <p:cNvPr id="6" name="Picture 5" descr="shapes_age_volume.png"/>
          <p:cNvPicPr>
            <a:picLocks noChangeAspect="1"/>
          </p:cNvPicPr>
          <p:nvPr/>
        </p:nvPicPr>
        <p:blipFill>
          <a:blip r:embed="rId3"/>
          <a:stretch>
            <a:fillRect/>
          </a:stretch>
        </p:blipFill>
        <p:spPr>
          <a:xfrm>
            <a:off x="685800" y="1645920"/>
            <a:ext cx="10401300" cy="3355848"/>
          </a:xfrm>
          <a:prstGeom prst="rect">
            <a:avLst/>
          </a:prstGeom>
        </p:spPr>
      </p:pic>
      <p:sp>
        <p:nvSpPr>
          <p:cNvPr id="7" name="TextBox 6"/>
          <p:cNvSpPr txBox="1"/>
          <p:nvPr/>
        </p:nvSpPr>
        <p:spPr>
          <a:xfrm>
            <a:off x="685800" y="5440680"/>
            <a:ext cx="10789920" cy="822960"/>
          </a:xfrm>
          <a:prstGeom prst="rect">
            <a:avLst/>
          </a:prstGeom>
          <a:noFill/>
        </p:spPr>
        <p:txBody>
          <a:bodyPr wrap="square" anchor="t" lIns="36576" rIns="36576" tIns="18288" bIns="18288">
            <a:spAutoFit/>
          </a:bodyPr>
          <a:lstStyle/>
          <a:p>
            <a:pPr algn="l">
              <a:spcAft>
                <a:spcPts val="600"/>
              </a:spcAft>
            </a:pPr>
            <a:r>
              <a:rPr sz="1500" b="1" i="0">
                <a:solidFill>
                  <a:srgbClr val="3A4256"/>
                </a:solidFill>
                <a:latin typeface="Calibri"/>
              </a:rPr>
              <a:t>Shaded band = 95% confidence interval. </a:t>
            </a:r>
            <a:r>
              <a:rPr sz="1500" b="0" i="0">
                <a:solidFill>
                  <a:srgbClr val="3A4256"/>
                </a:solidFill>
                <a:latin typeface="Calibri"/>
              </a:rPr>
              <a:t>Letting these effects bend (a 'spline') fitted the data significantly better than straight lines.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Some effects fade after six months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Frailty signals predict early deaths; six-month survivors are more alike</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19</a:t>
            </a:r>
          </a:p>
        </p:txBody>
      </p:sp>
      <p:graphicFrame>
        <p:nvGraphicFramePr>
          <p:cNvPr id="6" name="Chart 5"/>
          <p:cNvGraphicFramePr>
            <a:graphicFrameLocks noGrp="1"/>
          </p:cNvGraphicFramePr>
          <p:nvPr/>
        </p:nvGraphicFramePr>
        <p:xfrm>
          <a:off x="548640" y="1645920"/>
          <a:ext cx="6949440" cy="457200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737360"/>
            <a:ext cx="3749039" cy="4480560"/>
          </a:xfrm>
          <a:prstGeom prst="roundRect">
            <a:avLst>
              <a:gd name="adj" fmla="val 439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874519"/>
            <a:ext cx="3383280" cy="420624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What it means</a:t>
            </a:r>
          </a:p>
          <a:p>
            <a:pPr algn="l" marL="256032" indent="-219456">
              <a:spcAft>
                <a:spcPts val="1000"/>
              </a:spcAft>
              <a:buFont typeface="Arial"/>
              <a:buChar char="•"/>
            </a:pPr>
            <a:r>
              <a:rPr sz="1500" b="0" i="0">
                <a:solidFill>
                  <a:srgbClr val="3A4256"/>
                </a:solidFill>
                <a:latin typeface="Calibri"/>
              </a:rPr>
              <a:t>Frailty markers (PS 2, short-course RT) and big tumours predict early deaths</a:t>
            </a:r>
          </a:p>
          <a:p>
            <a:pPr algn="l" marL="256032" indent="-219456">
              <a:spcAft>
                <a:spcPts val="1000"/>
              </a:spcAft>
              <a:buFont typeface="Arial"/>
              <a:buChar char="•"/>
            </a:pPr>
            <a:r>
              <a:rPr sz="1500" b="0" i="0">
                <a:solidFill>
                  <a:srgbClr val="3A4256"/>
                </a:solidFill>
                <a:latin typeface="Calibri"/>
              </a:rPr>
              <a:t>Among six-month survivors these matter much less</a:t>
            </a:r>
          </a:p>
          <a:p>
            <a:pPr algn="l" marL="256032" indent="-219456">
              <a:spcAft>
                <a:spcPts val="1000"/>
              </a:spcAft>
              <a:buFont typeface="Arial"/>
              <a:buChar char="•"/>
            </a:pPr>
            <a:r>
              <a:rPr sz="1500" b="0" i="0">
                <a:solidFill>
                  <a:srgbClr val="3A4256"/>
                </a:solidFill>
                <a:latin typeface="Calibri"/>
              </a:rPr>
              <a:t>Age and WHO edition matter throughout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What the MRI numbers add</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Most contrast-MRI features just measure size; FLAIR texture adds new information</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20</a:t>
            </a:r>
          </a:p>
        </p:txBody>
      </p:sp>
      <p:pic>
        <p:nvPicPr>
          <p:cNvPr id="6" name="Picture 5" descr="radiomics_volcano.png"/>
          <p:cNvPicPr>
            <a:picLocks noChangeAspect="1"/>
          </p:cNvPicPr>
          <p:nvPr/>
        </p:nvPicPr>
        <p:blipFill>
          <a:blip r:embed="rId3"/>
          <a:stretch>
            <a:fillRect/>
          </a:stretch>
        </p:blipFill>
        <p:spPr>
          <a:xfrm>
            <a:off x="685800" y="1600200"/>
            <a:ext cx="10401300" cy="3355848"/>
          </a:xfrm>
          <a:prstGeom prst="rect">
            <a:avLst/>
          </a:prstGeom>
        </p:spPr>
      </p:pic>
      <p:sp>
        <p:nvSpPr>
          <p:cNvPr id="7" name="TextBox 6"/>
          <p:cNvSpPr txBox="1"/>
          <p:nvPr/>
        </p:nvSpPr>
        <p:spPr>
          <a:xfrm>
            <a:off x="685800" y="5257800"/>
            <a:ext cx="3474720" cy="548640"/>
          </a:xfrm>
          <a:prstGeom prst="rect">
            <a:avLst/>
          </a:prstGeom>
          <a:noFill/>
        </p:spPr>
        <p:txBody>
          <a:bodyPr wrap="square" anchor="t" lIns="36576" rIns="36576" tIns="18288" bIns="18288">
            <a:spAutoFit/>
          </a:bodyPr>
          <a:lstStyle/>
          <a:p>
            <a:pPr algn="l">
              <a:spcAft>
                <a:spcPts val="600"/>
              </a:spcAft>
            </a:pPr>
            <a:r>
              <a:rPr sz="2600" b="1" i="0">
                <a:solidFill>
                  <a:srgbClr val="2A78D6"/>
                </a:solidFill>
                <a:latin typeface="Cambria"/>
              </a:rPr>
              <a:t>16 of 20</a:t>
            </a:r>
          </a:p>
        </p:txBody>
      </p:sp>
      <p:sp>
        <p:nvSpPr>
          <p:cNvPr id="8" name="TextBox 7"/>
          <p:cNvSpPr txBox="1"/>
          <p:nvPr/>
        </p:nvSpPr>
        <p:spPr>
          <a:xfrm>
            <a:off x="685800" y="5806440"/>
            <a:ext cx="3474720" cy="4572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significant T1-Gd features are really tumour size</a:t>
            </a:r>
          </a:p>
        </p:txBody>
      </p:sp>
      <p:sp>
        <p:nvSpPr>
          <p:cNvPr id="9" name="TextBox 8"/>
          <p:cNvSpPr txBox="1"/>
          <p:nvPr/>
        </p:nvSpPr>
        <p:spPr>
          <a:xfrm>
            <a:off x="4343400" y="5257800"/>
            <a:ext cx="3474720" cy="548640"/>
          </a:xfrm>
          <a:prstGeom prst="rect">
            <a:avLst/>
          </a:prstGeom>
          <a:noFill/>
        </p:spPr>
        <p:txBody>
          <a:bodyPr wrap="square" anchor="t" lIns="36576" rIns="36576" tIns="18288" bIns="18288">
            <a:spAutoFit/>
          </a:bodyPr>
          <a:lstStyle/>
          <a:p>
            <a:pPr algn="l">
              <a:spcAft>
                <a:spcPts val="600"/>
              </a:spcAft>
            </a:pPr>
            <a:r>
              <a:rPr sz="2600" b="1" i="0">
                <a:solidFill>
                  <a:srgbClr val="B4441A"/>
                </a:solidFill>
                <a:latin typeface="Cambria"/>
              </a:rPr>
              <a:t>26</a:t>
            </a:r>
          </a:p>
        </p:txBody>
      </p:sp>
      <p:sp>
        <p:nvSpPr>
          <p:cNvPr id="10" name="TextBox 9"/>
          <p:cNvSpPr txBox="1"/>
          <p:nvPr/>
        </p:nvSpPr>
        <p:spPr>
          <a:xfrm>
            <a:off x="4343400" y="5806440"/>
            <a:ext cx="3474720" cy="4572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FLAIR features stay significant after adjusting</a:t>
            </a:r>
          </a:p>
        </p:txBody>
      </p:sp>
      <p:sp>
        <p:nvSpPr>
          <p:cNvPr id="11" name="TextBox 10"/>
          <p:cNvSpPr txBox="1"/>
          <p:nvPr/>
        </p:nvSpPr>
        <p:spPr>
          <a:xfrm>
            <a:off x="8001000" y="5257800"/>
            <a:ext cx="3474720" cy="548640"/>
          </a:xfrm>
          <a:prstGeom prst="rect">
            <a:avLst/>
          </a:prstGeom>
          <a:noFill/>
        </p:spPr>
        <p:txBody>
          <a:bodyPr wrap="square" anchor="t" lIns="36576" rIns="36576" tIns="18288" bIns="18288">
            <a:spAutoFit/>
          </a:bodyPr>
          <a:lstStyle/>
          <a:p>
            <a:pPr algn="l">
              <a:spcAft>
                <a:spcPts val="600"/>
              </a:spcAft>
            </a:pPr>
            <a:r>
              <a:rPr sz="2600" b="1" i="0">
                <a:solidFill>
                  <a:srgbClr val="B4441A"/>
                </a:solidFill>
                <a:latin typeface="Cambria"/>
              </a:rPr>
              <a:t>Patchier</a:t>
            </a:r>
          </a:p>
        </p:txBody>
      </p:sp>
      <p:sp>
        <p:nvSpPr>
          <p:cNvPr id="12" name="TextBox 11"/>
          <p:cNvSpPr txBox="1"/>
          <p:nvPr/>
        </p:nvSpPr>
        <p:spPr>
          <a:xfrm>
            <a:off x="8001000" y="5806440"/>
            <a:ext cx="3474720" cy="45720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FLAIR texture goes with longer survival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Body size and sex</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Neither predicts survival, treatment choice or response; age does</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21</a:t>
            </a:r>
          </a:p>
        </p:txBody>
      </p:sp>
      <p:pic>
        <p:nvPicPr>
          <p:cNvPr id="6" name="Picture 5" descr="body_size_sex.png"/>
          <p:cNvPicPr>
            <a:picLocks noChangeAspect="1"/>
          </p:cNvPicPr>
          <p:nvPr/>
        </p:nvPicPr>
        <p:blipFill>
          <a:blip r:embed="rId3"/>
          <a:stretch>
            <a:fillRect/>
          </a:stretch>
        </p:blipFill>
        <p:spPr>
          <a:xfrm>
            <a:off x="548640" y="1600200"/>
            <a:ext cx="10538460" cy="3538728"/>
          </a:xfrm>
          <a:prstGeom prst="rect">
            <a:avLst/>
          </a:prstGeom>
        </p:spPr>
      </p:pic>
      <p:sp>
        <p:nvSpPr>
          <p:cNvPr id="7" name="Rounded Rectangle 6"/>
          <p:cNvSpPr/>
          <p:nvPr/>
        </p:nvSpPr>
        <p:spPr>
          <a:xfrm>
            <a:off x="548640" y="5532120"/>
            <a:ext cx="11064240" cy="731520"/>
          </a:xfrm>
          <a:prstGeom prst="roundRect">
            <a:avLst>
              <a:gd name="adj" fmla="val 12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641848"/>
            <a:ext cx="10698480" cy="54864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Good to know: </a:t>
            </a:r>
            <a:r>
              <a:rPr sz="1500" b="0" i="0">
                <a:solidFill>
                  <a:srgbClr val="172033"/>
                </a:solidFill>
                <a:latin typeface="Calibri"/>
              </a:rPr>
              <a:t>radiotherapy dose (Gy) is per kg of irradiated tissue, not of body weight, so heavier patients get the same dose.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Same predictors in every subgroup?</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Mostly yes: the leaders are the same in young and old, fit and frail</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22</a:t>
            </a:r>
          </a:p>
        </p:txBody>
      </p:sp>
      <p:pic>
        <p:nvPicPr>
          <p:cNvPr id="6" name="Picture 5" descr="subgroups.png"/>
          <p:cNvPicPr>
            <a:picLocks noChangeAspect="1"/>
          </p:cNvPicPr>
          <p:nvPr/>
        </p:nvPicPr>
        <p:blipFill>
          <a:blip r:embed="rId3"/>
          <a:stretch>
            <a:fillRect/>
          </a:stretch>
        </p:blipFill>
        <p:spPr>
          <a:xfrm>
            <a:off x="548640" y="1554480"/>
            <a:ext cx="10392156" cy="3506724"/>
          </a:xfrm>
          <a:prstGeom prst="rect">
            <a:avLst/>
          </a:prstGeom>
        </p:spPr>
      </p:pic>
      <p:sp>
        <p:nvSpPr>
          <p:cNvPr id="7" name="Rounded Rectangle 6"/>
          <p:cNvSpPr/>
          <p:nvPr/>
        </p:nvSpPr>
        <p:spPr>
          <a:xfrm>
            <a:off x="548640" y="5349240"/>
            <a:ext cx="3474720" cy="91440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413248"/>
            <a:ext cx="3154680" cy="822960"/>
          </a:xfrm>
          <a:prstGeom prst="rect">
            <a:avLst/>
          </a:prstGeom>
          <a:noFill/>
        </p:spPr>
        <p:txBody>
          <a:bodyPr wrap="square" anchor="t" lIns="36576" rIns="36576" tIns="18288" bIns="18288">
            <a:spAutoFit/>
          </a:bodyPr>
          <a:lstStyle/>
          <a:p>
            <a:pPr algn="l">
              <a:spcAft>
                <a:spcPts val="200"/>
              </a:spcAft>
            </a:pPr>
            <a:r>
              <a:rPr sz="1500" b="1" i="0">
                <a:solidFill>
                  <a:srgbClr val="172033"/>
                </a:solidFill>
                <a:latin typeface="Calibri"/>
              </a:rPr>
              <a:t>Same leaders</a:t>
            </a:r>
          </a:p>
          <a:p>
            <a:pPr algn="l">
              <a:spcAft>
                <a:spcPts val="600"/>
              </a:spcAft>
            </a:pPr>
            <a:r>
              <a:rPr sz="1400" b="0" i="0">
                <a:solidFill>
                  <a:srgbClr val="3A4256"/>
                </a:solidFill>
                <a:latin typeface="Calibri"/>
              </a:rPr>
              <a:t>FLAIR texture and WHO edition lead in most groups</a:t>
            </a:r>
          </a:p>
        </p:txBody>
      </p:sp>
      <p:sp>
        <p:nvSpPr>
          <p:cNvPr id="9" name="Rounded Rectangle 8"/>
          <p:cNvSpPr/>
          <p:nvPr/>
        </p:nvSpPr>
        <p:spPr>
          <a:xfrm>
            <a:off x="4297679" y="5349240"/>
            <a:ext cx="3474720" cy="914400"/>
          </a:xfrm>
          <a:prstGeom prst="roundRect">
            <a:avLst>
              <a:gd name="adj" fmla="val 12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5413248"/>
            <a:ext cx="3154680" cy="822960"/>
          </a:xfrm>
          <a:prstGeom prst="rect">
            <a:avLst/>
          </a:prstGeom>
          <a:noFill/>
        </p:spPr>
        <p:txBody>
          <a:bodyPr wrap="square" anchor="t" lIns="36576" rIns="36576" tIns="18288" bIns="18288">
            <a:spAutoFit/>
          </a:bodyPr>
          <a:lstStyle/>
          <a:p>
            <a:pPr algn="l">
              <a:spcAft>
                <a:spcPts val="200"/>
              </a:spcAft>
            </a:pPr>
            <a:r>
              <a:rPr sz="1500" b="1" i="0">
                <a:solidFill>
                  <a:srgbClr val="172033"/>
                </a:solidFill>
                <a:latin typeface="Calibri"/>
              </a:rPr>
              <a:t>Possible difference</a:t>
            </a:r>
          </a:p>
          <a:p>
            <a:pPr algn="l">
              <a:spcAft>
                <a:spcPts val="600"/>
              </a:spcAft>
            </a:pPr>
            <a:r>
              <a:rPr sz="1400" b="0" i="0">
                <a:solidFill>
                  <a:srgbClr val="3A4256"/>
                </a:solidFill>
                <a:latin typeface="Calibri"/>
              </a:rPr>
              <a:t>Fitness (PS) may matter mainly at 75+ (needs confirming)</a:t>
            </a:r>
          </a:p>
        </p:txBody>
      </p:sp>
      <p:sp>
        <p:nvSpPr>
          <p:cNvPr id="11" name="Rounded Rectangle 10"/>
          <p:cNvSpPr/>
          <p:nvPr/>
        </p:nvSpPr>
        <p:spPr>
          <a:xfrm>
            <a:off x="8046719" y="5349240"/>
            <a:ext cx="3474720" cy="91440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5413248"/>
            <a:ext cx="3154680" cy="822960"/>
          </a:xfrm>
          <a:prstGeom prst="rect">
            <a:avLst/>
          </a:prstGeom>
          <a:noFill/>
        </p:spPr>
        <p:txBody>
          <a:bodyPr wrap="square" anchor="t" lIns="36576" rIns="36576" tIns="18288" bIns="18288">
            <a:spAutoFit/>
          </a:bodyPr>
          <a:lstStyle/>
          <a:p>
            <a:pPr algn="l">
              <a:spcAft>
                <a:spcPts val="200"/>
              </a:spcAft>
            </a:pPr>
            <a:r>
              <a:rPr sz="1500" b="1" i="0">
                <a:solidFill>
                  <a:srgbClr val="172033"/>
                </a:solidFill>
                <a:latin typeface="Calibri"/>
              </a:rPr>
              <a:t>Can't be judged</a:t>
            </a:r>
          </a:p>
          <a:p>
            <a:pPr algn="l">
              <a:spcAft>
                <a:spcPts val="600"/>
              </a:spcAft>
            </a:pPr>
            <a:r>
              <a:rPr sz="1400" b="0" i="0">
                <a:solidFill>
                  <a:srgbClr val="3A4256"/>
                </a:solidFill>
                <a:latin typeface="Calibri"/>
              </a:rPr>
              <a:t>Short-course RT under 65: only 4 patients got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A paradox: wait longer, live longer?</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No: the sickest patients are simply treated fastest</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23</a:t>
            </a:r>
          </a:p>
        </p:txBody>
      </p:sp>
      <p:graphicFrame>
        <p:nvGraphicFramePr>
          <p:cNvPr id="6" name="Chart 5"/>
          <p:cNvGraphicFramePr>
            <a:graphicFrameLocks noGrp="1"/>
          </p:cNvGraphicFramePr>
          <p:nvPr/>
        </p:nvGraphicFramePr>
        <p:xfrm>
          <a:off x="548640" y="1645920"/>
          <a:ext cx="6949440" cy="457200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737360"/>
            <a:ext cx="3749039" cy="4480560"/>
          </a:xfrm>
          <a:prstGeom prst="roundRect">
            <a:avLst>
              <a:gd name="adj" fmla="val 439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874519"/>
            <a:ext cx="3383280" cy="420624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Why</a:t>
            </a:r>
          </a:p>
          <a:p>
            <a:pPr algn="l" marL="256032" indent="-219456">
              <a:spcAft>
                <a:spcPts val="1000"/>
              </a:spcAft>
              <a:buFont typeface="Arial"/>
              <a:buChar char="•"/>
            </a:pPr>
            <a:r>
              <a:rPr sz="1500" b="0" i="0">
                <a:solidFill>
                  <a:srgbClr val="3A4256"/>
                </a:solidFill>
                <a:latin typeface="Calibri"/>
              </a:rPr>
              <a:t>Patients started at once were mostly unwell: 75% · 30% · 22% · 23% had PS ≥ 2 (left to right)</a:t>
            </a:r>
          </a:p>
          <a:p>
            <a:pPr algn="l" marL="256032" indent="-219456">
              <a:spcAft>
                <a:spcPts val="1000"/>
              </a:spcAft>
              <a:buFont typeface="Arial"/>
              <a:buChar char="•"/>
            </a:pPr>
            <a:r>
              <a:rPr sz="1500" b="0" i="0">
                <a:solidFill>
                  <a:srgbClr val="3A4256"/>
                </a:solidFill>
                <a:latin typeface="Calibri"/>
              </a:rPr>
              <a:t>Doctors treat the sickest patients fastest</a:t>
            </a:r>
          </a:p>
          <a:p>
            <a:pPr algn="l" marL="256032" indent="-219456">
              <a:spcAft>
                <a:spcPts val="1000"/>
              </a:spcAft>
              <a:buFont typeface="Arial"/>
              <a:buChar char="•"/>
            </a:pPr>
            <a:r>
              <a:rPr sz="1500" b="0" i="0">
                <a:solidFill>
                  <a:srgbClr val="3A4256"/>
                </a:solidFill>
                <a:latin typeface="Calibri"/>
              </a:rPr>
              <a:t>So delay marks who the patient is, not a benefit of waiting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Testing prediction models fairly</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Every model is scored on patients it has never seen</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24</a:t>
            </a:r>
          </a:p>
        </p:txBody>
      </p:sp>
      <p:sp>
        <p:nvSpPr>
          <p:cNvPr id="6" name="Rounded Rectangle 5"/>
          <p:cNvSpPr/>
          <p:nvPr/>
        </p:nvSpPr>
        <p:spPr>
          <a:xfrm>
            <a:off x="822960" y="2011680"/>
            <a:ext cx="914400" cy="50292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01168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26079" y="201168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977639" y="201168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201168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 y="2057400"/>
            <a:ext cx="685800" cy="411480"/>
          </a:xfrm>
          <a:prstGeom prst="rect">
            <a:avLst/>
          </a:prstGeom>
          <a:noFill/>
        </p:spPr>
        <p:txBody>
          <a:bodyPr wrap="square" anchor="t" lIns="36576" rIns="36576" tIns="18288" bIns="18288">
            <a:spAutoFit/>
          </a:bodyPr>
          <a:lstStyle/>
          <a:p>
            <a:pPr algn="l">
              <a:spcAft>
                <a:spcPts val="600"/>
              </a:spcAft>
            </a:pPr>
            <a:r>
              <a:rPr sz="1200" b="0" i="0">
                <a:solidFill>
                  <a:srgbClr val="6B7280"/>
                </a:solidFill>
                <a:latin typeface="Calibri"/>
              </a:rPr>
              <a:t>Run 1</a:t>
            </a:r>
          </a:p>
        </p:txBody>
      </p:sp>
      <p:sp>
        <p:nvSpPr>
          <p:cNvPr id="12" name="Rounded Rectangle 11"/>
          <p:cNvSpPr/>
          <p:nvPr/>
        </p:nvSpPr>
        <p:spPr>
          <a:xfrm>
            <a:off x="822960" y="274320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874519" y="2743200"/>
            <a:ext cx="914400" cy="50292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6079" y="274320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977639" y="274320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0" y="274320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 y="2788920"/>
            <a:ext cx="685800" cy="411480"/>
          </a:xfrm>
          <a:prstGeom prst="rect">
            <a:avLst/>
          </a:prstGeom>
          <a:noFill/>
        </p:spPr>
        <p:txBody>
          <a:bodyPr wrap="square" anchor="t" lIns="36576" rIns="36576" tIns="18288" bIns="18288">
            <a:spAutoFit/>
          </a:bodyPr>
          <a:lstStyle/>
          <a:p>
            <a:pPr algn="l">
              <a:spcAft>
                <a:spcPts val="600"/>
              </a:spcAft>
            </a:pPr>
            <a:r>
              <a:rPr sz="1200" b="0" i="0">
                <a:solidFill>
                  <a:srgbClr val="6B7280"/>
                </a:solidFill>
                <a:latin typeface="Calibri"/>
              </a:rPr>
              <a:t>Run 2</a:t>
            </a:r>
          </a:p>
        </p:txBody>
      </p:sp>
      <p:sp>
        <p:nvSpPr>
          <p:cNvPr id="18" name="Rounded Rectangle 17"/>
          <p:cNvSpPr/>
          <p:nvPr/>
        </p:nvSpPr>
        <p:spPr>
          <a:xfrm>
            <a:off x="822960" y="347472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874519" y="347472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926079" y="3474720"/>
            <a:ext cx="914400" cy="50292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977639" y="347472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29200" y="347472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 y="3520440"/>
            <a:ext cx="685800" cy="411480"/>
          </a:xfrm>
          <a:prstGeom prst="rect">
            <a:avLst/>
          </a:prstGeom>
          <a:noFill/>
        </p:spPr>
        <p:txBody>
          <a:bodyPr wrap="square" anchor="t" lIns="36576" rIns="36576" tIns="18288" bIns="18288">
            <a:spAutoFit/>
          </a:bodyPr>
          <a:lstStyle/>
          <a:p>
            <a:pPr algn="l">
              <a:spcAft>
                <a:spcPts val="600"/>
              </a:spcAft>
            </a:pPr>
            <a:r>
              <a:rPr sz="1200" b="0" i="0">
                <a:solidFill>
                  <a:srgbClr val="6B7280"/>
                </a:solidFill>
                <a:latin typeface="Calibri"/>
              </a:rPr>
              <a:t>Run 3</a:t>
            </a:r>
          </a:p>
        </p:txBody>
      </p:sp>
      <p:sp>
        <p:nvSpPr>
          <p:cNvPr id="24" name="Rounded Rectangle 23"/>
          <p:cNvSpPr/>
          <p:nvPr/>
        </p:nvSpPr>
        <p:spPr>
          <a:xfrm>
            <a:off x="822960" y="420624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874519" y="420624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79" y="420624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977639" y="4206240"/>
            <a:ext cx="914400" cy="50292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029200" y="420624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 y="4251960"/>
            <a:ext cx="685800" cy="411480"/>
          </a:xfrm>
          <a:prstGeom prst="rect">
            <a:avLst/>
          </a:prstGeom>
          <a:noFill/>
        </p:spPr>
        <p:txBody>
          <a:bodyPr wrap="square" anchor="t" lIns="36576" rIns="36576" tIns="18288" bIns="18288">
            <a:spAutoFit/>
          </a:bodyPr>
          <a:lstStyle/>
          <a:p>
            <a:pPr algn="l">
              <a:spcAft>
                <a:spcPts val="600"/>
              </a:spcAft>
            </a:pPr>
            <a:r>
              <a:rPr sz="1200" b="0" i="0">
                <a:solidFill>
                  <a:srgbClr val="6B7280"/>
                </a:solidFill>
                <a:latin typeface="Calibri"/>
              </a:rPr>
              <a:t>Run 4</a:t>
            </a:r>
          </a:p>
        </p:txBody>
      </p:sp>
      <p:sp>
        <p:nvSpPr>
          <p:cNvPr id="30" name="Rounded Rectangle 29"/>
          <p:cNvSpPr/>
          <p:nvPr/>
        </p:nvSpPr>
        <p:spPr>
          <a:xfrm>
            <a:off x="822960" y="493776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874519" y="493776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926079" y="493776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977639" y="4937760"/>
            <a:ext cx="914400" cy="5029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29200" y="4937760"/>
            <a:ext cx="914400" cy="50292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 y="4983480"/>
            <a:ext cx="685800" cy="411480"/>
          </a:xfrm>
          <a:prstGeom prst="rect">
            <a:avLst/>
          </a:prstGeom>
          <a:noFill/>
        </p:spPr>
        <p:txBody>
          <a:bodyPr wrap="square" anchor="t" lIns="36576" rIns="36576" tIns="18288" bIns="18288">
            <a:spAutoFit/>
          </a:bodyPr>
          <a:lstStyle/>
          <a:p>
            <a:pPr algn="l">
              <a:spcAft>
                <a:spcPts val="600"/>
              </a:spcAft>
            </a:pPr>
            <a:r>
              <a:rPr sz="1200" b="0" i="0">
                <a:solidFill>
                  <a:srgbClr val="6B7280"/>
                </a:solidFill>
                <a:latin typeface="Calibri"/>
              </a:rPr>
              <a:t>Run 5</a:t>
            </a:r>
          </a:p>
        </p:txBody>
      </p:sp>
      <p:sp>
        <p:nvSpPr>
          <p:cNvPr id="36" name="TextBox 35"/>
          <p:cNvSpPr txBox="1"/>
          <p:nvPr/>
        </p:nvSpPr>
        <p:spPr>
          <a:xfrm>
            <a:off x="822960" y="1600200"/>
            <a:ext cx="5120640" cy="365760"/>
          </a:xfrm>
          <a:prstGeom prst="rect">
            <a:avLst/>
          </a:prstGeom>
          <a:noFill/>
        </p:spPr>
        <p:txBody>
          <a:bodyPr wrap="square" anchor="t" lIns="36576" rIns="36576" tIns="18288" bIns="18288">
            <a:spAutoFit/>
          </a:bodyPr>
          <a:lstStyle/>
          <a:p>
            <a:pPr algn="l">
              <a:spcAft>
                <a:spcPts val="600"/>
              </a:spcAft>
            </a:pPr>
            <a:r>
              <a:rPr sz="1500" b="1" i="0">
                <a:solidFill>
                  <a:srgbClr val="3A4256"/>
                </a:solidFill>
                <a:latin typeface="Calibri"/>
              </a:rPr>
              <a:t>Train</a:t>
            </a:r>
            <a:r>
              <a:rPr sz="1500" b="0" i="0">
                <a:solidFill>
                  <a:srgbClr val="172033"/>
                </a:solidFill>
                <a:latin typeface="Calibri"/>
              </a:rPr>
              <a:t> on 4 groups, </a:t>
            </a:r>
            <a:r>
              <a:rPr sz="1500" b="1" i="0">
                <a:solidFill>
                  <a:srgbClr val="B4441A"/>
                </a:solidFill>
                <a:latin typeface="Calibri"/>
              </a:rPr>
              <a:t>test</a:t>
            </a:r>
            <a:r>
              <a:rPr sz="1500" b="0" i="0">
                <a:solidFill>
                  <a:srgbClr val="172033"/>
                </a:solidFill>
                <a:latin typeface="Calibri"/>
              </a:rPr>
              <a:t> on the 5th</a:t>
            </a:r>
          </a:p>
        </p:txBody>
      </p:sp>
      <p:sp>
        <p:nvSpPr>
          <p:cNvPr id="37" name="TextBox 36"/>
          <p:cNvSpPr txBox="1"/>
          <p:nvPr/>
        </p:nvSpPr>
        <p:spPr>
          <a:xfrm>
            <a:off x="822960" y="5715000"/>
            <a:ext cx="5120640" cy="457200"/>
          </a:xfrm>
          <a:prstGeom prst="rect">
            <a:avLst/>
          </a:prstGeom>
          <a:noFill/>
        </p:spPr>
        <p:txBody>
          <a:bodyPr wrap="square" anchor="t" lIns="36576" rIns="36576" tIns="18288" bIns="18288">
            <a:spAutoFit/>
          </a:bodyPr>
          <a:lstStyle/>
          <a:p>
            <a:pPr algn="l">
              <a:spcAft>
                <a:spcPts val="600"/>
              </a:spcAft>
            </a:pPr>
            <a:r>
              <a:rPr sz="1400" b="0" i="1">
                <a:solidFill>
                  <a:srgbClr val="3A4256"/>
                </a:solidFill>
                <a:latin typeface="Calibri"/>
              </a:rPr>
              <a:t>Repeated 10 times with new splits = 50 tests per model</a:t>
            </a:r>
          </a:p>
        </p:txBody>
      </p:sp>
      <p:sp>
        <p:nvSpPr>
          <p:cNvPr id="38" name="Rounded Rectangle 37"/>
          <p:cNvSpPr/>
          <p:nvPr/>
        </p:nvSpPr>
        <p:spPr>
          <a:xfrm>
            <a:off x="6583680" y="1691640"/>
            <a:ext cx="5029200" cy="132588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12280" y="1801368"/>
            <a:ext cx="4663440" cy="36576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C-index</a:t>
            </a:r>
          </a:p>
        </p:txBody>
      </p:sp>
      <p:sp>
        <p:nvSpPr>
          <p:cNvPr id="40" name="TextBox 39"/>
          <p:cNvSpPr txBox="1"/>
          <p:nvPr/>
        </p:nvSpPr>
        <p:spPr>
          <a:xfrm>
            <a:off x="6812280" y="2194560"/>
            <a:ext cx="4663440" cy="8229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Of two patients, how often the model correctly says who lives longer. 0.5 = coin flip, 1 = perfect.</a:t>
            </a:r>
          </a:p>
        </p:txBody>
      </p:sp>
      <p:sp>
        <p:nvSpPr>
          <p:cNvPr id="41" name="Rounded Rectangle 40"/>
          <p:cNvSpPr/>
          <p:nvPr/>
        </p:nvSpPr>
        <p:spPr>
          <a:xfrm>
            <a:off x="6583680" y="3200400"/>
            <a:ext cx="5029200" cy="132588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12280" y="3310128"/>
            <a:ext cx="4663440" cy="36576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AUC at 6, 12, 24 months</a:t>
            </a:r>
          </a:p>
        </p:txBody>
      </p:sp>
      <p:sp>
        <p:nvSpPr>
          <p:cNvPr id="43" name="TextBox 42"/>
          <p:cNvSpPr txBox="1"/>
          <p:nvPr/>
        </p:nvSpPr>
        <p:spPr>
          <a:xfrm>
            <a:off x="6812280" y="3703320"/>
            <a:ext cx="4663440" cy="8229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How well it separates those who died by then from those who didn't.</a:t>
            </a:r>
          </a:p>
        </p:txBody>
      </p:sp>
      <p:sp>
        <p:nvSpPr>
          <p:cNvPr id="44" name="Rounded Rectangle 43"/>
          <p:cNvSpPr/>
          <p:nvPr/>
        </p:nvSpPr>
        <p:spPr>
          <a:xfrm>
            <a:off x="6583680" y="4709160"/>
            <a:ext cx="5029200" cy="132588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12280" y="4818888"/>
            <a:ext cx="4663440" cy="36576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Calibration</a:t>
            </a:r>
          </a:p>
        </p:txBody>
      </p:sp>
      <p:sp>
        <p:nvSpPr>
          <p:cNvPr id="46" name="TextBox 45"/>
          <p:cNvSpPr txBox="1"/>
          <p:nvPr/>
        </p:nvSpPr>
        <p:spPr>
          <a:xfrm>
            <a:off x="6812280" y="5212080"/>
            <a:ext cx="4663440" cy="8229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If the model says '40% alive at 1 year', are about 40% actually alive?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Eleven models compared</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Simple models match machine learning; adding FLAIR texture gives the best score</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25</a:t>
            </a:r>
          </a:p>
        </p:txBody>
      </p:sp>
      <p:graphicFrame>
        <p:nvGraphicFramePr>
          <p:cNvPr id="6" name="Chart 5"/>
          <p:cNvGraphicFramePr>
            <a:graphicFrameLocks noGrp="1"/>
          </p:cNvGraphicFramePr>
          <p:nvPr/>
        </p:nvGraphicFramePr>
        <p:xfrm>
          <a:off x="548640" y="1600200"/>
          <a:ext cx="7680960" cy="4663440"/>
        </p:xfrm>
        <a:graphic>
          <a:graphicData uri="http://schemas.openxmlformats.org/drawingml/2006/chart">
            <c:chart xmlns:c="http://schemas.openxmlformats.org/drawingml/2006/chart" r:id="rId3"/>
          </a:graphicData>
        </a:graphic>
      </p:graphicFrame>
      <p:sp>
        <p:nvSpPr>
          <p:cNvPr id="7" name="Rounded Rectangle 6"/>
          <p:cNvSpPr/>
          <p:nvPr/>
        </p:nvSpPr>
        <p:spPr>
          <a:xfrm>
            <a:off x="8503920" y="1737360"/>
            <a:ext cx="3108960" cy="4480560"/>
          </a:xfrm>
          <a:prstGeom prst="roundRect">
            <a:avLst>
              <a:gd name="adj" fmla="val 529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874519"/>
            <a:ext cx="2788920" cy="429768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Takeaways</a:t>
            </a:r>
          </a:p>
          <a:p>
            <a:pPr algn="l" marL="256032" indent="-219456">
              <a:spcAft>
                <a:spcPts val="800"/>
              </a:spcAft>
              <a:buFont typeface="Arial"/>
              <a:buChar char="•"/>
            </a:pPr>
            <a:r>
              <a:rPr sz="1400" b="0" i="0">
                <a:solidFill>
                  <a:srgbClr val="3A4256"/>
                </a:solidFill>
                <a:latin typeface="Calibri"/>
              </a:rPr>
              <a:t>MRI numbers alone are weaker than clinical data</a:t>
            </a:r>
          </a:p>
          <a:p>
            <a:pPr algn="l" marL="256032" indent="-219456">
              <a:spcAft>
                <a:spcPts val="800"/>
              </a:spcAft>
              <a:buFont typeface="Arial"/>
              <a:buChar char="•"/>
            </a:pPr>
            <a:r>
              <a:rPr sz="1400" b="0" i="0">
                <a:solidFill>
                  <a:srgbClr val="3A4256"/>
                </a:solidFill>
                <a:latin typeface="Calibri"/>
              </a:rPr>
              <a:t>Machine learning didn't beat the simple model</a:t>
            </a:r>
          </a:p>
          <a:p>
            <a:pPr algn="l" marL="256032" indent="-219456">
              <a:spcAft>
                <a:spcPts val="800"/>
              </a:spcAft>
              <a:buFont typeface="Arial"/>
              <a:buChar char="•"/>
            </a:pPr>
            <a:r>
              <a:rPr sz="1400" b="0" i="0">
                <a:solidFill>
                  <a:srgbClr val="3A4256"/>
                </a:solidFill>
                <a:latin typeface="Calibri"/>
              </a:rPr>
              <a:t>Best: Model C (orange)</a:t>
            </a:r>
          </a:p>
          <a:p>
            <a:pPr algn="l" marL="256032" indent="-219456">
              <a:spcAft>
                <a:spcPts val="800"/>
              </a:spcAft>
              <a:buFont typeface="Arial"/>
              <a:buChar char="•"/>
            </a:pPr>
            <a:r>
              <a:rPr sz="1400" b="0" i="0">
                <a:solidFill>
                  <a:srgbClr val="3A4256"/>
                </a:solidFill>
                <a:latin typeface="Calibri"/>
              </a:rPr>
              <a:t>All within 0.61–0.64: the data, not the method, sets the limit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Our best model: Model C</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Six ingredients, one personal survival curve</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26</a:t>
            </a:r>
          </a:p>
        </p:txBody>
      </p:sp>
      <p:sp>
        <p:nvSpPr>
          <p:cNvPr id="6" name="Rounded Rectangle 5"/>
          <p:cNvSpPr/>
          <p:nvPr/>
        </p:nvSpPr>
        <p:spPr>
          <a:xfrm>
            <a:off x="548640" y="1737360"/>
            <a:ext cx="288036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057400"/>
            <a:ext cx="594360" cy="5943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1</a:t>
            </a:r>
          </a:p>
        </p:txBody>
      </p:sp>
      <p:sp>
        <p:nvSpPr>
          <p:cNvPr id="8" name="TextBox 7"/>
          <p:cNvSpPr txBox="1"/>
          <p:nvPr/>
        </p:nvSpPr>
        <p:spPr>
          <a:xfrm>
            <a:off x="1463040" y="1965960"/>
            <a:ext cx="1920240" cy="4114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Age</a:t>
            </a:r>
          </a:p>
        </p:txBody>
      </p:sp>
      <p:sp>
        <p:nvSpPr>
          <p:cNvPr id="9" name="TextBox 8"/>
          <p:cNvSpPr txBox="1"/>
          <p:nvPr/>
        </p:nvSpPr>
        <p:spPr>
          <a:xfrm>
            <a:off x="1463040" y="2377439"/>
            <a:ext cx="1920240" cy="41148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as a curve</a:t>
            </a:r>
          </a:p>
        </p:txBody>
      </p:sp>
      <p:sp>
        <p:nvSpPr>
          <p:cNvPr id="10" name="Rounded Rectangle 9"/>
          <p:cNvSpPr/>
          <p:nvPr/>
        </p:nvSpPr>
        <p:spPr>
          <a:xfrm>
            <a:off x="3657600" y="1737360"/>
            <a:ext cx="288036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40480" y="2057400"/>
            <a:ext cx="594360" cy="5943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2</a:t>
            </a:r>
          </a:p>
        </p:txBody>
      </p:sp>
      <p:sp>
        <p:nvSpPr>
          <p:cNvPr id="12" name="TextBox 11"/>
          <p:cNvSpPr txBox="1"/>
          <p:nvPr/>
        </p:nvSpPr>
        <p:spPr>
          <a:xfrm>
            <a:off x="4572000" y="1965960"/>
            <a:ext cx="1920240" cy="4114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Fitness (PS)</a:t>
            </a:r>
          </a:p>
        </p:txBody>
      </p:sp>
      <p:sp>
        <p:nvSpPr>
          <p:cNvPr id="13" name="TextBox 12"/>
          <p:cNvSpPr txBox="1"/>
          <p:nvPr/>
        </p:nvSpPr>
        <p:spPr>
          <a:xfrm>
            <a:off x="4572000" y="2377439"/>
            <a:ext cx="1920240" cy="41148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0–1, 2, 3</a:t>
            </a:r>
          </a:p>
        </p:txBody>
      </p:sp>
      <p:sp>
        <p:nvSpPr>
          <p:cNvPr id="14" name="Rounded Rectangle 13"/>
          <p:cNvSpPr/>
          <p:nvPr/>
        </p:nvSpPr>
        <p:spPr>
          <a:xfrm>
            <a:off x="548640" y="3200400"/>
            <a:ext cx="288036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3520440"/>
            <a:ext cx="594360" cy="5943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3</a:t>
            </a:r>
          </a:p>
        </p:txBody>
      </p:sp>
      <p:sp>
        <p:nvSpPr>
          <p:cNvPr id="16" name="TextBox 15"/>
          <p:cNvSpPr txBox="1"/>
          <p:nvPr/>
        </p:nvSpPr>
        <p:spPr>
          <a:xfrm>
            <a:off x="1463040" y="3429000"/>
            <a:ext cx="1920240" cy="4114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WHO edition</a:t>
            </a:r>
          </a:p>
        </p:txBody>
      </p:sp>
      <p:sp>
        <p:nvSpPr>
          <p:cNvPr id="17" name="TextBox 16"/>
          <p:cNvSpPr txBox="1"/>
          <p:nvPr/>
        </p:nvSpPr>
        <p:spPr>
          <a:xfrm>
            <a:off x="1463040" y="3840480"/>
            <a:ext cx="1920240" cy="41148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2016 or 2021</a:t>
            </a:r>
          </a:p>
        </p:txBody>
      </p:sp>
      <p:sp>
        <p:nvSpPr>
          <p:cNvPr id="18" name="Rounded Rectangle 17"/>
          <p:cNvSpPr/>
          <p:nvPr/>
        </p:nvSpPr>
        <p:spPr>
          <a:xfrm>
            <a:off x="3657600" y="3200400"/>
            <a:ext cx="288036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40480" y="3520440"/>
            <a:ext cx="594360" cy="5943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4</a:t>
            </a:r>
          </a:p>
        </p:txBody>
      </p:sp>
      <p:sp>
        <p:nvSpPr>
          <p:cNvPr id="20" name="TextBox 19"/>
          <p:cNvSpPr txBox="1"/>
          <p:nvPr/>
        </p:nvSpPr>
        <p:spPr>
          <a:xfrm>
            <a:off x="4572000" y="3429000"/>
            <a:ext cx="1920240" cy="4114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RT schedule</a:t>
            </a:r>
          </a:p>
        </p:txBody>
      </p:sp>
      <p:sp>
        <p:nvSpPr>
          <p:cNvPr id="21" name="TextBox 20"/>
          <p:cNvSpPr txBox="1"/>
          <p:nvPr/>
        </p:nvSpPr>
        <p:spPr>
          <a:xfrm>
            <a:off x="4572000" y="3840480"/>
            <a:ext cx="1920240" cy="41148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planned at t0</a:t>
            </a:r>
          </a:p>
        </p:txBody>
      </p:sp>
      <p:sp>
        <p:nvSpPr>
          <p:cNvPr id="22" name="Rounded Rectangle 21"/>
          <p:cNvSpPr/>
          <p:nvPr/>
        </p:nvSpPr>
        <p:spPr>
          <a:xfrm>
            <a:off x="548640" y="4663440"/>
            <a:ext cx="288036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1520" y="4983479"/>
            <a:ext cx="594360" cy="5943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5</a:t>
            </a:r>
          </a:p>
        </p:txBody>
      </p:sp>
      <p:sp>
        <p:nvSpPr>
          <p:cNvPr id="24" name="TextBox 23"/>
          <p:cNvSpPr txBox="1"/>
          <p:nvPr/>
        </p:nvSpPr>
        <p:spPr>
          <a:xfrm>
            <a:off x="1463040" y="4892040"/>
            <a:ext cx="1920240" cy="4114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Tumour volume</a:t>
            </a:r>
          </a:p>
        </p:txBody>
      </p:sp>
      <p:sp>
        <p:nvSpPr>
          <p:cNvPr id="25" name="TextBox 24"/>
          <p:cNvSpPr txBox="1"/>
          <p:nvPr/>
        </p:nvSpPr>
        <p:spPr>
          <a:xfrm>
            <a:off x="1463040" y="5303520"/>
            <a:ext cx="1920240" cy="41148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as a curve</a:t>
            </a:r>
          </a:p>
        </p:txBody>
      </p:sp>
      <p:sp>
        <p:nvSpPr>
          <p:cNvPr id="26" name="Rounded Rectangle 25"/>
          <p:cNvSpPr/>
          <p:nvPr/>
        </p:nvSpPr>
        <p:spPr>
          <a:xfrm>
            <a:off x="3657600" y="4663440"/>
            <a:ext cx="2880360" cy="1234440"/>
          </a:xfrm>
          <a:prstGeom prst="roundRect">
            <a:avLst>
              <a:gd name="adj" fmla="val 12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840480" y="4983479"/>
            <a:ext cx="594360" cy="59436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6</a:t>
            </a:r>
          </a:p>
        </p:txBody>
      </p:sp>
      <p:sp>
        <p:nvSpPr>
          <p:cNvPr id="28" name="TextBox 27"/>
          <p:cNvSpPr txBox="1"/>
          <p:nvPr/>
        </p:nvSpPr>
        <p:spPr>
          <a:xfrm>
            <a:off x="4572000" y="4892040"/>
            <a:ext cx="1920240" cy="411480"/>
          </a:xfrm>
          <a:prstGeom prst="rect">
            <a:avLst/>
          </a:prstGeom>
          <a:noFill/>
        </p:spPr>
        <p:txBody>
          <a:bodyPr wrap="square" anchor="t" lIns="36576" rIns="36576" tIns="18288" bIns="18288">
            <a:spAutoFit/>
          </a:bodyPr>
          <a:lstStyle/>
          <a:p>
            <a:pPr algn="l">
              <a:spcAft>
                <a:spcPts val="600"/>
              </a:spcAft>
            </a:pPr>
            <a:r>
              <a:rPr sz="1600" b="1" i="0">
                <a:solidFill>
                  <a:srgbClr val="172033"/>
                </a:solidFill>
                <a:latin typeface="Calibri"/>
              </a:rPr>
              <a:t>FLAIR texture</a:t>
            </a:r>
          </a:p>
        </p:txBody>
      </p:sp>
      <p:sp>
        <p:nvSpPr>
          <p:cNvPr id="29" name="TextBox 28"/>
          <p:cNvSpPr txBox="1"/>
          <p:nvPr/>
        </p:nvSpPr>
        <p:spPr>
          <a:xfrm>
            <a:off x="4572000" y="5303520"/>
            <a:ext cx="1920240" cy="41148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5 summary scores</a:t>
            </a:r>
          </a:p>
        </p:txBody>
      </p:sp>
      <p:sp>
        <p:nvSpPr>
          <p:cNvPr id="30" name="TextBox 29"/>
          <p:cNvSpPr txBox="1"/>
          <p:nvPr/>
        </p:nvSpPr>
        <p:spPr>
          <a:xfrm>
            <a:off x="7040880" y="1737360"/>
            <a:ext cx="4572000" cy="777240"/>
          </a:xfrm>
          <a:prstGeom prst="rect">
            <a:avLst/>
          </a:prstGeom>
          <a:noFill/>
        </p:spPr>
        <p:txBody>
          <a:bodyPr wrap="square" anchor="t" lIns="36576" rIns="36576" tIns="18288" bIns="18288">
            <a:spAutoFit/>
          </a:bodyPr>
          <a:lstStyle/>
          <a:p>
            <a:pPr algn="l">
              <a:spcAft>
                <a:spcPts val="600"/>
              </a:spcAft>
            </a:pPr>
            <a:r>
              <a:rPr sz="5400" b="1" i="0">
                <a:solidFill>
                  <a:srgbClr val="B4441A"/>
                </a:solidFill>
                <a:latin typeface="Cambria"/>
              </a:rPr>
              <a:t>0.64</a:t>
            </a:r>
          </a:p>
        </p:txBody>
      </p:sp>
      <p:sp>
        <p:nvSpPr>
          <p:cNvPr id="31" name="TextBox 30"/>
          <p:cNvSpPr txBox="1"/>
          <p:nvPr/>
        </p:nvSpPr>
        <p:spPr>
          <a:xfrm>
            <a:off x="7040880" y="2487168"/>
            <a:ext cx="4572000" cy="54864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C-index: right in 64 of 100 patient pairs (coin flip = 50)</a:t>
            </a:r>
          </a:p>
        </p:txBody>
      </p:sp>
      <p:sp>
        <p:nvSpPr>
          <p:cNvPr id="32" name="TextBox 31"/>
          <p:cNvSpPr txBox="1"/>
          <p:nvPr/>
        </p:nvSpPr>
        <p:spPr>
          <a:xfrm>
            <a:off x="7040880" y="3657600"/>
            <a:ext cx="1463040" cy="777240"/>
          </a:xfrm>
          <a:prstGeom prst="rect">
            <a:avLst/>
          </a:prstGeom>
          <a:noFill/>
        </p:spPr>
        <p:txBody>
          <a:bodyPr wrap="square" anchor="t" lIns="36576" rIns="36576" tIns="18288" bIns="18288">
            <a:spAutoFit/>
          </a:bodyPr>
          <a:lstStyle/>
          <a:p>
            <a:pPr algn="l">
              <a:spcAft>
                <a:spcPts val="600"/>
              </a:spcAft>
            </a:pPr>
            <a:r>
              <a:rPr sz="3400" b="1" i="0">
                <a:solidFill>
                  <a:srgbClr val="2A78D6"/>
                </a:solidFill>
                <a:latin typeface="Cambria"/>
              </a:rPr>
              <a:t>0.74</a:t>
            </a:r>
          </a:p>
        </p:txBody>
      </p:sp>
      <p:sp>
        <p:nvSpPr>
          <p:cNvPr id="33" name="TextBox 32"/>
          <p:cNvSpPr txBox="1"/>
          <p:nvPr/>
        </p:nvSpPr>
        <p:spPr>
          <a:xfrm>
            <a:off x="7040880" y="4407408"/>
            <a:ext cx="1463040" cy="54864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AUC at 6 months</a:t>
            </a:r>
          </a:p>
        </p:txBody>
      </p:sp>
      <p:sp>
        <p:nvSpPr>
          <p:cNvPr id="34" name="TextBox 33"/>
          <p:cNvSpPr txBox="1"/>
          <p:nvPr/>
        </p:nvSpPr>
        <p:spPr>
          <a:xfrm>
            <a:off x="8595360" y="3657600"/>
            <a:ext cx="1463040" cy="777240"/>
          </a:xfrm>
          <a:prstGeom prst="rect">
            <a:avLst/>
          </a:prstGeom>
          <a:noFill/>
        </p:spPr>
        <p:txBody>
          <a:bodyPr wrap="square" anchor="t" lIns="36576" rIns="36576" tIns="18288" bIns="18288">
            <a:spAutoFit/>
          </a:bodyPr>
          <a:lstStyle/>
          <a:p>
            <a:pPr algn="l">
              <a:spcAft>
                <a:spcPts val="600"/>
              </a:spcAft>
            </a:pPr>
            <a:r>
              <a:rPr sz="3400" b="1" i="0">
                <a:solidFill>
                  <a:srgbClr val="2A78D6"/>
                </a:solidFill>
                <a:latin typeface="Cambria"/>
              </a:rPr>
              <a:t>0.71</a:t>
            </a:r>
          </a:p>
        </p:txBody>
      </p:sp>
      <p:sp>
        <p:nvSpPr>
          <p:cNvPr id="35" name="TextBox 34"/>
          <p:cNvSpPr txBox="1"/>
          <p:nvPr/>
        </p:nvSpPr>
        <p:spPr>
          <a:xfrm>
            <a:off x="8595360" y="4407408"/>
            <a:ext cx="1463040" cy="54864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AUC at 1 year</a:t>
            </a:r>
          </a:p>
        </p:txBody>
      </p:sp>
      <p:sp>
        <p:nvSpPr>
          <p:cNvPr id="36" name="TextBox 35"/>
          <p:cNvSpPr txBox="1"/>
          <p:nvPr/>
        </p:nvSpPr>
        <p:spPr>
          <a:xfrm>
            <a:off x="10149840" y="3657600"/>
            <a:ext cx="1463040" cy="777240"/>
          </a:xfrm>
          <a:prstGeom prst="rect">
            <a:avLst/>
          </a:prstGeom>
          <a:noFill/>
        </p:spPr>
        <p:txBody>
          <a:bodyPr wrap="square" anchor="t" lIns="36576" rIns="36576" tIns="18288" bIns="18288">
            <a:spAutoFit/>
          </a:bodyPr>
          <a:lstStyle/>
          <a:p>
            <a:pPr algn="l">
              <a:spcAft>
                <a:spcPts val="600"/>
              </a:spcAft>
            </a:pPr>
            <a:r>
              <a:rPr sz="3400" b="1" i="0">
                <a:solidFill>
                  <a:srgbClr val="2A78D6"/>
                </a:solidFill>
                <a:latin typeface="Cambria"/>
              </a:rPr>
              <a:t>0.67</a:t>
            </a:r>
          </a:p>
        </p:txBody>
      </p:sp>
      <p:sp>
        <p:nvSpPr>
          <p:cNvPr id="37" name="TextBox 36"/>
          <p:cNvSpPr txBox="1"/>
          <p:nvPr/>
        </p:nvSpPr>
        <p:spPr>
          <a:xfrm>
            <a:off x="10149840" y="4407408"/>
            <a:ext cx="1463040" cy="54864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AUC at 2 years</a:t>
            </a:r>
          </a:p>
        </p:txBody>
      </p:sp>
      <p:sp>
        <p:nvSpPr>
          <p:cNvPr id="38" name="TextBox 37"/>
          <p:cNvSpPr txBox="1"/>
          <p:nvPr/>
        </p:nvSpPr>
        <p:spPr>
          <a:xfrm>
            <a:off x="7040880" y="5257800"/>
            <a:ext cx="4572000" cy="914400"/>
          </a:xfrm>
          <a:prstGeom prst="rect">
            <a:avLst/>
          </a:prstGeom>
          <a:noFill/>
        </p:spPr>
        <p:txBody>
          <a:bodyPr wrap="square" anchor="t" lIns="36576" rIns="36576" tIns="18288" bIns="18288">
            <a:spAutoFit/>
          </a:bodyPr>
          <a:lstStyle/>
          <a:p>
            <a:pPr algn="l">
              <a:spcAft>
                <a:spcPts val="600"/>
              </a:spcAft>
            </a:pPr>
            <a:r>
              <a:rPr sz="1400" b="0" i="1">
                <a:solidFill>
                  <a:srgbClr val="3A4256"/>
                </a:solidFill>
                <a:latin typeface="Calibri"/>
              </a:rPr>
              <a:t>Clinical-only version (no MRI texture) scores 0.63: almost as good, and easier to use at the bedside.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Are the predicted chances right?</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Yes at 6 and 12 months; a bit optimistic at 2 years for the best cases</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27</a:t>
            </a:r>
          </a:p>
        </p:txBody>
      </p:sp>
      <p:pic>
        <p:nvPicPr>
          <p:cNvPr id="6" name="Picture 5" descr="calibration.png"/>
          <p:cNvPicPr>
            <a:picLocks noChangeAspect="1"/>
          </p:cNvPicPr>
          <p:nvPr/>
        </p:nvPicPr>
        <p:blipFill>
          <a:blip r:embed="rId3"/>
          <a:stretch>
            <a:fillRect/>
          </a:stretch>
        </p:blipFill>
        <p:spPr>
          <a:xfrm>
            <a:off x="685800" y="1645920"/>
            <a:ext cx="10698480" cy="3355848"/>
          </a:xfrm>
          <a:prstGeom prst="rect">
            <a:avLst/>
          </a:prstGeom>
        </p:spPr>
      </p:pic>
      <p:sp>
        <p:nvSpPr>
          <p:cNvPr id="7" name="TextBox 6"/>
          <p:cNvSpPr txBox="1"/>
          <p:nvPr/>
        </p:nvSpPr>
        <p:spPr>
          <a:xfrm>
            <a:off x="685800" y="5440680"/>
            <a:ext cx="10789920" cy="822960"/>
          </a:xfrm>
          <a:prstGeom prst="rect">
            <a:avLst/>
          </a:prstGeom>
          <a:noFill/>
        </p:spPr>
        <p:txBody>
          <a:bodyPr wrap="square" anchor="t" lIns="36576" rIns="36576" tIns="18288" bIns="18288">
            <a:spAutoFit/>
          </a:bodyPr>
          <a:lstStyle/>
          <a:p>
            <a:pPr algn="l">
              <a:spcAft>
                <a:spcPts val="600"/>
              </a:spcAft>
            </a:pPr>
            <a:r>
              <a:rPr sz="1500" b="1" i="0">
                <a:solidFill>
                  <a:srgbClr val="3A4256"/>
                </a:solidFill>
                <a:latin typeface="Calibri"/>
              </a:rPr>
              <a:t>Each dot = one fifth of the patients. </a:t>
            </a:r>
            <a:r>
              <a:rPr sz="1500" b="0" i="0">
                <a:solidFill>
                  <a:srgbClr val="3A4256"/>
                </a:solidFill>
                <a:latin typeface="Calibri"/>
              </a:rPr>
              <a:t>On the dashed line = predicted chance matches reality. All predictions come from models that never saw those patients.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Three risk groups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Median survival 28, 50 and 63 weeks</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28</a:t>
            </a:r>
          </a:p>
        </p:txBody>
      </p:sp>
      <p:graphicFrame>
        <p:nvGraphicFramePr>
          <p:cNvPr id="6" name="Chart 5"/>
          <p:cNvGraphicFramePr>
            <a:graphicFrameLocks noGrp="1"/>
          </p:cNvGraphicFramePr>
          <p:nvPr/>
        </p:nvGraphicFramePr>
        <p:xfrm>
          <a:off x="548640" y="1600200"/>
          <a:ext cx="6949440" cy="4663440"/>
        </p:xfrm>
        <a:graphic>
          <a:graphicData uri="http://schemas.openxmlformats.org/drawingml/2006/chart">
            <c:chart xmlns:c="http://schemas.openxmlformats.org/drawingml/2006/chart" r:id="rId3"/>
          </a:graphicData>
        </a:graphic>
      </p:graphicFrame>
      <p:graphicFrame>
        <p:nvGraphicFramePr>
          <p:cNvPr id="7" name="Table 6"/>
          <p:cNvGraphicFramePr>
            <a:graphicFrameLocks noGrp="1"/>
          </p:cNvGraphicFramePr>
          <p:nvPr/>
        </p:nvGraphicFramePr>
        <p:xfrm>
          <a:off x="7863840" y="1783080"/>
          <a:ext cx="3749040" cy="2011680"/>
        </p:xfrm>
        <a:graphic>
          <a:graphicData uri="http://schemas.openxmlformats.org/drawingml/2006/table">
            <a:tbl>
              <a:tblPr firstRow="1" bandRow="1">
                <a:tableStyleId>{5C22544A-7EE6-4342-B048-85BDC9FD1C3A}</a:tableStyleId>
              </a:tblPr>
              <a:tblGrid>
                <a:gridCol w="1463040"/>
                <a:gridCol w="1051560"/>
                <a:gridCol w="1234440"/>
              </a:tblGrid>
              <a:tr h="502920">
                <a:tc>
                  <a:txBody>
                    <a:bodyPr wrap="square"/>
                    <a:lstStyle/>
                    <a:p>
                      <a:r>
                        <a:rPr sz="1500" b="1">
                          <a:solidFill>
                            <a:srgbClr val="FFFFFF"/>
                          </a:solidFill>
                          <a:latin typeface="Calibri"/>
                        </a:rPr>
                        <a:t>Group</a:t>
                      </a:r>
                    </a:p>
                  </a:txBody>
                  <a:tcPr marL="73152" marR="73152" marT="27432" marB="27432" anchor="ctr">
                    <a:solidFill>
                      <a:srgbClr val="172033"/>
                    </a:solidFill>
                  </a:tcPr>
                </a:tc>
                <a:tc>
                  <a:txBody>
                    <a:bodyPr wrap="square"/>
                    <a:lstStyle/>
                    <a:p>
                      <a:r>
                        <a:rPr sz="1500" b="1">
                          <a:solidFill>
                            <a:srgbClr val="FFFFFF"/>
                          </a:solidFill>
                          <a:latin typeface="Calibri"/>
                        </a:rPr>
                        <a:t>Median</a:t>
                      </a:r>
                    </a:p>
                  </a:txBody>
                  <a:tcPr marL="73152" marR="73152" marT="27432" marB="27432" anchor="ctr">
                    <a:solidFill>
                      <a:srgbClr val="172033"/>
                    </a:solidFill>
                  </a:tcPr>
                </a:tc>
                <a:tc>
                  <a:txBody>
                    <a:bodyPr wrap="square"/>
                    <a:lstStyle/>
                    <a:p>
                      <a:r>
                        <a:rPr sz="1500" b="1">
                          <a:solidFill>
                            <a:srgbClr val="FFFFFF"/>
                          </a:solidFill>
                          <a:latin typeface="Calibri"/>
                        </a:rPr>
                        <a:t>Alive at 1 y</a:t>
                      </a:r>
                    </a:p>
                  </a:txBody>
                  <a:tcPr marL="73152" marR="73152" marT="27432" marB="27432" anchor="ctr">
                    <a:solidFill>
                      <a:srgbClr val="172033"/>
                    </a:solidFill>
                  </a:tcPr>
                </a:tc>
              </a:tr>
              <a:tr h="502920">
                <a:tc>
                  <a:txBody>
                    <a:bodyPr wrap="square"/>
                    <a:lstStyle/>
                    <a:p>
                      <a:r>
                        <a:rPr sz="1500" b="1">
                          <a:solidFill>
                            <a:srgbClr val="172033"/>
                          </a:solidFill>
                          <a:latin typeface="Calibri"/>
                        </a:rPr>
                        <a:t>Low</a:t>
                      </a:r>
                    </a:p>
                  </a:txBody>
                  <a:tcPr marL="73152" marR="73152" marT="27432" marB="27432" anchor="ctr">
                    <a:solidFill>
                      <a:srgbClr val="FFFFFF"/>
                    </a:solidFill>
                  </a:tcPr>
                </a:tc>
                <a:tc>
                  <a:txBody>
                    <a:bodyPr wrap="square"/>
                    <a:lstStyle/>
                    <a:p>
                      <a:r>
                        <a:rPr sz="1500" b="0">
                          <a:solidFill>
                            <a:srgbClr val="172033"/>
                          </a:solidFill>
                          <a:latin typeface="Calibri"/>
                        </a:rPr>
                        <a:t>63 wk</a:t>
                      </a:r>
                    </a:p>
                  </a:txBody>
                  <a:tcPr marL="73152" marR="73152" marT="27432" marB="27432" anchor="ctr">
                    <a:solidFill>
                      <a:srgbClr val="FFFFFF"/>
                    </a:solidFill>
                  </a:tcPr>
                </a:tc>
                <a:tc>
                  <a:txBody>
                    <a:bodyPr wrap="square"/>
                    <a:lstStyle/>
                    <a:p>
                      <a:r>
                        <a:rPr sz="1500" b="0">
                          <a:solidFill>
                            <a:srgbClr val="172033"/>
                          </a:solidFill>
                          <a:latin typeface="Calibri"/>
                        </a:rPr>
                        <a:t>67%</a:t>
                      </a:r>
                    </a:p>
                  </a:txBody>
                  <a:tcPr marL="73152" marR="73152" marT="27432" marB="27432" anchor="ctr">
                    <a:solidFill>
                      <a:srgbClr val="FFFFFF"/>
                    </a:solidFill>
                  </a:tcPr>
                </a:tc>
              </a:tr>
              <a:tr h="502920">
                <a:tc>
                  <a:txBody>
                    <a:bodyPr wrap="square"/>
                    <a:lstStyle/>
                    <a:p>
                      <a:r>
                        <a:rPr sz="1500" b="1">
                          <a:solidFill>
                            <a:srgbClr val="172033"/>
                          </a:solidFill>
                          <a:latin typeface="Calibri"/>
                        </a:rPr>
                        <a:t>Intermediate</a:t>
                      </a:r>
                    </a:p>
                  </a:txBody>
                  <a:tcPr marL="73152" marR="73152" marT="27432" marB="27432" anchor="ctr">
                    <a:solidFill>
                      <a:srgbClr val="EEF2F8"/>
                    </a:solidFill>
                  </a:tcPr>
                </a:tc>
                <a:tc>
                  <a:txBody>
                    <a:bodyPr wrap="square"/>
                    <a:lstStyle/>
                    <a:p>
                      <a:r>
                        <a:rPr sz="1500" b="0">
                          <a:solidFill>
                            <a:srgbClr val="172033"/>
                          </a:solidFill>
                          <a:latin typeface="Calibri"/>
                        </a:rPr>
                        <a:t>50 wk</a:t>
                      </a:r>
                    </a:p>
                  </a:txBody>
                  <a:tcPr marL="73152" marR="73152" marT="27432" marB="27432" anchor="ctr">
                    <a:solidFill>
                      <a:srgbClr val="EEF2F8"/>
                    </a:solidFill>
                  </a:tcPr>
                </a:tc>
                <a:tc>
                  <a:txBody>
                    <a:bodyPr wrap="square"/>
                    <a:lstStyle/>
                    <a:p>
                      <a:r>
                        <a:rPr sz="1500" b="0">
                          <a:solidFill>
                            <a:srgbClr val="172033"/>
                          </a:solidFill>
                          <a:latin typeface="Calibri"/>
                        </a:rPr>
                        <a:t>47%</a:t>
                      </a:r>
                    </a:p>
                  </a:txBody>
                  <a:tcPr marL="73152" marR="73152" marT="27432" marB="27432" anchor="ctr">
                    <a:solidFill>
                      <a:srgbClr val="EEF2F8"/>
                    </a:solidFill>
                  </a:tcPr>
                </a:tc>
              </a:tr>
              <a:tr h="502920">
                <a:tc>
                  <a:txBody>
                    <a:bodyPr wrap="square"/>
                    <a:lstStyle/>
                    <a:p>
                      <a:r>
                        <a:rPr sz="1500" b="1">
                          <a:solidFill>
                            <a:srgbClr val="172033"/>
                          </a:solidFill>
                          <a:latin typeface="Calibri"/>
                        </a:rPr>
                        <a:t>High</a:t>
                      </a:r>
                    </a:p>
                  </a:txBody>
                  <a:tcPr marL="73152" marR="73152" marT="27432" marB="27432" anchor="ctr">
                    <a:solidFill>
                      <a:srgbClr val="FFFFFF"/>
                    </a:solidFill>
                  </a:tcPr>
                </a:tc>
                <a:tc>
                  <a:txBody>
                    <a:bodyPr wrap="square"/>
                    <a:lstStyle/>
                    <a:p>
                      <a:r>
                        <a:rPr sz="1500" b="0">
                          <a:solidFill>
                            <a:srgbClr val="172033"/>
                          </a:solidFill>
                          <a:latin typeface="Calibri"/>
                        </a:rPr>
                        <a:t>28 wk</a:t>
                      </a:r>
                    </a:p>
                  </a:txBody>
                  <a:tcPr marL="73152" marR="73152" marT="27432" marB="27432" anchor="ctr">
                    <a:solidFill>
                      <a:srgbClr val="FFFFFF"/>
                    </a:solidFill>
                  </a:tcPr>
                </a:tc>
                <a:tc>
                  <a:txBody>
                    <a:bodyPr wrap="square"/>
                    <a:lstStyle/>
                    <a:p>
                      <a:r>
                        <a:rPr sz="1500" b="0">
                          <a:solidFill>
                            <a:srgbClr val="172033"/>
                          </a:solidFill>
                          <a:latin typeface="Calibri"/>
                        </a:rPr>
                        <a:t>27%</a:t>
                      </a:r>
                    </a:p>
                  </a:txBody>
                  <a:tcPr marL="73152" marR="73152" marT="27432" marB="27432" anchor="ctr">
                    <a:solidFill>
                      <a:srgbClr val="FFFFFF"/>
                    </a:solidFill>
                  </a:tcPr>
                </a:tc>
              </a:tr>
            </a:tbl>
          </a:graphicData>
        </a:graphic>
      </p:graphicFrame>
      <p:sp>
        <p:nvSpPr>
          <p:cNvPr id="8" name="TextBox 7"/>
          <p:cNvSpPr txBox="1"/>
          <p:nvPr/>
        </p:nvSpPr>
        <p:spPr>
          <a:xfrm>
            <a:off x="7863840" y="4023360"/>
            <a:ext cx="3749039" cy="2103120"/>
          </a:xfrm>
          <a:prstGeom prst="rect">
            <a:avLst/>
          </a:prstGeom>
          <a:noFill/>
        </p:spPr>
        <p:txBody>
          <a:bodyPr wrap="square" anchor="t" lIns="36576" rIns="36576" tIns="18288" bIns="18288">
            <a:spAutoFit/>
          </a:bodyPr>
          <a:lstStyle/>
          <a:p>
            <a:pPr algn="l" marL="256032" indent="-219456">
              <a:spcAft>
                <a:spcPts val="800"/>
              </a:spcAft>
              <a:buFont typeface="Arial"/>
              <a:buChar char="•"/>
            </a:pPr>
            <a:r>
              <a:rPr sz="1500" b="0" i="0">
                <a:solidFill>
                  <a:srgbClr val="3A4256"/>
                </a:solidFill>
                <a:latin typeface="Calibri"/>
              </a:rPr>
              <a:t>Groups made from predictions on unseen patients, so the separation is honest</a:t>
            </a:r>
          </a:p>
          <a:p>
            <a:pPr algn="l" marL="256032" indent="-219456">
              <a:spcAft>
                <a:spcPts val="800"/>
              </a:spcAft>
              <a:buFont typeface="Arial"/>
              <a:buChar char="•"/>
            </a:pPr>
            <a:r>
              <a:rPr sz="1500" b="0" i="0">
                <a:solidFill>
                  <a:srgbClr val="3A4256"/>
                </a:solidFill>
                <a:latin typeface="Calibri"/>
              </a:rPr>
              <a:t>A tool to flag high-risk patients early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A personal prediction</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Each patient gets a survival curve, not just one number</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29</a:t>
            </a:r>
          </a:p>
        </p:txBody>
      </p:sp>
      <p:pic>
        <p:nvPicPr>
          <p:cNvPr id="6" name="Picture 5" descr="example_patients.png"/>
          <p:cNvPicPr>
            <a:picLocks noChangeAspect="1"/>
          </p:cNvPicPr>
          <p:nvPr/>
        </p:nvPicPr>
        <p:blipFill>
          <a:blip r:embed="rId3"/>
          <a:stretch>
            <a:fillRect/>
          </a:stretch>
        </p:blipFill>
        <p:spPr>
          <a:xfrm>
            <a:off x="457200" y="1600200"/>
            <a:ext cx="6195060" cy="3995928"/>
          </a:xfrm>
          <a:prstGeom prst="rect">
            <a:avLst/>
          </a:prstGeom>
        </p:spPr>
      </p:pic>
      <p:graphicFrame>
        <p:nvGraphicFramePr>
          <p:cNvPr id="7" name="Table 6"/>
          <p:cNvGraphicFramePr>
            <a:graphicFrameLocks noGrp="1"/>
          </p:cNvGraphicFramePr>
          <p:nvPr/>
        </p:nvGraphicFramePr>
        <p:xfrm>
          <a:off x="6949440" y="1737360"/>
          <a:ext cx="4663440" cy="2834640"/>
        </p:xfrm>
        <a:graphic>
          <a:graphicData uri="http://schemas.openxmlformats.org/drawingml/2006/table">
            <a:tbl>
              <a:tblPr firstRow="1" bandRow="1">
                <a:tableStyleId>{5C22544A-7EE6-4342-B048-85BDC9FD1C3A}</a:tableStyleId>
              </a:tblPr>
              <a:tblGrid>
                <a:gridCol w="365760"/>
                <a:gridCol w="2606040"/>
                <a:gridCol w="868680"/>
                <a:gridCol w="822960"/>
              </a:tblGrid>
              <a:tr h="566928">
                <a:tc>
                  <a:txBody>
                    <a:bodyPr wrap="square"/>
                    <a:lstStyle/>
                    <a:p>
                      <a:r>
                        <a:rPr sz="1200" b="1">
                          <a:solidFill>
                            <a:srgbClr val="FFFFFF"/>
                          </a:solidFill>
                          <a:latin typeface="Calibri"/>
                        </a:rPr>
                        <a:t/>
                      </a:r>
                    </a:p>
                  </a:txBody>
                  <a:tcPr marL="73152" marR="73152" marT="27432" marB="27432" anchor="ctr">
                    <a:solidFill>
                      <a:srgbClr val="172033"/>
                    </a:solidFill>
                  </a:tcPr>
                </a:tc>
                <a:tc>
                  <a:txBody>
                    <a:bodyPr wrap="square"/>
                    <a:lstStyle/>
                    <a:p>
                      <a:r>
                        <a:rPr sz="1200" b="1">
                          <a:solidFill>
                            <a:srgbClr val="FFFFFF"/>
                          </a:solidFill>
                          <a:latin typeface="Calibri"/>
                        </a:rPr>
                        <a:t>Profile</a:t>
                      </a:r>
                    </a:p>
                  </a:txBody>
                  <a:tcPr marL="73152" marR="73152" marT="27432" marB="27432" anchor="ctr">
                    <a:solidFill>
                      <a:srgbClr val="172033"/>
                    </a:solidFill>
                  </a:tcPr>
                </a:tc>
                <a:tc>
                  <a:txBody>
                    <a:bodyPr wrap="square"/>
                    <a:lstStyle/>
                    <a:p>
                      <a:r>
                        <a:rPr sz="1200" b="1">
                          <a:solidFill>
                            <a:srgbClr val="FFFFFF"/>
                          </a:solidFill>
                          <a:latin typeface="Calibri"/>
                        </a:rPr>
                        <a:t>Median</a:t>
                      </a:r>
                    </a:p>
                  </a:txBody>
                  <a:tcPr marL="73152" marR="73152" marT="27432" marB="27432" anchor="ctr">
                    <a:solidFill>
                      <a:srgbClr val="172033"/>
                    </a:solidFill>
                  </a:tcPr>
                </a:tc>
                <a:tc>
                  <a:txBody>
                    <a:bodyPr wrap="square"/>
                    <a:lstStyle/>
                    <a:p>
                      <a:r>
                        <a:rPr sz="1200" b="1">
                          <a:solidFill>
                            <a:srgbClr val="FFFFFF"/>
                          </a:solidFill>
                          <a:latin typeface="Calibri"/>
                        </a:rPr>
                        <a:t>Alive 1 y</a:t>
                      </a:r>
                    </a:p>
                  </a:txBody>
                  <a:tcPr marL="73152" marR="73152" marT="27432" marB="27432" anchor="ctr">
                    <a:solidFill>
                      <a:srgbClr val="172033"/>
                    </a:solidFill>
                  </a:tcPr>
                </a:tc>
              </a:tr>
              <a:tr h="566928">
                <a:tc>
                  <a:txBody>
                    <a:bodyPr wrap="square"/>
                    <a:lstStyle/>
                    <a:p>
                      <a:r>
                        <a:rPr sz="1200" b="1">
                          <a:solidFill>
                            <a:srgbClr val="172033"/>
                          </a:solidFill>
                          <a:latin typeface="Calibri"/>
                        </a:rPr>
                        <a:t>A</a:t>
                      </a:r>
                    </a:p>
                  </a:txBody>
                  <a:tcPr marL="73152" marR="73152" marT="27432" marB="27432" anchor="ctr">
                    <a:solidFill>
                      <a:srgbClr val="FFFFFF"/>
                    </a:solidFill>
                  </a:tcPr>
                </a:tc>
                <a:tc>
                  <a:txBody>
                    <a:bodyPr wrap="square"/>
                    <a:lstStyle/>
                    <a:p>
                      <a:r>
                        <a:rPr sz="1200" b="0">
                          <a:solidFill>
                            <a:srgbClr val="172033"/>
                          </a:solidFill>
                          <a:latin typeface="Calibri"/>
                        </a:rPr>
                        <a:t>52 y, PS 0, standard RT, 20 cm³</a:t>
                      </a:r>
                    </a:p>
                  </a:txBody>
                  <a:tcPr marL="73152" marR="73152" marT="27432" marB="27432" anchor="ctr">
                    <a:solidFill>
                      <a:srgbClr val="FFFFFF"/>
                    </a:solidFill>
                  </a:tcPr>
                </a:tc>
                <a:tc>
                  <a:txBody>
                    <a:bodyPr wrap="square"/>
                    <a:lstStyle/>
                    <a:p>
                      <a:r>
                        <a:rPr sz="1200" b="0">
                          <a:solidFill>
                            <a:srgbClr val="172033"/>
                          </a:solidFill>
                          <a:latin typeface="Calibri"/>
                        </a:rPr>
                        <a:t>54 wk</a:t>
                      </a:r>
                    </a:p>
                  </a:txBody>
                  <a:tcPr marL="73152" marR="73152" marT="27432" marB="27432" anchor="ctr">
                    <a:solidFill>
                      <a:srgbClr val="FFFFFF"/>
                    </a:solidFill>
                  </a:tcPr>
                </a:tc>
                <a:tc>
                  <a:txBody>
                    <a:bodyPr wrap="square"/>
                    <a:lstStyle/>
                    <a:p>
                      <a:r>
                        <a:rPr sz="1200" b="0">
                          <a:solidFill>
                            <a:srgbClr val="172033"/>
                          </a:solidFill>
                          <a:latin typeface="Calibri"/>
                        </a:rPr>
                        <a:t>52%</a:t>
                      </a:r>
                    </a:p>
                  </a:txBody>
                  <a:tcPr marL="73152" marR="73152" marT="27432" marB="27432" anchor="ctr">
                    <a:solidFill>
                      <a:srgbClr val="FFFFFF"/>
                    </a:solidFill>
                  </a:tcPr>
                </a:tc>
              </a:tr>
              <a:tr h="566928">
                <a:tc>
                  <a:txBody>
                    <a:bodyPr wrap="square"/>
                    <a:lstStyle/>
                    <a:p>
                      <a:r>
                        <a:rPr sz="1200" b="1">
                          <a:solidFill>
                            <a:srgbClr val="172033"/>
                          </a:solidFill>
                          <a:latin typeface="Calibri"/>
                        </a:rPr>
                        <a:t>B</a:t>
                      </a:r>
                    </a:p>
                  </a:txBody>
                  <a:tcPr marL="73152" marR="73152" marT="27432" marB="27432" anchor="ctr">
                    <a:solidFill>
                      <a:srgbClr val="EEF2F8"/>
                    </a:solidFill>
                  </a:tcPr>
                </a:tc>
                <a:tc>
                  <a:txBody>
                    <a:bodyPr wrap="square"/>
                    <a:lstStyle/>
                    <a:p>
                      <a:r>
                        <a:rPr sz="1200" b="0">
                          <a:solidFill>
                            <a:srgbClr val="172033"/>
                          </a:solidFill>
                          <a:latin typeface="Calibri"/>
                        </a:rPr>
                        <a:t>64 y, PS 1, standard RT, 40 cm³</a:t>
                      </a:r>
                    </a:p>
                  </a:txBody>
                  <a:tcPr marL="73152" marR="73152" marT="27432" marB="27432" anchor="ctr">
                    <a:solidFill>
                      <a:srgbClr val="EEF2F8"/>
                    </a:solidFill>
                  </a:tcPr>
                </a:tc>
                <a:tc>
                  <a:txBody>
                    <a:bodyPr wrap="square"/>
                    <a:lstStyle/>
                    <a:p>
                      <a:r>
                        <a:rPr sz="1200" b="0">
                          <a:solidFill>
                            <a:srgbClr val="172033"/>
                          </a:solidFill>
                          <a:latin typeface="Calibri"/>
                        </a:rPr>
                        <a:t>54 wk</a:t>
                      </a:r>
                    </a:p>
                  </a:txBody>
                  <a:tcPr marL="73152" marR="73152" marT="27432" marB="27432" anchor="ctr">
                    <a:solidFill>
                      <a:srgbClr val="EEF2F8"/>
                    </a:solidFill>
                  </a:tcPr>
                </a:tc>
                <a:tc>
                  <a:txBody>
                    <a:bodyPr wrap="square"/>
                    <a:lstStyle/>
                    <a:p>
                      <a:r>
                        <a:rPr sz="1200" b="0">
                          <a:solidFill>
                            <a:srgbClr val="172033"/>
                          </a:solidFill>
                          <a:latin typeface="Calibri"/>
                        </a:rPr>
                        <a:t>52%</a:t>
                      </a:r>
                    </a:p>
                  </a:txBody>
                  <a:tcPr marL="73152" marR="73152" marT="27432" marB="27432" anchor="ctr">
                    <a:solidFill>
                      <a:srgbClr val="EEF2F8"/>
                    </a:solidFill>
                  </a:tcPr>
                </a:tc>
              </a:tr>
              <a:tr h="566928">
                <a:tc>
                  <a:txBody>
                    <a:bodyPr wrap="square"/>
                    <a:lstStyle/>
                    <a:p>
                      <a:r>
                        <a:rPr sz="1200" b="1">
                          <a:solidFill>
                            <a:srgbClr val="172033"/>
                          </a:solidFill>
                          <a:latin typeface="Calibri"/>
                        </a:rPr>
                        <a:t>C</a:t>
                      </a:r>
                    </a:p>
                  </a:txBody>
                  <a:tcPr marL="73152" marR="73152" marT="27432" marB="27432" anchor="ctr">
                    <a:solidFill>
                      <a:srgbClr val="FFFFFF"/>
                    </a:solidFill>
                  </a:tcPr>
                </a:tc>
                <a:tc>
                  <a:txBody>
                    <a:bodyPr wrap="square"/>
                    <a:lstStyle/>
                    <a:p>
                      <a:r>
                        <a:rPr sz="1200" b="0">
                          <a:solidFill>
                            <a:srgbClr val="172033"/>
                          </a:solidFill>
                          <a:latin typeface="Calibri"/>
                        </a:rPr>
                        <a:t>73 y, PS 2, short RT, 60 cm³</a:t>
                      </a:r>
                    </a:p>
                  </a:txBody>
                  <a:tcPr marL="73152" marR="73152" marT="27432" marB="27432" anchor="ctr">
                    <a:solidFill>
                      <a:srgbClr val="FFFFFF"/>
                    </a:solidFill>
                  </a:tcPr>
                </a:tc>
                <a:tc>
                  <a:txBody>
                    <a:bodyPr wrap="square"/>
                    <a:lstStyle/>
                    <a:p>
                      <a:r>
                        <a:rPr sz="1200" b="0">
                          <a:solidFill>
                            <a:srgbClr val="172033"/>
                          </a:solidFill>
                          <a:latin typeface="Calibri"/>
                        </a:rPr>
                        <a:t>29 wk</a:t>
                      </a:r>
                    </a:p>
                  </a:txBody>
                  <a:tcPr marL="73152" marR="73152" marT="27432" marB="27432" anchor="ctr">
                    <a:solidFill>
                      <a:srgbClr val="FFFFFF"/>
                    </a:solidFill>
                  </a:tcPr>
                </a:tc>
                <a:tc>
                  <a:txBody>
                    <a:bodyPr wrap="square"/>
                    <a:lstStyle/>
                    <a:p>
                      <a:r>
                        <a:rPr sz="1200" b="0">
                          <a:solidFill>
                            <a:srgbClr val="172033"/>
                          </a:solidFill>
                          <a:latin typeface="Calibri"/>
                        </a:rPr>
                        <a:t>23%</a:t>
                      </a:r>
                    </a:p>
                  </a:txBody>
                  <a:tcPr marL="73152" marR="73152" marT="27432" marB="27432" anchor="ctr">
                    <a:solidFill>
                      <a:srgbClr val="FFFFFF"/>
                    </a:solidFill>
                  </a:tcPr>
                </a:tc>
              </a:tr>
              <a:tr h="566928">
                <a:tc>
                  <a:txBody>
                    <a:bodyPr wrap="square"/>
                    <a:lstStyle/>
                    <a:p>
                      <a:r>
                        <a:rPr sz="1200" b="1">
                          <a:solidFill>
                            <a:srgbClr val="172033"/>
                          </a:solidFill>
                          <a:latin typeface="Calibri"/>
                        </a:rPr>
                        <a:t>D</a:t>
                      </a:r>
                    </a:p>
                  </a:txBody>
                  <a:tcPr marL="73152" marR="73152" marT="27432" marB="27432" anchor="ctr">
                    <a:solidFill>
                      <a:srgbClr val="EEF2F8"/>
                    </a:solidFill>
                  </a:tcPr>
                </a:tc>
                <a:tc>
                  <a:txBody>
                    <a:bodyPr wrap="square"/>
                    <a:lstStyle/>
                    <a:p>
                      <a:r>
                        <a:rPr sz="1200" b="0">
                          <a:solidFill>
                            <a:srgbClr val="172033"/>
                          </a:solidFill>
                          <a:latin typeface="Calibri"/>
                        </a:rPr>
                        <a:t>79 y, PS 3, short RT, 100 cm³</a:t>
                      </a:r>
                    </a:p>
                  </a:txBody>
                  <a:tcPr marL="73152" marR="73152" marT="27432" marB="27432" anchor="ctr">
                    <a:solidFill>
                      <a:srgbClr val="EEF2F8"/>
                    </a:solidFill>
                  </a:tcPr>
                </a:tc>
                <a:tc>
                  <a:txBody>
                    <a:bodyPr wrap="square"/>
                    <a:lstStyle/>
                    <a:p>
                      <a:r>
                        <a:rPr sz="1200" b="0">
                          <a:solidFill>
                            <a:srgbClr val="172033"/>
                          </a:solidFill>
                          <a:latin typeface="Calibri"/>
                        </a:rPr>
                        <a:t>16 wk</a:t>
                      </a:r>
                    </a:p>
                  </a:txBody>
                  <a:tcPr marL="73152" marR="73152" marT="27432" marB="27432" anchor="ctr">
                    <a:solidFill>
                      <a:srgbClr val="EEF2F8"/>
                    </a:solidFill>
                  </a:tcPr>
                </a:tc>
                <a:tc>
                  <a:txBody>
                    <a:bodyPr wrap="square"/>
                    <a:lstStyle/>
                    <a:p>
                      <a:r>
                        <a:rPr sz="1200" b="0">
                          <a:solidFill>
                            <a:srgbClr val="172033"/>
                          </a:solidFill>
                          <a:latin typeface="Calibri"/>
                        </a:rPr>
                        <a:t>3%</a:t>
                      </a:r>
                    </a:p>
                  </a:txBody>
                  <a:tcPr marL="73152" marR="73152" marT="27432" marB="27432" anchor="ctr">
                    <a:solidFill>
                      <a:srgbClr val="EEF2F8"/>
                    </a:solidFill>
                  </a:tcPr>
                </a:tc>
              </a:tr>
            </a:tbl>
          </a:graphicData>
        </a:graphic>
      </p:graphicFrame>
      <p:sp>
        <p:nvSpPr>
          <p:cNvPr id="8" name="TextBox 7"/>
          <p:cNvSpPr txBox="1"/>
          <p:nvPr/>
        </p:nvSpPr>
        <p:spPr>
          <a:xfrm>
            <a:off x="6949440" y="4754880"/>
            <a:ext cx="4663440" cy="1463040"/>
          </a:xfrm>
          <a:prstGeom prst="rect">
            <a:avLst/>
          </a:prstGeom>
          <a:noFill/>
        </p:spPr>
        <p:txBody>
          <a:bodyPr wrap="square" anchor="t" lIns="36576" rIns="36576" tIns="18288" bIns="18288">
            <a:spAutoFit/>
          </a:bodyPr>
          <a:lstStyle/>
          <a:p>
            <a:pPr algn="l" marL="256032" indent="-219456">
              <a:spcAft>
                <a:spcPts val="600"/>
              </a:spcAft>
              <a:buFont typeface="Arial"/>
              <a:buChar char="•"/>
            </a:pPr>
            <a:r>
              <a:rPr sz="1400" b="0" i="0">
                <a:solidFill>
                  <a:srgbClr val="3A4256"/>
                </a:solidFill>
                <a:latin typeface="Calibri"/>
              </a:rPr>
              <a:t>Half of patients like B die between 28 and 78 weeks: individual outcomes stay uncertain</a:t>
            </a:r>
          </a:p>
          <a:p>
            <a:pPr algn="l" marL="256032" indent="-219456">
              <a:spcAft>
                <a:spcPts val="600"/>
              </a:spcAft>
              <a:buFont typeface="Arial"/>
              <a:buChar char="•"/>
            </a:pPr>
            <a:r>
              <a:rPr sz="1400" b="0" i="0">
                <a:solidFill>
                  <a:srgbClr val="3A4256"/>
                </a:solidFill>
                <a:latin typeface="Calibri"/>
              </a:rPr>
              <a:t>Shaded band = uncertainty of the model itself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The stratified variant</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Same weights for everyone, a different starting curve per age group</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30</a:t>
            </a:r>
          </a:p>
        </p:txBody>
      </p:sp>
      <p:sp>
        <p:nvSpPr>
          <p:cNvPr id="6" name="Rounded Rectangle 5"/>
          <p:cNvSpPr/>
          <p:nvPr/>
        </p:nvSpPr>
        <p:spPr>
          <a:xfrm>
            <a:off x="548640" y="1737360"/>
            <a:ext cx="3474720" cy="3291840"/>
          </a:xfrm>
          <a:prstGeom prst="roundRect">
            <a:avLst>
              <a:gd name="adj" fmla="val 5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3108960" cy="457200"/>
          </a:xfrm>
          <a:prstGeom prst="rect">
            <a:avLst/>
          </a:prstGeom>
          <a:noFill/>
        </p:spPr>
        <p:txBody>
          <a:bodyPr wrap="square" anchor="t" lIns="36576" rIns="36576" tIns="18288" bIns="18288">
            <a:spAutoFit/>
          </a:bodyPr>
          <a:lstStyle/>
          <a:p>
            <a:pPr algn="l">
              <a:spcAft>
                <a:spcPts val="600"/>
              </a:spcAft>
            </a:pPr>
            <a:r>
              <a:rPr sz="1800" b="1" i="0">
                <a:solidFill>
                  <a:srgbClr val="172033"/>
                </a:solidFill>
                <a:latin typeface="Cambria"/>
              </a:rPr>
              <a:t>One model (Model C)</a:t>
            </a:r>
          </a:p>
        </p:txBody>
      </p:sp>
      <p:sp>
        <p:nvSpPr>
          <p:cNvPr id="8" name="Oval 7"/>
          <p:cNvSpPr/>
          <p:nvPr/>
        </p:nvSpPr>
        <p:spPr>
          <a:xfrm>
            <a:off x="822959" y="25146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9" name="TextBox 8"/>
          <p:cNvSpPr txBox="1"/>
          <p:nvPr/>
        </p:nvSpPr>
        <p:spPr>
          <a:xfrm>
            <a:off x="1371600" y="2532888"/>
            <a:ext cx="219456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1 starting curve</a:t>
            </a:r>
          </a:p>
        </p:txBody>
      </p:sp>
      <p:sp>
        <p:nvSpPr>
          <p:cNvPr id="10" name="Rounded Rectangle 9"/>
          <p:cNvSpPr/>
          <p:nvPr/>
        </p:nvSpPr>
        <p:spPr>
          <a:xfrm>
            <a:off x="822959" y="3154680"/>
            <a:ext cx="411480" cy="411480"/>
          </a:xfrm>
          <a:prstGeom prst="roundRect">
            <a:avLst>
              <a:gd name="adj" fmla="val 12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3172968"/>
            <a:ext cx="219456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1 set of weights</a:t>
            </a:r>
          </a:p>
        </p:txBody>
      </p:sp>
      <p:sp>
        <p:nvSpPr>
          <p:cNvPr id="12" name="TextBox 11"/>
          <p:cNvSpPr txBox="1"/>
          <p:nvPr/>
        </p:nvSpPr>
        <p:spPr>
          <a:xfrm>
            <a:off x="777240" y="3886200"/>
            <a:ext cx="3108960" cy="548640"/>
          </a:xfrm>
          <a:prstGeom prst="rect">
            <a:avLst/>
          </a:prstGeom>
          <a:noFill/>
        </p:spPr>
        <p:txBody>
          <a:bodyPr wrap="square" anchor="t" lIns="36576" rIns="36576" tIns="18288" bIns="18288">
            <a:spAutoFit/>
          </a:bodyPr>
          <a:lstStyle/>
          <a:p>
            <a:pPr algn="l">
              <a:spcAft>
                <a:spcPts val="600"/>
              </a:spcAft>
            </a:pPr>
            <a:r>
              <a:rPr sz="3000" b="1" i="0">
                <a:solidFill>
                  <a:srgbClr val="2A78D6"/>
                </a:solidFill>
                <a:latin typeface="Cambria"/>
              </a:rPr>
              <a:t>0.638</a:t>
            </a:r>
          </a:p>
        </p:txBody>
      </p:sp>
      <p:sp>
        <p:nvSpPr>
          <p:cNvPr id="13" name="TextBox 12"/>
          <p:cNvSpPr txBox="1"/>
          <p:nvPr/>
        </p:nvSpPr>
        <p:spPr>
          <a:xfrm>
            <a:off x="777240" y="4480560"/>
            <a:ext cx="3108960" cy="36576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C-index on unseen patients</a:t>
            </a:r>
          </a:p>
        </p:txBody>
      </p:sp>
      <p:sp>
        <p:nvSpPr>
          <p:cNvPr id="14" name="Rounded Rectangle 13"/>
          <p:cNvSpPr/>
          <p:nvPr/>
        </p:nvSpPr>
        <p:spPr>
          <a:xfrm>
            <a:off x="4297679" y="1737360"/>
            <a:ext cx="3474720" cy="3291840"/>
          </a:xfrm>
          <a:prstGeom prst="roundRect">
            <a:avLst>
              <a:gd name="adj" fmla="val 5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79" y="1874519"/>
            <a:ext cx="3108960" cy="457200"/>
          </a:xfrm>
          <a:prstGeom prst="rect">
            <a:avLst/>
          </a:prstGeom>
          <a:noFill/>
        </p:spPr>
        <p:txBody>
          <a:bodyPr wrap="square" anchor="t" lIns="36576" rIns="36576" tIns="18288" bIns="18288">
            <a:spAutoFit/>
          </a:bodyPr>
          <a:lstStyle/>
          <a:p>
            <a:pPr algn="l">
              <a:spcAft>
                <a:spcPts val="600"/>
              </a:spcAft>
            </a:pPr>
            <a:r>
              <a:rPr sz="1800" b="1" i="0">
                <a:solidFill>
                  <a:srgbClr val="172033"/>
                </a:solidFill>
                <a:latin typeface="Cambria"/>
              </a:rPr>
              <a:t>Stratified by age</a:t>
            </a:r>
          </a:p>
        </p:txBody>
      </p:sp>
      <p:sp>
        <p:nvSpPr>
          <p:cNvPr id="16" name="Oval 15"/>
          <p:cNvSpPr/>
          <p:nvPr/>
        </p:nvSpPr>
        <p:spPr>
          <a:xfrm>
            <a:off x="4571999" y="2514600"/>
            <a:ext cx="411480" cy="411480"/>
          </a:xfrm>
          <a:prstGeom prst="ellipse">
            <a:avLst/>
          </a:prstGeom>
          <a:solidFill>
            <a:srgbClr val="6DA7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17" name="Oval 16"/>
          <p:cNvSpPr/>
          <p:nvPr/>
        </p:nvSpPr>
        <p:spPr>
          <a:xfrm>
            <a:off x="5120639" y="25146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18" name="Oval 17"/>
          <p:cNvSpPr/>
          <p:nvPr/>
        </p:nvSpPr>
        <p:spPr>
          <a:xfrm>
            <a:off x="5669279" y="2514600"/>
            <a:ext cx="411480" cy="41148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19" name="TextBox 18"/>
          <p:cNvSpPr txBox="1"/>
          <p:nvPr/>
        </p:nvSpPr>
        <p:spPr>
          <a:xfrm>
            <a:off x="6217919" y="2532888"/>
            <a:ext cx="219456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3 starting curves</a:t>
            </a:r>
          </a:p>
        </p:txBody>
      </p:sp>
      <p:sp>
        <p:nvSpPr>
          <p:cNvPr id="20" name="Rounded Rectangle 19"/>
          <p:cNvSpPr/>
          <p:nvPr/>
        </p:nvSpPr>
        <p:spPr>
          <a:xfrm>
            <a:off x="4571999" y="3154680"/>
            <a:ext cx="411480" cy="41148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39" y="3172968"/>
            <a:ext cx="219456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1 set of weights</a:t>
            </a:r>
          </a:p>
        </p:txBody>
      </p:sp>
      <p:sp>
        <p:nvSpPr>
          <p:cNvPr id="22" name="TextBox 21"/>
          <p:cNvSpPr txBox="1"/>
          <p:nvPr/>
        </p:nvSpPr>
        <p:spPr>
          <a:xfrm>
            <a:off x="4526279" y="3886200"/>
            <a:ext cx="3108960" cy="548640"/>
          </a:xfrm>
          <a:prstGeom prst="rect">
            <a:avLst/>
          </a:prstGeom>
          <a:noFill/>
        </p:spPr>
        <p:txBody>
          <a:bodyPr wrap="square" anchor="t" lIns="36576" rIns="36576" tIns="18288" bIns="18288">
            <a:spAutoFit/>
          </a:bodyPr>
          <a:lstStyle/>
          <a:p>
            <a:pPr algn="l">
              <a:spcAft>
                <a:spcPts val="600"/>
              </a:spcAft>
            </a:pPr>
            <a:r>
              <a:rPr sz="3000" b="1" i="0">
                <a:solidFill>
                  <a:srgbClr val="EB6834"/>
                </a:solidFill>
                <a:latin typeface="Cambria"/>
              </a:rPr>
              <a:t>0.645</a:t>
            </a:r>
          </a:p>
        </p:txBody>
      </p:sp>
      <p:sp>
        <p:nvSpPr>
          <p:cNvPr id="23" name="TextBox 22"/>
          <p:cNvSpPr txBox="1"/>
          <p:nvPr/>
        </p:nvSpPr>
        <p:spPr>
          <a:xfrm>
            <a:off x="4526279" y="4480560"/>
            <a:ext cx="3108960" cy="36576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C-index on unseen patients</a:t>
            </a:r>
          </a:p>
        </p:txBody>
      </p:sp>
      <p:sp>
        <p:nvSpPr>
          <p:cNvPr id="24" name="Rounded Rectangle 23"/>
          <p:cNvSpPr/>
          <p:nvPr/>
        </p:nvSpPr>
        <p:spPr>
          <a:xfrm>
            <a:off x="8046719" y="1737360"/>
            <a:ext cx="3474720" cy="3291840"/>
          </a:xfrm>
          <a:prstGeom prst="roundRect">
            <a:avLst>
              <a:gd name="adj" fmla="val 5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19" y="1874519"/>
            <a:ext cx="3108960" cy="457200"/>
          </a:xfrm>
          <a:prstGeom prst="rect">
            <a:avLst/>
          </a:prstGeom>
          <a:noFill/>
        </p:spPr>
        <p:txBody>
          <a:bodyPr wrap="square" anchor="t" lIns="36576" rIns="36576" tIns="18288" bIns="18288">
            <a:spAutoFit/>
          </a:bodyPr>
          <a:lstStyle/>
          <a:p>
            <a:pPr algn="l">
              <a:spcAft>
                <a:spcPts val="600"/>
              </a:spcAft>
            </a:pPr>
            <a:r>
              <a:rPr sz="1800" b="1" i="0">
                <a:solidFill>
                  <a:srgbClr val="172033"/>
                </a:solidFill>
                <a:latin typeface="Cambria"/>
              </a:rPr>
              <a:t>Separate models</a:t>
            </a:r>
          </a:p>
        </p:txBody>
      </p:sp>
      <p:sp>
        <p:nvSpPr>
          <p:cNvPr id="26" name="Oval 25"/>
          <p:cNvSpPr/>
          <p:nvPr/>
        </p:nvSpPr>
        <p:spPr>
          <a:xfrm>
            <a:off x="8321040" y="2514600"/>
            <a:ext cx="411480" cy="411480"/>
          </a:xfrm>
          <a:prstGeom prst="ellipse">
            <a:avLst/>
          </a:prstGeom>
          <a:solidFill>
            <a:srgbClr val="6DA7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27" name="Oval 26"/>
          <p:cNvSpPr/>
          <p:nvPr/>
        </p:nvSpPr>
        <p:spPr>
          <a:xfrm>
            <a:off x="8869680" y="25146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28" name="Oval 27"/>
          <p:cNvSpPr/>
          <p:nvPr/>
        </p:nvSpPr>
        <p:spPr>
          <a:xfrm>
            <a:off x="9418319" y="2514600"/>
            <a:ext cx="411480" cy="41148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
            </a:r>
          </a:p>
        </p:txBody>
      </p:sp>
      <p:sp>
        <p:nvSpPr>
          <p:cNvPr id="29" name="TextBox 28"/>
          <p:cNvSpPr txBox="1"/>
          <p:nvPr/>
        </p:nvSpPr>
        <p:spPr>
          <a:xfrm>
            <a:off x="9966959" y="2532888"/>
            <a:ext cx="219456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3 starting curves</a:t>
            </a:r>
          </a:p>
        </p:txBody>
      </p:sp>
      <p:sp>
        <p:nvSpPr>
          <p:cNvPr id="30" name="Rounded Rectangle 29"/>
          <p:cNvSpPr/>
          <p:nvPr/>
        </p:nvSpPr>
        <p:spPr>
          <a:xfrm>
            <a:off x="8321040" y="3154680"/>
            <a:ext cx="411480" cy="41148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869680" y="3154680"/>
            <a:ext cx="411480" cy="41148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418319" y="3154680"/>
            <a:ext cx="411480" cy="41148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66959" y="3172968"/>
            <a:ext cx="2194560" cy="365760"/>
          </a:xfrm>
          <a:prstGeom prst="rect">
            <a:avLst/>
          </a:prstGeom>
          <a:noFill/>
        </p:spPr>
        <p:txBody>
          <a:bodyPr wrap="square" anchor="t" lIns="36576" rIns="36576" tIns="18288" bIns="18288">
            <a:spAutoFit/>
          </a:bodyPr>
          <a:lstStyle/>
          <a:p>
            <a:pPr algn="l">
              <a:spcAft>
                <a:spcPts val="600"/>
              </a:spcAft>
            </a:pPr>
            <a:r>
              <a:rPr sz="1400" b="0" i="0">
                <a:solidFill>
                  <a:srgbClr val="3A4256"/>
                </a:solidFill>
                <a:latin typeface="Calibri"/>
              </a:rPr>
              <a:t>3 sets of weights</a:t>
            </a:r>
          </a:p>
        </p:txBody>
      </p:sp>
      <p:sp>
        <p:nvSpPr>
          <p:cNvPr id="34" name="TextBox 33"/>
          <p:cNvSpPr txBox="1"/>
          <p:nvPr/>
        </p:nvSpPr>
        <p:spPr>
          <a:xfrm>
            <a:off x="8275319" y="3886200"/>
            <a:ext cx="3108960" cy="548640"/>
          </a:xfrm>
          <a:prstGeom prst="rect">
            <a:avLst/>
          </a:prstGeom>
          <a:noFill/>
        </p:spPr>
        <p:txBody>
          <a:bodyPr wrap="square" anchor="t" lIns="36576" rIns="36576" tIns="18288" bIns="18288">
            <a:spAutoFit/>
          </a:bodyPr>
          <a:lstStyle/>
          <a:p>
            <a:pPr algn="l">
              <a:spcAft>
                <a:spcPts val="600"/>
              </a:spcAft>
            </a:pPr>
            <a:r>
              <a:rPr sz="3000" b="1" i="0">
                <a:solidFill>
                  <a:srgbClr val="3A4256"/>
                </a:solidFill>
                <a:latin typeface="Cambria"/>
              </a:rPr>
              <a:t>0.603</a:t>
            </a:r>
          </a:p>
        </p:txBody>
      </p:sp>
      <p:sp>
        <p:nvSpPr>
          <p:cNvPr id="35" name="TextBox 34"/>
          <p:cNvSpPr txBox="1"/>
          <p:nvPr/>
        </p:nvSpPr>
        <p:spPr>
          <a:xfrm>
            <a:off x="8275319" y="4480560"/>
            <a:ext cx="3108960" cy="365760"/>
          </a:xfrm>
          <a:prstGeom prst="rect">
            <a:avLst/>
          </a:prstGeom>
          <a:noFill/>
        </p:spPr>
        <p:txBody>
          <a:bodyPr wrap="square" anchor="t" lIns="36576" rIns="36576" tIns="18288" bIns="18288">
            <a:spAutoFit/>
          </a:bodyPr>
          <a:lstStyle/>
          <a:p>
            <a:pPr algn="l">
              <a:spcAft>
                <a:spcPts val="600"/>
              </a:spcAft>
            </a:pPr>
            <a:r>
              <a:rPr sz="1300" b="0" i="0">
                <a:solidFill>
                  <a:srgbClr val="3A4256"/>
                </a:solidFill>
                <a:latin typeface="Calibri"/>
              </a:rPr>
              <a:t>C-index on unseen patients</a:t>
            </a:r>
          </a:p>
        </p:txBody>
      </p:sp>
      <p:sp>
        <p:nvSpPr>
          <p:cNvPr id="36" name="Rounded Rectangle 35"/>
          <p:cNvSpPr/>
          <p:nvPr/>
        </p:nvSpPr>
        <p:spPr>
          <a:xfrm>
            <a:off x="548640" y="5257800"/>
            <a:ext cx="1106424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349240"/>
            <a:ext cx="10698480" cy="822960"/>
          </a:xfrm>
          <a:prstGeom prst="rect">
            <a:avLst/>
          </a:prstGeom>
          <a:noFill/>
        </p:spPr>
        <p:txBody>
          <a:bodyPr wrap="square" anchor="t" lIns="36576" rIns="36576" tIns="18288" bIns="18288">
            <a:spAutoFit/>
          </a:bodyPr>
          <a:lstStyle/>
          <a:p>
            <a:pPr algn="l">
              <a:spcAft>
                <a:spcPts val="600"/>
              </a:spcAft>
            </a:pPr>
            <a:r>
              <a:rPr sz="1500" b="1" i="0">
                <a:solidFill>
                  <a:srgbClr val="172033"/>
                </a:solidFill>
                <a:latin typeface="Calibri"/>
              </a:rPr>
              <a:t>Verdict: </a:t>
            </a:r>
            <a:r>
              <a:rPr sz="1500" b="0" i="0">
                <a:solidFill>
                  <a:srgbClr val="172033"/>
                </a:solidFill>
                <a:latin typeface="Calibri"/>
              </a:rPr>
              <a:t>the stratified version was better in 76% of tests, but only slightly. Separate models overfit (≈ 85 patients each). We keep Model 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Limitations</a:t>
            </a:r>
          </a:p>
        </p:txBody>
      </p:sp>
      <p:sp>
        <p:nvSpPr>
          <p:cNvPr id="3" name="TextBox 2"/>
          <p:cNvSpPr txBox="1"/>
          <p:nvPr/>
        </p:nvSpPr>
        <p:spPr>
          <a:xfrm>
            <a:off x="548640" y="1024128"/>
            <a:ext cx="11064240" cy="457200"/>
          </a:xfrm>
          <a:prstGeom prst="rect">
            <a:avLst/>
          </a:prstGeom>
          <a:noFill/>
        </p:spPr>
        <p:txBody>
          <a:bodyPr wrap="square" anchor="t" lIns="36576" rIns="36576" tIns="18288" bIns="18288">
            <a:spAutoFit/>
          </a:bodyPr>
          <a:lstStyle/>
          <a:p>
            <a:pPr algn="l">
              <a:spcAft>
                <a:spcPts val="600"/>
              </a:spcAft>
            </a:pPr>
            <a:r>
              <a:rPr sz="1900" b="0" i="1">
                <a:solidFill>
                  <a:srgbClr val="B4441A"/>
                </a:solidFill>
                <a:latin typeface="Calibri"/>
              </a:rPr>
              <a:t>Useful for ranking patients, not yet for clinical decisions</a:t>
            </a:r>
          </a:p>
        </p:txBody>
      </p:sp>
      <p:sp>
        <p:nvSpPr>
          <p:cNvPr id="4" name="TextBox 3"/>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5" name="TextBox 4"/>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31</a:t>
            </a:r>
          </a:p>
        </p:txBody>
      </p:sp>
      <p:sp>
        <p:nvSpPr>
          <p:cNvPr id="6" name="Rounded Rectangle 5"/>
          <p:cNvSpPr/>
          <p:nvPr/>
        </p:nvSpPr>
        <p:spPr>
          <a:xfrm>
            <a:off x="548640" y="1737360"/>
            <a:ext cx="3474720" cy="2011680"/>
          </a:xfrm>
          <a:prstGeom prst="roundRect">
            <a:avLst>
              <a:gd name="adj" fmla="val 8181"/>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9202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a:t>
            </a:r>
          </a:p>
        </p:txBody>
      </p:sp>
      <p:sp>
        <p:nvSpPr>
          <p:cNvPr id="8" name="TextBox 7"/>
          <p:cNvSpPr txBox="1"/>
          <p:nvPr/>
        </p:nvSpPr>
        <p:spPr>
          <a:xfrm>
            <a:off x="1371600" y="1956815"/>
            <a:ext cx="2560320" cy="45720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One hospital</a:t>
            </a:r>
          </a:p>
        </p:txBody>
      </p:sp>
      <p:sp>
        <p:nvSpPr>
          <p:cNvPr id="9" name="TextBox 8"/>
          <p:cNvSpPr txBox="1"/>
          <p:nvPr/>
        </p:nvSpPr>
        <p:spPr>
          <a:xfrm>
            <a:off x="731520" y="2606039"/>
            <a:ext cx="3154680" cy="1097280"/>
          </a:xfrm>
          <a:prstGeom prst="rect">
            <a:avLst/>
          </a:prstGeom>
          <a:noFill/>
        </p:spPr>
        <p:txBody>
          <a:bodyPr wrap="square" anchor="t" lIns="36576" rIns="36576" tIns="18288" bIns="18288">
            <a:spAutoFit/>
          </a:bodyPr>
          <a:lstStyle/>
          <a:p>
            <a:pPr algn="l">
              <a:spcAft>
                <a:spcPts val="600"/>
              </a:spcAft>
            </a:pPr>
            <a:r>
              <a:rPr sz="1500" b="0" i="0">
                <a:solidFill>
                  <a:srgbClr val="3A4256"/>
                </a:solidFill>
                <a:latin typeface="Calibri"/>
              </a:rPr>
              <a:t>No test yet on patients from other hospitals</a:t>
            </a:r>
          </a:p>
        </p:txBody>
      </p:sp>
      <p:sp>
        <p:nvSpPr>
          <p:cNvPr id="10" name="Rounded Rectangle 9"/>
          <p:cNvSpPr/>
          <p:nvPr/>
        </p:nvSpPr>
        <p:spPr>
          <a:xfrm>
            <a:off x="4297679" y="1737360"/>
            <a:ext cx="3474720" cy="2011680"/>
          </a:xfrm>
          <a:prstGeom prst="roundRect">
            <a:avLst>
              <a:gd name="adj" fmla="val 8181"/>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80559" y="19202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a:t>
            </a:r>
          </a:p>
        </p:txBody>
      </p:sp>
      <p:sp>
        <p:nvSpPr>
          <p:cNvPr id="12" name="TextBox 11"/>
          <p:cNvSpPr txBox="1"/>
          <p:nvPr/>
        </p:nvSpPr>
        <p:spPr>
          <a:xfrm>
            <a:off x="5120640" y="1956815"/>
            <a:ext cx="2560320" cy="45720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Key markers missing</a:t>
            </a:r>
          </a:p>
        </p:txBody>
      </p:sp>
      <p:sp>
        <p:nvSpPr>
          <p:cNvPr id="13" name="TextBox 12"/>
          <p:cNvSpPr txBox="1"/>
          <p:nvPr/>
        </p:nvSpPr>
        <p:spPr>
          <a:xfrm>
            <a:off x="4480559" y="2606039"/>
            <a:ext cx="3154680" cy="1097280"/>
          </a:xfrm>
          <a:prstGeom prst="rect">
            <a:avLst/>
          </a:prstGeom>
          <a:noFill/>
        </p:spPr>
        <p:txBody>
          <a:bodyPr wrap="square" anchor="t" lIns="36576" rIns="36576" tIns="18288" bIns="18288">
            <a:spAutoFit/>
          </a:bodyPr>
          <a:lstStyle/>
          <a:p>
            <a:pPr algn="l">
              <a:spcAft>
                <a:spcPts val="600"/>
              </a:spcAft>
            </a:pPr>
            <a:r>
              <a:rPr sz="1500" b="0" i="0">
                <a:solidFill>
                  <a:srgbClr val="3A4256"/>
                </a:solidFill>
                <a:latin typeface="Calibri"/>
              </a:rPr>
              <a:t>MGMT, IDH and extent of surgery are not in the data</a:t>
            </a:r>
          </a:p>
        </p:txBody>
      </p:sp>
      <p:sp>
        <p:nvSpPr>
          <p:cNvPr id="14" name="Rounded Rectangle 13"/>
          <p:cNvSpPr/>
          <p:nvPr/>
        </p:nvSpPr>
        <p:spPr>
          <a:xfrm>
            <a:off x="8046719" y="1737360"/>
            <a:ext cx="3474720" cy="2011680"/>
          </a:xfrm>
          <a:prstGeom prst="roundRect">
            <a:avLst>
              <a:gd name="adj" fmla="val 8181"/>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9" y="19202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a:t>
            </a:r>
          </a:p>
        </p:txBody>
      </p:sp>
      <p:sp>
        <p:nvSpPr>
          <p:cNvPr id="16" name="TextBox 15"/>
          <p:cNvSpPr txBox="1"/>
          <p:nvPr/>
        </p:nvSpPr>
        <p:spPr>
          <a:xfrm>
            <a:off x="8869680" y="1956815"/>
            <a:ext cx="2560320" cy="45720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Not randomized</a:t>
            </a:r>
          </a:p>
        </p:txBody>
      </p:sp>
      <p:sp>
        <p:nvSpPr>
          <p:cNvPr id="17" name="TextBox 16"/>
          <p:cNvSpPr txBox="1"/>
          <p:nvPr/>
        </p:nvSpPr>
        <p:spPr>
          <a:xfrm>
            <a:off x="8229599" y="2606039"/>
            <a:ext cx="3154680" cy="1097280"/>
          </a:xfrm>
          <a:prstGeom prst="rect">
            <a:avLst/>
          </a:prstGeom>
          <a:noFill/>
        </p:spPr>
        <p:txBody>
          <a:bodyPr wrap="square" anchor="t" lIns="36576" rIns="36576" tIns="18288" bIns="18288">
            <a:spAutoFit/>
          </a:bodyPr>
          <a:lstStyle/>
          <a:p>
            <a:pPr algn="l">
              <a:spcAft>
                <a:spcPts val="600"/>
              </a:spcAft>
            </a:pPr>
            <a:r>
              <a:rPr sz="1500" b="0" i="0">
                <a:solidFill>
                  <a:srgbClr val="3A4256"/>
                </a:solidFill>
                <a:latin typeface="Calibri"/>
              </a:rPr>
              <a:t>Treatment effects are associations, not causes</a:t>
            </a:r>
          </a:p>
        </p:txBody>
      </p:sp>
      <p:sp>
        <p:nvSpPr>
          <p:cNvPr id="18" name="Rounded Rectangle 17"/>
          <p:cNvSpPr/>
          <p:nvPr/>
        </p:nvSpPr>
        <p:spPr>
          <a:xfrm>
            <a:off x="548640" y="3977639"/>
            <a:ext cx="3474720" cy="2011680"/>
          </a:xfrm>
          <a:prstGeom prst="roundRect">
            <a:avLst>
              <a:gd name="adj" fmla="val 8181"/>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416052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a:t>
            </a:r>
          </a:p>
        </p:txBody>
      </p:sp>
      <p:sp>
        <p:nvSpPr>
          <p:cNvPr id="20" name="TextBox 19"/>
          <p:cNvSpPr txBox="1"/>
          <p:nvPr/>
        </p:nvSpPr>
        <p:spPr>
          <a:xfrm>
            <a:off x="1371600" y="4197096"/>
            <a:ext cx="2560320" cy="45720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Modest accuracy</a:t>
            </a:r>
          </a:p>
        </p:txBody>
      </p:sp>
      <p:sp>
        <p:nvSpPr>
          <p:cNvPr id="21" name="TextBox 20"/>
          <p:cNvSpPr txBox="1"/>
          <p:nvPr/>
        </p:nvSpPr>
        <p:spPr>
          <a:xfrm>
            <a:off x="731520" y="4846320"/>
            <a:ext cx="3154680" cy="1097280"/>
          </a:xfrm>
          <a:prstGeom prst="rect">
            <a:avLst/>
          </a:prstGeom>
          <a:noFill/>
        </p:spPr>
        <p:txBody>
          <a:bodyPr wrap="square" anchor="t" lIns="36576" rIns="36576" tIns="18288" bIns="18288">
            <a:spAutoFit/>
          </a:bodyPr>
          <a:lstStyle/>
          <a:p>
            <a:pPr algn="l">
              <a:spcAft>
                <a:spcPts val="600"/>
              </a:spcAft>
            </a:pPr>
            <a:r>
              <a:rPr sz="1500" b="0" i="0">
                <a:solidFill>
                  <a:srgbClr val="3A4256"/>
                </a:solidFill>
                <a:latin typeface="Calibri"/>
              </a:rPr>
              <a:t>C-index 0.64; one patient's survival stays very uncertain</a:t>
            </a:r>
          </a:p>
        </p:txBody>
      </p:sp>
      <p:sp>
        <p:nvSpPr>
          <p:cNvPr id="22" name="Rounded Rectangle 21"/>
          <p:cNvSpPr/>
          <p:nvPr/>
        </p:nvSpPr>
        <p:spPr>
          <a:xfrm>
            <a:off x="4297679" y="3977639"/>
            <a:ext cx="3474720" cy="2011680"/>
          </a:xfrm>
          <a:prstGeom prst="roundRect">
            <a:avLst>
              <a:gd name="adj" fmla="val 8181"/>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80559" y="416052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a:t>
            </a:r>
          </a:p>
        </p:txBody>
      </p:sp>
      <p:sp>
        <p:nvSpPr>
          <p:cNvPr id="24" name="TextBox 23"/>
          <p:cNvSpPr txBox="1"/>
          <p:nvPr/>
        </p:nvSpPr>
        <p:spPr>
          <a:xfrm>
            <a:off x="5120640" y="4197096"/>
            <a:ext cx="2560320" cy="45720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MRI numbers are fragile</a:t>
            </a:r>
          </a:p>
        </p:txBody>
      </p:sp>
      <p:sp>
        <p:nvSpPr>
          <p:cNvPr id="25" name="TextBox 24"/>
          <p:cNvSpPr txBox="1"/>
          <p:nvPr/>
        </p:nvSpPr>
        <p:spPr>
          <a:xfrm>
            <a:off x="4480559" y="4846320"/>
            <a:ext cx="3154680" cy="1097280"/>
          </a:xfrm>
          <a:prstGeom prst="rect">
            <a:avLst/>
          </a:prstGeom>
          <a:noFill/>
        </p:spPr>
        <p:txBody>
          <a:bodyPr wrap="square" anchor="t" lIns="36576" rIns="36576" tIns="18288" bIns="18288">
            <a:spAutoFit/>
          </a:bodyPr>
          <a:lstStyle/>
          <a:p>
            <a:pPr algn="l">
              <a:spcAft>
                <a:spcPts val="600"/>
              </a:spcAft>
            </a:pPr>
            <a:r>
              <a:rPr sz="1500" b="0" i="0">
                <a:solidFill>
                  <a:srgbClr val="3A4256"/>
                </a:solidFill>
                <a:latin typeface="Calibri"/>
              </a:rPr>
              <a:t>They depend on scanner and image processing</a:t>
            </a:r>
          </a:p>
        </p:txBody>
      </p:sp>
      <p:sp>
        <p:nvSpPr>
          <p:cNvPr id="26" name="Rounded Rectangle 25"/>
          <p:cNvSpPr/>
          <p:nvPr/>
        </p:nvSpPr>
        <p:spPr>
          <a:xfrm>
            <a:off x="8046719" y="3977639"/>
            <a:ext cx="3474720" cy="2011680"/>
          </a:xfrm>
          <a:prstGeom prst="roundRect">
            <a:avLst>
              <a:gd name="adj" fmla="val 8181"/>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599" y="416052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a:solidFill>
                  <a:srgbClr val="FFFFFF"/>
                </a:solidFill>
                <a:latin typeface="Calibri"/>
              </a:rPr>
              <a:t>!</a:t>
            </a:r>
          </a:p>
        </p:txBody>
      </p:sp>
      <p:sp>
        <p:nvSpPr>
          <p:cNvPr id="28" name="TextBox 27"/>
          <p:cNvSpPr txBox="1"/>
          <p:nvPr/>
        </p:nvSpPr>
        <p:spPr>
          <a:xfrm>
            <a:off x="8869680" y="4197096"/>
            <a:ext cx="2560320" cy="457200"/>
          </a:xfrm>
          <a:prstGeom prst="rect">
            <a:avLst/>
          </a:prstGeom>
          <a:noFill/>
        </p:spPr>
        <p:txBody>
          <a:bodyPr wrap="square" anchor="t" lIns="36576" rIns="36576" tIns="18288" bIns="18288">
            <a:spAutoFit/>
          </a:bodyPr>
          <a:lstStyle/>
          <a:p>
            <a:pPr algn="l">
              <a:spcAft>
                <a:spcPts val="600"/>
              </a:spcAft>
            </a:pPr>
            <a:r>
              <a:rPr sz="1700" b="1" i="0">
                <a:solidFill>
                  <a:srgbClr val="172033"/>
                </a:solidFill>
                <a:latin typeface="Calibri"/>
              </a:rPr>
              <a:t>Small subgroups</a:t>
            </a:r>
          </a:p>
        </p:txBody>
      </p:sp>
      <p:sp>
        <p:nvSpPr>
          <p:cNvPr id="29" name="TextBox 28"/>
          <p:cNvSpPr txBox="1"/>
          <p:nvPr/>
        </p:nvSpPr>
        <p:spPr>
          <a:xfrm>
            <a:off x="8229599" y="4846320"/>
            <a:ext cx="3154680" cy="1097280"/>
          </a:xfrm>
          <a:prstGeom prst="rect">
            <a:avLst/>
          </a:prstGeom>
          <a:noFill/>
        </p:spPr>
        <p:txBody>
          <a:bodyPr wrap="square" anchor="t" lIns="36576" rIns="36576" tIns="18288" bIns="18288">
            <a:spAutoFit/>
          </a:bodyPr>
          <a:lstStyle/>
          <a:p>
            <a:pPr algn="l">
              <a:spcAft>
                <a:spcPts val="600"/>
              </a:spcAft>
            </a:pPr>
            <a:r>
              <a:rPr sz="1500" b="0" i="0">
                <a:solidFill>
                  <a:srgbClr val="3A4256"/>
                </a:solidFill>
                <a:latin typeface="Calibri"/>
              </a:rPr>
              <a:t>About 85 patients each; subgroup findings need confirming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33"/>
        </a:solidFill>
        <a:effectLst/>
      </p:bgPr>
    </p:bg>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FFFFFF"/>
                </a:solidFill>
                <a:latin typeface="Cambria"/>
              </a:rPr>
              <a:t>Take-home messages</a:t>
            </a:r>
          </a:p>
        </p:txBody>
      </p:sp>
      <p:sp>
        <p:nvSpPr>
          <p:cNvPr id="3" name="Oval 2"/>
          <p:cNvSpPr/>
          <p:nvPr/>
        </p:nvSpPr>
        <p:spPr>
          <a:xfrm>
            <a:off x="548640" y="1508760"/>
            <a:ext cx="685800" cy="6858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1</a:t>
            </a:r>
          </a:p>
        </p:txBody>
      </p:sp>
      <p:sp>
        <p:nvSpPr>
          <p:cNvPr id="4" name="TextBox 3"/>
          <p:cNvSpPr txBox="1"/>
          <p:nvPr/>
        </p:nvSpPr>
        <p:spPr>
          <a:xfrm>
            <a:off x="1463040" y="1490472"/>
            <a:ext cx="9875520" cy="457200"/>
          </a:xfrm>
          <a:prstGeom prst="rect">
            <a:avLst/>
          </a:prstGeom>
          <a:noFill/>
        </p:spPr>
        <p:txBody>
          <a:bodyPr wrap="square" anchor="t" lIns="36576" rIns="36576" tIns="18288" bIns="18288">
            <a:spAutoFit/>
          </a:bodyPr>
          <a:lstStyle/>
          <a:p>
            <a:pPr algn="l">
              <a:spcAft>
                <a:spcPts val="600"/>
              </a:spcAft>
            </a:pPr>
            <a:r>
              <a:rPr sz="2100" b="1" i="0">
                <a:solidFill>
                  <a:srgbClr val="FFFFFF"/>
                </a:solidFill>
                <a:latin typeface="Cambria"/>
              </a:rPr>
              <a:t>Who lives longer</a:t>
            </a:r>
          </a:p>
        </p:txBody>
      </p:sp>
      <p:sp>
        <p:nvSpPr>
          <p:cNvPr id="5" name="TextBox 4"/>
          <p:cNvSpPr txBox="1"/>
          <p:nvPr/>
        </p:nvSpPr>
        <p:spPr>
          <a:xfrm>
            <a:off x="1463040" y="1938528"/>
            <a:ext cx="9875520" cy="548640"/>
          </a:xfrm>
          <a:prstGeom prst="rect">
            <a:avLst/>
          </a:prstGeom>
          <a:noFill/>
        </p:spPr>
        <p:txBody>
          <a:bodyPr wrap="square" anchor="t" lIns="36576" rIns="36576" tIns="18288" bIns="18288">
            <a:spAutoFit/>
          </a:bodyPr>
          <a:lstStyle/>
          <a:p>
            <a:pPr algn="l">
              <a:spcAft>
                <a:spcPts val="600"/>
              </a:spcAft>
            </a:pPr>
            <a:r>
              <a:rPr sz="1700" b="0" i="0">
                <a:solidFill>
                  <a:srgbClr val="D6DCE8"/>
                </a:solidFill>
                <a:latin typeface="Calibri"/>
              </a:rPr>
              <a:t>Younger, fitter patients with smaller tumours; FLAIR texture adds information beyond size</a:t>
            </a:r>
          </a:p>
        </p:txBody>
      </p:sp>
      <p:sp>
        <p:nvSpPr>
          <p:cNvPr id="6" name="Oval 5"/>
          <p:cNvSpPr/>
          <p:nvPr/>
        </p:nvSpPr>
        <p:spPr>
          <a:xfrm>
            <a:off x="548640" y="2697480"/>
            <a:ext cx="685800" cy="6858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2</a:t>
            </a:r>
          </a:p>
        </p:txBody>
      </p:sp>
      <p:sp>
        <p:nvSpPr>
          <p:cNvPr id="7" name="TextBox 6"/>
          <p:cNvSpPr txBox="1"/>
          <p:nvPr/>
        </p:nvSpPr>
        <p:spPr>
          <a:xfrm>
            <a:off x="1463040" y="2679192"/>
            <a:ext cx="9875520" cy="457200"/>
          </a:xfrm>
          <a:prstGeom prst="rect">
            <a:avLst/>
          </a:prstGeom>
          <a:noFill/>
        </p:spPr>
        <p:txBody>
          <a:bodyPr wrap="square" anchor="t" lIns="36576" rIns="36576" tIns="18288" bIns="18288">
            <a:spAutoFit/>
          </a:bodyPr>
          <a:lstStyle/>
          <a:p>
            <a:pPr algn="l">
              <a:spcAft>
                <a:spcPts val="600"/>
              </a:spcAft>
            </a:pPr>
            <a:r>
              <a:rPr sz="2100" b="1" i="0">
                <a:solidFill>
                  <a:srgbClr val="FFFFFF"/>
                </a:solidFill>
                <a:latin typeface="Cambria"/>
              </a:rPr>
              <a:t>What doesn't matter</a:t>
            </a:r>
          </a:p>
        </p:txBody>
      </p:sp>
      <p:sp>
        <p:nvSpPr>
          <p:cNvPr id="8" name="TextBox 7"/>
          <p:cNvSpPr txBox="1"/>
          <p:nvPr/>
        </p:nvSpPr>
        <p:spPr>
          <a:xfrm>
            <a:off x="1463040" y="3127248"/>
            <a:ext cx="9875520" cy="548640"/>
          </a:xfrm>
          <a:prstGeom prst="rect">
            <a:avLst/>
          </a:prstGeom>
          <a:noFill/>
        </p:spPr>
        <p:txBody>
          <a:bodyPr wrap="square" anchor="t" lIns="36576" rIns="36576" tIns="18288" bIns="18288">
            <a:spAutoFit/>
          </a:bodyPr>
          <a:lstStyle/>
          <a:p>
            <a:pPr algn="l">
              <a:spcAft>
                <a:spcPts val="600"/>
              </a:spcAft>
            </a:pPr>
            <a:r>
              <a:rPr sz="1700" b="0" i="0">
                <a:solidFill>
                  <a:srgbClr val="D6DCE8"/>
                </a:solidFill>
                <a:latin typeface="Calibri"/>
              </a:rPr>
              <a:t>Body size and sex; treatment differences reflect who gets treated</a:t>
            </a:r>
          </a:p>
        </p:txBody>
      </p:sp>
      <p:sp>
        <p:nvSpPr>
          <p:cNvPr id="9" name="Oval 8"/>
          <p:cNvSpPr/>
          <p:nvPr/>
        </p:nvSpPr>
        <p:spPr>
          <a:xfrm>
            <a:off x="548640" y="3886200"/>
            <a:ext cx="685800" cy="6858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3</a:t>
            </a:r>
          </a:p>
        </p:txBody>
      </p:sp>
      <p:sp>
        <p:nvSpPr>
          <p:cNvPr id="10" name="TextBox 9"/>
          <p:cNvSpPr txBox="1"/>
          <p:nvPr/>
        </p:nvSpPr>
        <p:spPr>
          <a:xfrm>
            <a:off x="1463040" y="3867912"/>
            <a:ext cx="9875520" cy="457200"/>
          </a:xfrm>
          <a:prstGeom prst="rect">
            <a:avLst/>
          </a:prstGeom>
          <a:noFill/>
        </p:spPr>
        <p:txBody>
          <a:bodyPr wrap="square" anchor="t" lIns="36576" rIns="36576" tIns="18288" bIns="18288">
            <a:spAutoFit/>
          </a:bodyPr>
          <a:lstStyle/>
          <a:p>
            <a:pPr algn="l">
              <a:spcAft>
                <a:spcPts val="600"/>
              </a:spcAft>
            </a:pPr>
            <a:r>
              <a:rPr sz="2100" b="1" i="0">
                <a:solidFill>
                  <a:srgbClr val="FFFFFF"/>
                </a:solidFill>
                <a:latin typeface="Cambria"/>
              </a:rPr>
              <a:t>Best model</a:t>
            </a:r>
          </a:p>
        </p:txBody>
      </p:sp>
      <p:sp>
        <p:nvSpPr>
          <p:cNvPr id="11" name="TextBox 10"/>
          <p:cNvSpPr txBox="1"/>
          <p:nvPr/>
        </p:nvSpPr>
        <p:spPr>
          <a:xfrm>
            <a:off x="1463040" y="4315968"/>
            <a:ext cx="9875520" cy="548640"/>
          </a:xfrm>
          <a:prstGeom prst="rect">
            <a:avLst/>
          </a:prstGeom>
          <a:noFill/>
        </p:spPr>
        <p:txBody>
          <a:bodyPr wrap="square" anchor="t" lIns="36576" rIns="36576" tIns="18288" bIns="18288">
            <a:spAutoFit/>
          </a:bodyPr>
          <a:lstStyle/>
          <a:p>
            <a:pPr algn="l">
              <a:spcAft>
                <a:spcPts val="600"/>
              </a:spcAft>
            </a:pPr>
            <a:r>
              <a:rPr sz="1700" b="0" i="0">
                <a:solidFill>
                  <a:srgbClr val="D6DCE8"/>
                </a:solidFill>
                <a:latin typeface="Calibri"/>
              </a:rPr>
              <a:t>Model C: a personal survival curve, right in 64 of 100 patient pairs</a:t>
            </a:r>
          </a:p>
        </p:txBody>
      </p:sp>
      <p:sp>
        <p:nvSpPr>
          <p:cNvPr id="12" name="Oval 11"/>
          <p:cNvSpPr/>
          <p:nvPr/>
        </p:nvSpPr>
        <p:spPr>
          <a:xfrm>
            <a:off x="548640" y="5074920"/>
            <a:ext cx="685800" cy="6858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FFFFFF"/>
                </a:solidFill>
                <a:latin typeface="Calibri"/>
              </a:rPr>
              <a:t>4</a:t>
            </a:r>
          </a:p>
        </p:txBody>
      </p:sp>
      <p:sp>
        <p:nvSpPr>
          <p:cNvPr id="13" name="TextBox 12"/>
          <p:cNvSpPr txBox="1"/>
          <p:nvPr/>
        </p:nvSpPr>
        <p:spPr>
          <a:xfrm>
            <a:off x="1463040" y="5056632"/>
            <a:ext cx="9875520" cy="457200"/>
          </a:xfrm>
          <a:prstGeom prst="rect">
            <a:avLst/>
          </a:prstGeom>
          <a:noFill/>
        </p:spPr>
        <p:txBody>
          <a:bodyPr wrap="square" anchor="t" lIns="36576" rIns="36576" tIns="18288" bIns="18288">
            <a:spAutoFit/>
          </a:bodyPr>
          <a:lstStyle/>
          <a:p>
            <a:pPr algn="l">
              <a:spcAft>
                <a:spcPts val="600"/>
              </a:spcAft>
            </a:pPr>
            <a:r>
              <a:rPr sz="2100" b="1" i="0">
                <a:solidFill>
                  <a:srgbClr val="FFFFFF"/>
                </a:solidFill>
                <a:latin typeface="Cambria"/>
              </a:rPr>
              <a:t>Next steps</a:t>
            </a:r>
          </a:p>
        </p:txBody>
      </p:sp>
      <p:sp>
        <p:nvSpPr>
          <p:cNvPr id="14" name="TextBox 13"/>
          <p:cNvSpPr txBox="1"/>
          <p:nvPr/>
        </p:nvSpPr>
        <p:spPr>
          <a:xfrm>
            <a:off x="1463040" y="5504688"/>
            <a:ext cx="9875520" cy="548640"/>
          </a:xfrm>
          <a:prstGeom prst="rect">
            <a:avLst/>
          </a:prstGeom>
          <a:noFill/>
        </p:spPr>
        <p:txBody>
          <a:bodyPr wrap="square" anchor="t" lIns="36576" rIns="36576" tIns="18288" bIns="18288">
            <a:spAutoFit/>
          </a:bodyPr>
          <a:lstStyle/>
          <a:p>
            <a:pPr algn="l">
              <a:spcAft>
                <a:spcPts val="600"/>
              </a:spcAft>
            </a:pPr>
            <a:r>
              <a:rPr sz="1700" b="0" i="0">
                <a:solidFill>
                  <a:srgbClr val="D6DCE8"/>
                </a:solidFill>
                <a:latin typeface="Calibri"/>
              </a:rPr>
              <a:t>Add MGMT/IDH, update at the first check-up, test on other hospitals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731520"/>
          </a:xfrm>
        </p:spPr>
        <p:txBody>
          <a:bodyPr wrap="square" anchor="t" lIns="0" rIns="0" tIns="0" bIns="0"/>
          <a:lstStyle/>
          <a:p>
            <a:pPr algn="l"/>
            <a:r>
              <a:rPr sz="3600" b="1">
                <a:solidFill>
                  <a:srgbClr val="172033"/>
                </a:solidFill>
                <a:latin typeface="Cambria"/>
              </a:rPr>
              <a:t>Glossary</a:t>
            </a:r>
          </a:p>
        </p:txBody>
      </p:sp>
      <p:sp>
        <p:nvSpPr>
          <p:cNvPr id="3" name="TextBox 2"/>
          <p:cNvSpPr txBox="1"/>
          <p:nvPr/>
        </p:nvSpPr>
        <p:spPr>
          <a:xfrm>
            <a:off x="548640" y="6400800"/>
            <a:ext cx="5486400" cy="274320"/>
          </a:xfrm>
          <a:prstGeom prst="rect">
            <a:avLst/>
          </a:prstGeom>
          <a:noFill/>
        </p:spPr>
        <p:txBody>
          <a:bodyPr wrap="square" anchor="t" lIns="36576" rIns="36576" tIns="18288" bIns="18288">
            <a:spAutoFit/>
          </a:bodyPr>
          <a:lstStyle/>
          <a:p>
            <a:pPr algn="l">
              <a:spcAft>
                <a:spcPts val="600"/>
              </a:spcAft>
            </a:pPr>
            <a:r>
              <a:rPr sz="1000" b="0" i="0">
                <a:solidFill>
                  <a:srgbClr val="6B7280"/>
                </a:solidFill>
                <a:latin typeface="Calibri"/>
              </a:rPr>
              <a:t>Glioblastoma survival · CFB-GBM</a:t>
            </a:r>
          </a:p>
        </p:txBody>
      </p:sp>
      <p:sp>
        <p:nvSpPr>
          <p:cNvPr id="4" name="TextBox 3"/>
          <p:cNvSpPr txBox="1"/>
          <p:nvPr/>
        </p:nvSpPr>
        <p:spPr>
          <a:xfrm>
            <a:off x="10698480" y="6400800"/>
            <a:ext cx="914400" cy="274320"/>
          </a:xfrm>
          <a:prstGeom prst="rect">
            <a:avLst/>
          </a:prstGeom>
          <a:noFill/>
        </p:spPr>
        <p:txBody>
          <a:bodyPr wrap="square" anchor="t" lIns="36576" rIns="36576" tIns="18288" bIns="18288">
            <a:spAutoFit/>
          </a:bodyPr>
          <a:lstStyle/>
          <a:p>
            <a:pPr algn="r">
              <a:spcAft>
                <a:spcPts val="600"/>
              </a:spcAft>
            </a:pPr>
            <a:r>
              <a:rPr sz="1000" b="0" i="0">
                <a:solidFill>
                  <a:srgbClr val="6B7280"/>
                </a:solidFill>
                <a:latin typeface="Calibri"/>
              </a:rPr>
              <a:t>33</a:t>
            </a:r>
          </a:p>
        </p:txBody>
      </p:sp>
      <p:graphicFrame>
        <p:nvGraphicFramePr>
          <p:cNvPr id="5" name="Table 4"/>
          <p:cNvGraphicFramePr>
            <a:graphicFrameLocks noGrp="1"/>
          </p:cNvGraphicFramePr>
          <p:nvPr/>
        </p:nvGraphicFramePr>
        <p:xfrm>
          <a:off x="548640" y="1280160"/>
          <a:ext cx="11064240" cy="4937760"/>
        </p:xfrm>
        <a:graphic>
          <a:graphicData uri="http://schemas.openxmlformats.org/drawingml/2006/table">
            <a:tbl>
              <a:tblPr firstRow="1" bandRow="1">
                <a:tableStyleId>{5C22544A-7EE6-4342-B048-85BDC9FD1C3A}</a:tableStyleId>
              </a:tblPr>
              <a:tblGrid>
                <a:gridCol w="2926080"/>
                <a:gridCol w="8138160"/>
              </a:tblGrid>
              <a:tr h="411480">
                <a:tc>
                  <a:txBody>
                    <a:bodyPr wrap="square"/>
                    <a:lstStyle/>
                    <a:p>
                      <a:r>
                        <a:rPr sz="1300" b="1">
                          <a:solidFill>
                            <a:srgbClr val="FFFFFF"/>
                          </a:solidFill>
                          <a:latin typeface="Calibri"/>
                        </a:rPr>
                        <a:t>Term</a:t>
                      </a:r>
                    </a:p>
                  </a:txBody>
                  <a:tcPr marL="73152" marR="73152" marT="27432" marB="27432" anchor="ctr">
                    <a:solidFill>
                      <a:srgbClr val="172033"/>
                    </a:solidFill>
                  </a:tcPr>
                </a:tc>
                <a:tc>
                  <a:txBody>
                    <a:bodyPr wrap="square"/>
                    <a:lstStyle/>
                    <a:p>
                      <a:r>
                        <a:rPr sz="1300" b="1">
                          <a:solidFill>
                            <a:srgbClr val="FFFFFF"/>
                          </a:solidFill>
                          <a:latin typeface="Calibri"/>
                        </a:rPr>
                        <a:t>Meaning</a:t>
                      </a:r>
                    </a:p>
                  </a:txBody>
                  <a:tcPr marL="73152" marR="73152" marT="27432" marB="27432" anchor="ctr">
                    <a:solidFill>
                      <a:srgbClr val="172033"/>
                    </a:solidFill>
                  </a:tcPr>
                </a:tc>
              </a:tr>
              <a:tr h="411480">
                <a:tc>
                  <a:txBody>
                    <a:bodyPr wrap="square"/>
                    <a:lstStyle/>
                    <a:p>
                      <a:r>
                        <a:rPr sz="1300" b="1">
                          <a:solidFill>
                            <a:srgbClr val="172033"/>
                          </a:solidFill>
                          <a:latin typeface="Calibri"/>
                        </a:rPr>
                        <a:t>Hazard ratio (HR)</a:t>
                      </a:r>
                    </a:p>
                  </a:txBody>
                  <a:tcPr marL="73152" marR="73152" marT="27432" marB="27432" anchor="ctr">
                    <a:solidFill>
                      <a:srgbClr val="FFFFFF"/>
                    </a:solidFill>
                  </a:tcPr>
                </a:tc>
                <a:tc>
                  <a:txBody>
                    <a:bodyPr wrap="square"/>
                    <a:lstStyle/>
                    <a:p>
                      <a:r>
                        <a:rPr sz="1300" b="0">
                          <a:solidFill>
                            <a:srgbClr val="172033"/>
                          </a:solidFill>
                          <a:latin typeface="Calibri"/>
                        </a:rPr>
                        <a:t>How much faster one group dies than another. 2 = twice the rate (shorter survival); 0.5 = half</a:t>
                      </a:r>
                    </a:p>
                  </a:txBody>
                  <a:tcPr marL="73152" marR="73152" marT="27432" marB="27432" anchor="ctr">
                    <a:solidFill>
                      <a:srgbClr val="FFFFFF"/>
                    </a:solidFill>
                  </a:tcPr>
                </a:tc>
              </a:tr>
              <a:tr h="411480">
                <a:tc>
                  <a:txBody>
                    <a:bodyPr wrap="square"/>
                    <a:lstStyle/>
                    <a:p>
                      <a:r>
                        <a:rPr sz="1300" b="1">
                          <a:solidFill>
                            <a:srgbClr val="172033"/>
                          </a:solidFill>
                          <a:latin typeface="Calibri"/>
                        </a:rPr>
                        <a:t>95% confidence interval</a:t>
                      </a:r>
                    </a:p>
                  </a:txBody>
                  <a:tcPr marL="73152" marR="73152" marT="27432" marB="27432" anchor="ctr">
                    <a:solidFill>
                      <a:srgbClr val="EEF2F8"/>
                    </a:solidFill>
                  </a:tcPr>
                </a:tc>
                <a:tc>
                  <a:txBody>
                    <a:bodyPr wrap="square"/>
                    <a:lstStyle/>
                    <a:p>
                      <a:r>
                        <a:rPr sz="1300" b="0">
                          <a:solidFill>
                            <a:srgbClr val="172033"/>
                          </a:solidFill>
                          <a:latin typeface="Calibri"/>
                        </a:rPr>
                        <a:t>Range of plausible values. If it includes 1, there is no clear effect</a:t>
                      </a:r>
                    </a:p>
                  </a:txBody>
                  <a:tcPr marL="73152" marR="73152" marT="27432" marB="27432" anchor="ctr">
                    <a:solidFill>
                      <a:srgbClr val="EEF2F8"/>
                    </a:solidFill>
                  </a:tcPr>
                </a:tc>
              </a:tr>
              <a:tr h="411480">
                <a:tc>
                  <a:txBody>
                    <a:bodyPr wrap="square"/>
                    <a:lstStyle/>
                    <a:p>
                      <a:r>
                        <a:rPr sz="1300" b="1">
                          <a:solidFill>
                            <a:srgbClr val="172033"/>
                          </a:solidFill>
                          <a:latin typeface="Calibri"/>
                        </a:rPr>
                        <a:t>Kaplan–Meier curve</a:t>
                      </a:r>
                    </a:p>
                  </a:txBody>
                  <a:tcPr marL="73152" marR="73152" marT="27432" marB="27432" anchor="ctr">
                    <a:solidFill>
                      <a:srgbClr val="FFFFFF"/>
                    </a:solidFill>
                  </a:tcPr>
                </a:tc>
                <a:tc>
                  <a:txBody>
                    <a:bodyPr wrap="square"/>
                    <a:lstStyle/>
                    <a:p>
                      <a:r>
                        <a:rPr sz="1300" b="0">
                          <a:solidFill>
                            <a:srgbClr val="172033"/>
                          </a:solidFill>
                          <a:latin typeface="Calibri"/>
                        </a:rPr>
                        <a:t>Share of patients still alive over time; each step down is a death</a:t>
                      </a:r>
                    </a:p>
                  </a:txBody>
                  <a:tcPr marL="73152" marR="73152" marT="27432" marB="27432" anchor="ctr">
                    <a:solidFill>
                      <a:srgbClr val="FFFFFF"/>
                    </a:solidFill>
                  </a:tcPr>
                </a:tc>
              </a:tr>
              <a:tr h="411480">
                <a:tc>
                  <a:txBody>
                    <a:bodyPr wrap="square"/>
                    <a:lstStyle/>
                    <a:p>
                      <a:r>
                        <a:rPr sz="1300" b="1">
                          <a:solidFill>
                            <a:srgbClr val="172033"/>
                          </a:solidFill>
                          <a:latin typeface="Calibri"/>
                        </a:rPr>
                        <a:t>Cox regression</a:t>
                      </a:r>
                    </a:p>
                  </a:txBody>
                  <a:tcPr marL="73152" marR="73152" marT="27432" marB="27432" anchor="ctr">
                    <a:solidFill>
                      <a:srgbClr val="EEF2F8"/>
                    </a:solidFill>
                  </a:tcPr>
                </a:tc>
                <a:tc>
                  <a:txBody>
                    <a:bodyPr wrap="square"/>
                    <a:lstStyle/>
                    <a:p>
                      <a:r>
                        <a:rPr sz="1300" b="0">
                          <a:solidFill>
                            <a:srgbClr val="172033"/>
                          </a:solidFill>
                          <a:latin typeface="Calibri"/>
                        </a:rPr>
                        <a:t>Model that estimates hazard ratios of several factors at once, each adjusted for the others</a:t>
                      </a:r>
                    </a:p>
                  </a:txBody>
                  <a:tcPr marL="73152" marR="73152" marT="27432" marB="27432" anchor="ctr">
                    <a:solidFill>
                      <a:srgbClr val="EEF2F8"/>
                    </a:solidFill>
                  </a:tcPr>
                </a:tc>
              </a:tr>
              <a:tr h="411480">
                <a:tc>
                  <a:txBody>
                    <a:bodyPr wrap="square"/>
                    <a:lstStyle/>
                    <a:p>
                      <a:r>
                        <a:rPr sz="1300" b="1">
                          <a:solidFill>
                            <a:srgbClr val="172033"/>
                          </a:solidFill>
                          <a:latin typeface="Calibri"/>
                        </a:rPr>
                        <a:t>Performance status (PS)</a:t>
                      </a:r>
                    </a:p>
                  </a:txBody>
                  <a:tcPr marL="73152" marR="73152" marT="27432" marB="27432" anchor="ctr">
                    <a:solidFill>
                      <a:srgbClr val="FFFFFF"/>
                    </a:solidFill>
                  </a:tcPr>
                </a:tc>
                <a:tc>
                  <a:txBody>
                    <a:bodyPr wrap="square"/>
                    <a:lstStyle/>
                    <a:p>
                      <a:r>
                        <a:rPr sz="1300" b="0">
                          <a:solidFill>
                            <a:srgbClr val="172033"/>
                          </a:solidFill>
                          <a:latin typeface="Calibri"/>
                        </a:rPr>
                        <a:t>Fitness score from 0 (fully active) to 4 (bedbound)</a:t>
                      </a:r>
                    </a:p>
                  </a:txBody>
                  <a:tcPr marL="73152" marR="73152" marT="27432" marB="27432" anchor="ctr">
                    <a:solidFill>
                      <a:srgbClr val="FFFFFF"/>
                    </a:solidFill>
                  </a:tcPr>
                </a:tc>
              </a:tr>
              <a:tr h="411480">
                <a:tc>
                  <a:txBody>
                    <a:bodyPr wrap="square"/>
                    <a:lstStyle/>
                    <a:p>
                      <a:r>
                        <a:rPr sz="1300" b="1">
                          <a:solidFill>
                            <a:srgbClr val="172033"/>
                          </a:solidFill>
                          <a:latin typeface="Calibri"/>
                        </a:rPr>
                        <a:t>T1-Gd / FLAIR</a:t>
                      </a:r>
                    </a:p>
                  </a:txBody>
                  <a:tcPr marL="73152" marR="73152" marT="27432" marB="27432" anchor="ctr">
                    <a:solidFill>
                      <a:srgbClr val="EEF2F8"/>
                    </a:solidFill>
                  </a:tcPr>
                </a:tc>
                <a:tc>
                  <a:txBody>
                    <a:bodyPr wrap="square"/>
                    <a:lstStyle/>
                    <a:p>
                      <a:r>
                        <a:rPr sz="1300" b="0">
                          <a:solidFill>
                            <a:srgbClr val="172033"/>
                          </a:solidFill>
                          <a:latin typeface="Calibri"/>
                        </a:rPr>
                        <a:t>MRI types: contrast-enhanced (active tumour bright) / fluid-dark (swelling bright)</a:t>
                      </a:r>
                    </a:p>
                  </a:txBody>
                  <a:tcPr marL="73152" marR="73152" marT="27432" marB="27432" anchor="ctr">
                    <a:solidFill>
                      <a:srgbClr val="EEF2F8"/>
                    </a:solidFill>
                  </a:tcPr>
                </a:tc>
              </a:tr>
              <a:tr h="411480">
                <a:tc>
                  <a:txBody>
                    <a:bodyPr wrap="square"/>
                    <a:lstStyle/>
                    <a:p>
                      <a:r>
                        <a:rPr sz="1300" b="1">
                          <a:solidFill>
                            <a:srgbClr val="172033"/>
                          </a:solidFill>
                          <a:latin typeface="Calibri"/>
                        </a:rPr>
                        <a:t>Radiomics</a:t>
                      </a:r>
                    </a:p>
                  </a:txBody>
                  <a:tcPr marL="73152" marR="73152" marT="27432" marB="27432" anchor="ctr">
                    <a:solidFill>
                      <a:srgbClr val="FFFFFF"/>
                    </a:solidFill>
                  </a:tcPr>
                </a:tc>
                <a:tc>
                  <a:txBody>
                    <a:bodyPr wrap="square"/>
                    <a:lstStyle/>
                    <a:p>
                      <a:r>
                        <a:rPr sz="1300" b="0">
                          <a:solidFill>
                            <a:srgbClr val="172033"/>
                          </a:solidFill>
                          <a:latin typeface="Calibri"/>
                        </a:rPr>
                        <a:t>Numbers computed from MRI images: shape, brightness and texture of the tumour</a:t>
                      </a:r>
                    </a:p>
                  </a:txBody>
                  <a:tcPr marL="73152" marR="73152" marT="27432" marB="27432" anchor="ctr">
                    <a:solidFill>
                      <a:srgbClr val="FFFFFF"/>
                    </a:solidFill>
                  </a:tcPr>
                </a:tc>
              </a:tr>
              <a:tr h="411480">
                <a:tc>
                  <a:txBody>
                    <a:bodyPr wrap="square"/>
                    <a:lstStyle/>
                    <a:p>
                      <a:r>
                        <a:rPr sz="1300" b="1">
                          <a:solidFill>
                            <a:srgbClr val="172033"/>
                          </a:solidFill>
                          <a:latin typeface="Calibri"/>
                        </a:rPr>
                        <a:t>RANO</a:t>
                      </a:r>
                    </a:p>
                  </a:txBody>
                  <a:tcPr marL="73152" marR="73152" marT="27432" marB="27432" anchor="ctr">
                    <a:solidFill>
                      <a:srgbClr val="EEF2F8"/>
                    </a:solidFill>
                  </a:tcPr>
                </a:tc>
                <a:tc>
                  <a:txBody>
                    <a:bodyPr wrap="square"/>
                    <a:lstStyle/>
                    <a:p>
                      <a:r>
                        <a:rPr sz="1300" b="0">
                          <a:solidFill>
                            <a:srgbClr val="172033"/>
                          </a:solidFill>
                          <a:latin typeface="Calibri"/>
                        </a:rPr>
                        <a:t>Rules for judging tumour response on follow-up MRI</a:t>
                      </a:r>
                    </a:p>
                  </a:txBody>
                  <a:tcPr marL="73152" marR="73152" marT="27432" marB="27432" anchor="ctr">
                    <a:solidFill>
                      <a:srgbClr val="EEF2F8"/>
                    </a:solidFill>
                  </a:tcPr>
                </a:tc>
              </a:tr>
              <a:tr h="411480">
                <a:tc>
                  <a:txBody>
                    <a:bodyPr wrap="square"/>
                    <a:lstStyle/>
                    <a:p>
                      <a:r>
                        <a:rPr sz="1300" b="1">
                          <a:solidFill>
                            <a:srgbClr val="172033"/>
                          </a:solidFill>
                          <a:latin typeface="Calibri"/>
                        </a:rPr>
                        <a:t>C-index</a:t>
                      </a:r>
                    </a:p>
                  </a:txBody>
                  <a:tcPr marL="73152" marR="73152" marT="27432" marB="27432" anchor="ctr">
                    <a:solidFill>
                      <a:srgbClr val="FFFFFF"/>
                    </a:solidFill>
                  </a:tcPr>
                </a:tc>
                <a:tc>
                  <a:txBody>
                    <a:bodyPr wrap="square"/>
                    <a:lstStyle/>
                    <a:p>
                      <a:r>
                        <a:rPr sz="1300" b="0">
                          <a:solidFill>
                            <a:srgbClr val="172033"/>
                          </a:solidFill>
                          <a:latin typeface="Calibri"/>
                        </a:rPr>
                        <a:t>How often the model correctly says which of two patients lives longer (0.5 = coin flip)</a:t>
                      </a:r>
                    </a:p>
                  </a:txBody>
                  <a:tcPr marL="73152" marR="73152" marT="27432" marB="27432" anchor="ctr">
                    <a:solidFill>
                      <a:srgbClr val="FFFFFF"/>
                    </a:solidFill>
                  </a:tcPr>
                </a:tc>
              </a:tr>
              <a:tr h="411480">
                <a:tc>
                  <a:txBody>
                    <a:bodyPr wrap="square"/>
                    <a:lstStyle/>
                    <a:p>
                      <a:r>
                        <a:rPr sz="1300" b="1">
                          <a:solidFill>
                            <a:srgbClr val="172033"/>
                          </a:solidFill>
                          <a:latin typeface="Calibri"/>
                        </a:rPr>
                        <a:t>Cross-validation</a:t>
                      </a:r>
                    </a:p>
                  </a:txBody>
                  <a:tcPr marL="73152" marR="73152" marT="27432" marB="27432" anchor="ctr">
                    <a:solidFill>
                      <a:srgbClr val="EEF2F8"/>
                    </a:solidFill>
                  </a:tcPr>
                </a:tc>
                <a:tc>
                  <a:txBody>
                    <a:bodyPr wrap="square"/>
                    <a:lstStyle/>
                    <a:p>
                      <a:r>
                        <a:rPr sz="1300" b="0">
                          <a:solidFill>
                            <a:srgbClr val="172033"/>
                          </a:solidFill>
                          <a:latin typeface="Calibri"/>
                        </a:rPr>
                        <a:t>Train on part of the patients, test on the rest, rotate; gives an honest score</a:t>
                      </a:r>
                    </a:p>
                  </a:txBody>
                  <a:tcPr marL="73152" marR="73152" marT="27432" marB="27432" anchor="ctr">
                    <a:solidFill>
                      <a:srgbClr val="EEF2F8"/>
                    </a:solidFill>
                  </a:tcPr>
                </a:tc>
              </a:tr>
              <a:tr h="411480">
                <a:tc>
                  <a:txBody>
                    <a:bodyPr wrap="square"/>
                    <a:lstStyle/>
                    <a:p>
                      <a:r>
                        <a:rPr sz="1300" b="1">
                          <a:solidFill>
                            <a:srgbClr val="172033"/>
                          </a:solidFill>
                          <a:latin typeface="Calibri"/>
                        </a:rPr>
                        <a:t>Confounding by indication</a:t>
                      </a:r>
                    </a:p>
                  </a:txBody>
                  <a:tcPr marL="73152" marR="73152" marT="27432" marB="27432" anchor="ctr">
                    <a:solidFill>
                      <a:srgbClr val="FFFFFF"/>
                    </a:solidFill>
                  </a:tcPr>
                </a:tc>
                <a:tc>
                  <a:txBody>
                    <a:bodyPr wrap="square"/>
                    <a:lstStyle/>
                    <a:p>
                      <a:r>
                        <a:rPr sz="1300" b="0">
                          <a:solidFill>
                            <a:srgbClr val="172033"/>
                          </a:solidFill>
                          <a:latin typeface="Calibri"/>
                        </a:rPr>
                        <a:t>A treatment looks harmful because it is given to sicker patients</a:t>
                      </a:r>
                    </a:p>
                  </a:txBody>
                  <a:tcPr marL="73152" marR="73152" marT="27432" marB="27432"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GBM survival">
      <a:dk1>
        <a:srgbClr val="000000"/>
      </a:dk1>
      <a:lt1>
        <a:srgbClr val="FFFFFF"/>
      </a:lt1>
      <a:dk2>
        <a:srgbClr val="172033"/>
      </a:dk2>
      <a:lt2>
        <a:srgbClr val="EEF2F8"/>
      </a:lt2>
      <a:accent1>
        <a:srgbClr val="2A78D6"/>
      </a:accent1>
      <a:accent2>
        <a:srgbClr val="EB6834"/>
      </a:accent2>
      <a:accent3>
        <a:srgbClr val="1BAF7A"/>
      </a:accent3>
      <a:accent4>
        <a:srgbClr val="EDA100"/>
      </a:accent4>
      <a:accent5>
        <a:srgbClr val="104281"/>
      </a:accent5>
      <a:accent6>
        <a:srgbClr val="6B7280"/>
      </a:accent6>
      <a:hlink>
        <a:srgbClr val="2A78D6"/>
      </a:hlink>
      <a:folHlink>
        <a:srgbClr val="104281"/>
      </a:folHlink>
    </a:clrScheme>
    <a:fontScheme name="GBM survival">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